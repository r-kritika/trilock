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70653c1-92ad-996f-b48d-2a257111ca88}">
          <p14:sldIdLst>
            <p14:sldId id="256"/>
          </p14:sldIdLst>
        </p14:section>
        <p14:section name="Problem and idea" id="{e28161e9-39ce-3cca-11a5-35fc7f883370}">
          <p14:sldIdLst>
            <p14:sldId id="257"/>
            <p14:sldId id="258"/>
            <p14:sldId id="259"/>
          </p14:sldIdLst>
        </p14:section>
        <p14:section name="Design" id="{85654903-ae40-ebdc-0f99-ef42e0a4cdbc}">
          <p14:sldIdLst>
            <p14:sldId id="260"/>
            <p14:sldId id="261"/>
            <p14:sldId id="262"/>
            <p14:sldId id="263"/>
            <p14:sldId id="264"/>
            <p14:sldId id="265"/>
          </p14:sldIdLst>
        </p14:section>
        <p14:section name="Implementation and workflow" id="{04144966-d9aa-5587-a347-75c8238a28aa}">
          <p14:sldIdLst>
            <p14:sldId id="266"/>
            <p14:sldId id="267"/>
            <p14:sldId id="268"/>
            <p14:sldId id="269"/>
            <p14:sldId id="270"/>
          </p14:sldIdLst>
        </p14:section>
        <p14:section name="Evaluation" id="{8e536d32-09f9-8b03-a5ad-99d6f4dafb2d}">
          <p14:sldIdLst>
            <p14:sldId id="271"/>
            <p14:sldId id="272"/>
            <p14:sldId id="273"/>
            <p14:sldId id="274"/>
          </p14:sldIdLst>
        </p14:section>
        <p14:section name="Wrap-up" id="{4feff732-ec95-855a-b4ce-447d05146cc2}">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Fixed threshold</c:v>
                </c:pt>
              </c:strCache>
            </c:strRef>
          </c:tx>
          <c:spPr>
            <a:solidFill>
              <a:srgbClr val="8EA0B6"/>
            </a:solidFill>
            <a:effectLst/>
          </c:spPr>
          <c:invertIfNegative val="0"/>
          <c:dLbls>
            <c:numFmt formatCode="0.0&quot;%&quot;" sourceLinked="0"/>
            <c:txPr>
              <a:bodyPr/>
              <a:lstStyle/>
              <a:p>
                <a:pPr>
                  <a:defRPr b="0" i="0" strike="noStrike" sz="1100" u="none">
                    <a:solidFill>
                      <a:srgbClr val="0B1320"/>
                    </a:solidFill>
                    <a:latin typeface="+mn-lt"/>
                  </a:defRPr>
                </a:pPr>
              </a:p>
            </c:txPr>
            <c:showLegendKey val="0"/>
            <c:showVal val="1"/>
            <c:showCatName val="0"/>
            <c:showSerName val="0"/>
            <c:showPercent val="0"/>
            <c:showBubbleSize val="0"/>
            <c:showLeaderLines val="0"/>
          </c:dLbls>
          <c:cat>
            <c:multiLvlStrRef>
              <c:f>Sheet1!$A$2:$A$3</c:f>
              <c:multiLvlStrCache>
                <c:ptCount val="2"/>
                <c:lvl>
                  <c:pt idx="0">
                    <c:v>Attacker submits only one stolen trait</c:v>
                  </c:pt>
                  <c:pt idx="1">
                    <c:v>Honest users asked for more</c:v>
                  </c:pt>
                </c:lvl>
              </c:multiLvlStrCache>
            </c:multiLvlStrRef>
          </c:cat>
          <c:val>
            <c:numRef>
              <c:f>Sheet1!$B$2:$B$3</c:f>
              <c:numCache>
                <c:formatCode>General</c:formatCode>
                <c:ptCount val="2"/>
                <c:pt idx="0">
                  <c:v>100</c:v>
                </c:pt>
                <c:pt idx="1">
                  <c:v>0</c:v>
                </c:pt>
              </c:numCache>
            </c:numRef>
          </c:val>
        </c:ser>
        <c:ser>
          <c:idx val="1"/>
          <c:order val="1"/>
          <c:tx>
            <c:strRef>
              <c:f>Sheet1!$C$1</c:f>
              <c:strCache>
                <c:ptCount val="1"/>
                <c:pt idx="0">
                  <c:v>Always two modalities</c:v>
                </c:pt>
              </c:strCache>
            </c:strRef>
          </c:tx>
          <c:spPr>
            <a:solidFill>
              <a:srgbClr val="3F86F5"/>
            </a:solidFill>
            <a:effectLst/>
          </c:spPr>
          <c:invertIfNegative val="0"/>
          <c:dLbls>
            <c:numFmt formatCode="0.0&quot;%&quot;" sourceLinked="0"/>
            <c:txPr>
              <a:bodyPr/>
              <a:lstStyle/>
              <a:p>
                <a:pPr>
                  <a:defRPr b="0" i="0" strike="noStrike" sz="1100" u="none">
                    <a:solidFill>
                      <a:srgbClr val="0B1320"/>
                    </a:solidFill>
                    <a:latin typeface="+mn-lt"/>
                  </a:defRPr>
                </a:pPr>
              </a:p>
            </c:txPr>
            <c:showLegendKey val="0"/>
            <c:showVal val="1"/>
            <c:showCatName val="0"/>
            <c:showSerName val="0"/>
            <c:showPercent val="0"/>
            <c:showBubbleSize val="0"/>
            <c:showLeaderLines val="0"/>
          </c:dLbls>
          <c:cat>
            <c:multiLvlStrRef>
              <c:f>Sheet1!$A$2:$A$3</c:f>
              <c:multiLvlStrCache>
                <c:ptCount val="2"/>
                <c:lvl>
                  <c:pt idx="0">
                    <c:v>Attacker submits only one stolen trait</c:v>
                  </c:pt>
                  <c:pt idx="1">
                    <c:v>Honest users asked for more</c:v>
                  </c:pt>
                </c:lvl>
              </c:multiLvlStrCache>
            </c:multiLvlStrRef>
          </c:cat>
          <c:val>
            <c:numRef>
              <c:f>Sheet1!$C$2:$C$3</c:f>
              <c:numCache>
                <c:formatCode>General</c:formatCode>
                <c:ptCount val="2"/>
                <c:pt idx="0">
                  <c:v>0</c:v>
                </c:pt>
                <c:pt idx="1">
                  <c:v>0.1</c:v>
                </c:pt>
              </c:numCache>
            </c:numRef>
          </c:val>
        </c:ser>
        <c:ser>
          <c:idx val="2"/>
          <c:order val="2"/>
          <c:tx>
            <c:strRef>
              <c:f>Sheet1!$D$1</c:f>
              <c:strCache>
                <c:ptCount val="1"/>
                <c:pt idx="0">
                  <c:v>Risk-aware (ours)</c:v>
                </c:pt>
              </c:strCache>
            </c:strRef>
          </c:tx>
          <c:spPr>
            <a:solidFill>
              <a:srgbClr val="E5A23C"/>
            </a:solidFill>
            <a:effectLst/>
          </c:spPr>
          <c:invertIfNegative val="0"/>
          <c:dLbls>
            <c:numFmt formatCode="0.0&quot;%&quot;" sourceLinked="0"/>
            <c:txPr>
              <a:bodyPr/>
              <a:lstStyle/>
              <a:p>
                <a:pPr>
                  <a:defRPr b="0" i="0" strike="noStrike" sz="1100" u="none">
                    <a:solidFill>
                      <a:srgbClr val="0B1320"/>
                    </a:solidFill>
                    <a:latin typeface="+mn-lt"/>
                  </a:defRPr>
                </a:pPr>
              </a:p>
            </c:txPr>
            <c:showLegendKey val="0"/>
            <c:showVal val="1"/>
            <c:showCatName val="0"/>
            <c:showSerName val="0"/>
            <c:showPercent val="0"/>
            <c:showBubbleSize val="0"/>
            <c:showLeaderLines val="0"/>
          </c:dLbls>
          <c:cat>
            <c:multiLvlStrRef>
              <c:f>Sheet1!$A$2:$A$3</c:f>
              <c:multiLvlStrCache>
                <c:ptCount val="2"/>
                <c:lvl>
                  <c:pt idx="0">
                    <c:v>Attacker submits only one stolen trait</c:v>
                  </c:pt>
                  <c:pt idx="1">
                    <c:v>Honest users asked for more</c:v>
                  </c:pt>
                </c:lvl>
              </c:multiLvlStrCache>
            </c:multiLvlStrRef>
          </c:cat>
          <c:val>
            <c:numRef>
              <c:f>Sheet1!$D$2:$D$3</c:f>
              <c:numCache>
                <c:formatCode>General</c:formatCode>
                <c:ptCount val="2"/>
                <c:pt idx="0">
                  <c:v>40</c:v>
                </c:pt>
                <c:pt idx="1">
                  <c:v>6.83</c:v>
                </c:pt>
              </c:numCache>
            </c:numRef>
          </c:val>
        </c:ser>
        <c:dLbls>
          <c:numFmt formatCode="0.0&quot;%&quot;" sourceLinked="0"/>
          <c:txPr>
            <a:bodyPr/>
            <a:lstStyle/>
            <a:p>
              <a:pPr>
                <a:defRPr b="0" i="0" strike="noStrike" sz="1100" u="none">
                  <a:solidFill>
                    <a:srgbClr val="0B13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B1320"/>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6350" cap="flat">
              <a:solidFill>
                <a:srgbClr val="D8E0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EA0B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B132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ma'am. My project is TriLock. It is a biometric authentication system for digital banking, where the amount of proof we ask for depends on how risky the payment is.
Before I start, one thing I want to be clear about: this is an academic prototype. All the transactions are simulated, there is no real money and no real bank behind it. What I want to show you today is how the system makes its decisions, how I tested it, and honestly where it is still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point is simple. A password only proves that someone knows a secret, not that they are the person. Passwords and OTPs can be guessed, phished or shared.
Biometrics help, but one biometric on its own can also fail. A photo can fool a face check, a recording can fool a voice check, and honest users get rejected in poor light or a noisy room.
The third problem is what made me choose this topic. Most systems apply the same check to every payment. So the check is either too weak for a big transfer or too annoying for a small one. That is the question on the right: how do we verify strongly without making small payments painful?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idea behind TriLock is to match the strictness of the check to the risk of the payment.
For a low-risk payment, one biometric is enough. As the risk goes up, the system asks for more evidence: two biometrics, then face and voice together, and for the highest risk, a higher bar on top of that.
There is one rule I kept everywhere. If a sample is missing, or the camera fails, or the model crashes, the system never treats that as a match. It is just treated as no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slide. The user signs in with a password and then a live face and voice check. When they start a payment, the system scores how risky it is. Then it collects whatever biometric evidence the user gives, combines it, and returns one of three outcomes: approved, rejected, or additional verification required.
Three ideas hold it together. It is multimodal, so the traits cover each other's weaknesses. It is risk-adaptive, so the bar rises with the payment. And it checks liveness for the high-risk steps, so a still photo or a recording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architecture: the browser is a React app that captures the camera and microphone and shows the pages. It makes no decisions. Everything important happens on the server.
The FastAPI backend handles routes, validation, sessions and access control. Behind it are the services: the risk engine, the fusion and decision policy, and the sign-in and liveness logic. Each biometric is its own module with the same interface, so I could test and evaluate them separately.
At the bottom is storage. SQLite for users, payments and every authentication attempt. The biometric templates are stored as encrypted numbers, never as photos or recordings. The evaluation scripts run offline and save their results in the same database, which is what the analytics page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these three because each one has a clear reason. Face is easy: every device has a camera. Voice works remotely with just a microphone, and it gives different information from the face, so one can cover the other.
Fingerprint is the honest one. A normal browser cannot read a fingerprint sensor, so I could only work with fingerprint images, and I could not find a real fingerprint dataset to test on. That is why it is marked optional and is a future enhancement. The system is built so that nothing requires it. Face and voice are the core.
The reason for combining traits is that they fail in different ways. A poor camera image does not affect your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of how the system knows it is you and not just capturing a face.
When you enroll, the system checks the sample quality, then a neural network turns your face into 128 numbers, or your voice into 192 numbers. Those numbers describe your features, not the picture. Only the numbers are stored, encrypted.
When you verify, it does the same with the new sample and measures how close the new numbers are to the saved ones. Your own face gives close numbers, someone else's gives clearly different ones. Because the face model and the voice model score on different scales, I calibrate each one into a match probability before combining them. The face model is SFace, the voice model is SpeechBrain's ECAPA-TDNN.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engine is deliberately simple and explainable. It adds points for things that make a payment riskier: a large amount, a new recipient, an international transfer, a new device, an amount that is unusual for that user.
I also added time-aware factors. Several payments within minutes, an unusual hour for that user, a brand-new account moving real money, or biometrics that were changed recently. The unusual-hour factor learns the user's usual hours from their approved payments.
The total is a score out of 100, grouped into four levels. I want to be clear that this is hand-set rules, not a trained fraud model. I have no fraud data, so I did not claim any accuracy for it. The benefit is that the app shows every factor, so the user can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fusion step, the main technical part. Each modality gives a calibrated match probability and a quality value. Poor-quality input counts for less. The system combines them into one fused score and also measures coverage, which is how much of the required evidence we actually have.
Then the risk level sets the bar. Low risk needs a score of 0.60 from any one biometric. High and critical need both face and voice and a higher score. Fingerprint is optional: if it is there it adds evidence, and if it is missing nothing changes.
The outcome is approved, rejected, or additional verification. The last one matters, because when evidence is missing or unclear I do not want to call the user an attacker. I ask for more. And again, missing or failed input is never counted as a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is an authentication system, I spent a lot of time on how it could be attacked.
Sign-in needs the password and then a live face and voice. The liveness check asks for a head turn in a random direction and three random words, so a still photo or an old recording does not work. Lockouts are tied to the device and network that failed, so an attacker cannot lock the real owner out of their own account.
Changing biometrics needs your password and fresh samples, so someone with only your password cannot swap in their own face. If you genuinely lose access, there is a recovery flow with a waiting period, admin approval and a probation period.
On privacy, raw photos and recordings are never saved. Only encrypted numbers are, and a user can erase everything. I will be honest about what liveness does not stop in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the running application.
On the left is enrollment. A new account starts with a limited session that can only see this page. Face and voice are marked required, and fingerprint is marked optional. Each card explains what to do, shows the samples you collected, and only shows Enrolled after the server has actually built a reference from a valid sample. Once face and voice are both enrolled, the rest of the app unlocks.
On the right is sign-in. After the password, the app asks for a live face and voice. The password alone opens nothing. If someone cannot pass this step, for example their face changed, there is a recovery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ordinary payment. In step one I enter the details and the page shows a live risk estimate with the factors, so the user can see what is adding risk.
In step two the server computes the final risk score and tells the user what this risk level requires. This one is low risk, so one biometric is enough. In step three the user verifies with the camera, and step four is the decision.
The decision page is the part I care about most. It shows the result, the match confidence for each biometric, the input quality, and a plain-language reason. A sample that was not submitted shows as no evidence, never as a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25,000 dollar payment to a new international recipient. The risk comes out as critical, and the app tells the user up front that face and voice are both required, and that they must be live.
In the verify step it shows a head-turn instruction and three words to say. In my browser test I used a fake camera that plays a single photo, so it never turns its head. The system correctly refuses it: no clear head turn was seen. The payment is not rejected as an attack. It asks for additional verification and lists exactly what to do next, and the user has three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payments, the user can see what happened. The dashboard shows totals, the risk distribution, outcomes, activity over time and the status of each biometric module. All of it is read from the stored data, nothing is hard-coded.
The history page lists every payment with its risk, which biometrics were evaluated, and the decision. Opening one gives the full explanation.
The analytics page shows the evaluation results, and every figure is labelled as real dataset, synthetic data or simulated, so nobody mistakes one for the other. I will go through those results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implementation: the frontend is React with Vite. The backend is FastAPI with SQLite. Face recognition uses OpenCV's YuNet detector and SFace model. Voice uses SpeechBrain's ECAPA-TDNN speaker model. The spoken-word liveness check uses a small speech recognizer called faster-whisper. The fingerprint matcher uses SIFT keypoints with RANSAC. Everything runs on a normal CPU, with no paid services.
For testing, there are 323 automated tests covering things like the risk rules, the fusion policy, access control, lockouts and privacy. I also wrote a browser test that drives the real interface in Chrome with a fake camera and microphone, and it caught real bugs, for example a camera button that did nothing if you pressed it too early. And the evaluation is reproducible: every run stores its seed and a hash of its trial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how I measured it, because the method matters as much as the numbers.
For each biometric I built genuine trials, where the probe is the same person, and impostor trials, where it is a different person. The people are split into two halves. I fit the decision threshold on one half and measure on the other, so the threshold was never tuned on the people it is tested on. I repeat that with ten random splits to see how much the result depends on the split.
I should be upfront about the data. Faces and voices come from public datasets of real people. Fingerprints are synthetic, because I could not find a real fingerprint dataset I could download, so I do not claim anything about real fingerprints. Along the way I found and fixed some flaws in my first evaluation, for example impostor samples leaking across the two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results for each biometric on its own. FAR is how often an impostor is accepted, FRR is how often the real user is rejected, and EER is where the two are equal.
Face on real photos has an equal error rate of about 0.45 percent, with a false accept rate of 0.5 percent. Voice on real speech has a 0 percent EER in the main split, but I want to be careful: there are only 13 speakers in each half, so the interval on the false accept rate goes up to almost 7 percent, and across ten splits the false accept rate is 1.4 percent plus or minus 1.8. That variation is the honest picture.
The fingerprint row is synthetic data, so it only shows that the matcher works mechanically. It says nothing about real fingerprints. And all of these datasets are easier than a phone camera in a dim room, so real-world performance will be worse. I did not try to estimate by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On the left, what happens when the input is poor. I blurred, darkened, shrank and added noise to the same test samples. In most cases the system does not guess. It refuses the input as not evaluable and asks the user to retry. That is deliberate: a bad image should not turn into a wrong decision. The one place where real users get rejected is voice at 10 dB noise, about 14 percent.
On the right are the liveness checks. I could not download a real spoofing dataset, so I want to be clear that the face numbers are simulated: I turned real photos into flat tilted sheets and swapped between two real photos. Only 1 in 1000 tilted photos passed and none of the swaps did. For the spoken words, I used real speech: two of three words are heard about 95 percent of the time on clean audio, and none of 650 unrelated recordings passed. These do not cover videos or voice cloning.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compares the decision policies using simulated attempts built from the measured scores. The fingerprint scores in it are synthetic, and the risk mix is assumed, so this shows how the policies behave, not real-world accuracy.
The attack I focused on is what I call an omission attack: the attacker has beaten one trait, say the face, and submits only that one, leaving the others blank. A plain fixed threshold averages whatever is present, so it approves that attack every time. My risk-aware policy blocks it for medium risk and above. The 40 percent that still gets through is exactly the low-risk share of my assumed mix, because low-risk payments deliberately accept one biometric.
The honest part: a simple rule that always requires two biometrics is also safe, and when all traits are present it asks honest users for less. The risk-aware policy asks about 6.8 percent of honest users for more, and about 14 to 19 percent on high and critical payments. So it is a different trade-off, not a free win. Whether low-risk single-biometric approval is acceptable is a business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limits, because I would rather you hear them from me.
Fingerprint was only tested on generated prints, so I make no claim about real fingerprints. The datasets for face and voice are small and easier than real conditions, so the real error rates will be higher. The liveness checks stop still photos and old recordings, but not a video of the user, a deepfake or voice cloning, and the head-turn check has been tested with logic tests and a fake camera but never with a real person turning their head. And it is a prototype: simulated money, no HTTPS, SQLite.
For the next steps, I would get a real fingerprint sensor and dataset, test liveness against public spoofing datasets, move to on-device biometrics with WebAuthn and HTTPS, and run on larger datasets with several sessions per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TriLock shows that the strength of the check can follow the risk of the payment: small payments stay smooth, and larger ones need more proof, with face and voice as the core and fingerprint as an optional extra.
The main rule I kept was that missing or failed evidence is never treated as a match. And I tried to be honest in how I measured it: real data and synthetic data are labelled separately, the simulated results are marked as simulated, and the limitations are written down.
Thank you, ma'am. I am happy to answer questions, and I can show any part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9144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2286000"/>
            <a:ext cx="4572000" cy="91440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4846320"/>
            <a:ext cx="4572000" cy="201168"/>
          </a:xfrm>
          <a:prstGeom prst="rect">
            <a:avLst/>
          </a:prstGeom>
          <a:noFill/>
          <a:ln/>
        </p:spPr>
        <p:txBody>
          <a:bodyPr wrap="square" lIns="0" tIns="0" rIns="0" bIns="0" rtlCol="0" anchor="ctr"/>
          <a:lstStyle/>
          <a:p>
            <a:pPr indent="0" marL="0">
              <a:buNone/>
            </a:pPr>
            <a:r>
              <a:rPr lang="en-US" sz="1000" dirty="0">
                <a:solidFill>
                  <a:schemeClr val="accent5"/>
                </a:solidFill>
              </a:rPr>
              <a:t>TriLock  |  Final year project review</a:t>
            </a:r>
            <a:endParaRPr lang="en-US" sz="10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4572000" cy="5486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94360"/>
            <a:ext cx="4572000" cy="274320"/>
          </a:xfrm>
          <a:prstGeom prst="rect">
            <a:avLst/>
          </a:prstGeom>
          <a:noFill/>
          <a:ln/>
        </p:spPr>
        <p:txBody>
          <a:bodyPr wrap="square" lIns="0" tIns="0" rIns="0" bIns="0" rtlCol="0" anchor="ctr"/>
          <a:lstStyle/>
          <a:p>
            <a:pPr indent="0" marL="0">
              <a:buNone/>
            </a:pPr>
            <a:r>
              <a:rPr lang="en-US" sz="1200" b="1" spc="400" kern="0" dirty="0">
                <a:solidFill>
                  <a:schemeClr val="accent5"/>
                </a:solidFill>
              </a:rPr>
              <a:t>FINAL YEAR PROJECT REVIEW</a:t>
            </a:r>
            <a:endParaRPr lang="en-US" sz="1200" dirty="0"/>
          </a:p>
        </p:txBody>
      </p:sp>
      <p:sp>
        <p:nvSpPr>
          <p:cNvPr id="3" name="Text 0"/>
          <p:cNvSpPr/>
          <p:nvPr>
            <p:ph idx="100" type="title" hasCustomPrompt="1"/>
          </p:nvPr>
        </p:nvSpPr>
        <p:spPr>
          <a:xfrm>
            <a:off x="548640" y="1234440"/>
            <a:ext cx="4937760" cy="914400"/>
          </a:xfrm>
          <a:prstGeom prst="rect">
            <a:avLst/>
          </a:prstGeom>
          <a:noFill/>
          <a:ln/>
        </p:spPr>
        <p:txBody>
          <a:bodyPr wrap="square" lIns="0" tIns="0" rIns="0" bIns="0" rtlCol="0" anchor="t"/>
          <a:lstStyle/>
          <a:p>
            <a:pPr algn="l" indent="0" marL="0">
              <a:buNone/>
            </a:pPr>
            <a:r>
              <a:rPr lang="en-US" sz="6000" b="1" dirty="0">
                <a:solidFill>
                  <a:schemeClr val="bg1"/>
                </a:solidFill>
              </a:rPr>
              <a:t>TriLock</a:t>
            </a:r>
            <a:endParaRPr lang="en-US" sz="6000" dirty="0"/>
          </a:p>
        </p:txBody>
      </p:sp>
      <p:sp>
        <p:nvSpPr>
          <p:cNvPr id="4" name="Text 0"/>
          <p:cNvSpPr/>
          <p:nvPr>
            <p:ph idx="101" type="body" hasCustomPrompt="1"/>
          </p:nvPr>
        </p:nvSpPr>
        <p:spPr>
          <a:xfrm>
            <a:off x="548640" y="2286000"/>
            <a:ext cx="4572000" cy="914400"/>
          </a:xfrm>
          <a:prstGeom prst="rect">
            <a:avLst/>
          </a:prstGeom>
          <a:noFill/>
          <a:ln/>
        </p:spPr>
        <p:txBody>
          <a:bodyPr wrap="square" lIns="0" tIns="0" rIns="0" bIns="0" rtlCol="0" anchor="t"/>
          <a:lstStyle/>
          <a:p>
            <a:pPr algn="l" indent="0" marL="0">
              <a:buNone/>
            </a:pPr>
            <a:r>
              <a:rPr lang="en-US" sz="2000" dirty="0">
                <a:solidFill>
                  <a:schemeClr val="accent6"/>
                </a:solidFill>
              </a:rPr>
              <a:t>Risk-adaptive multimodal biometric authentication for digital banking</a:t>
            </a:r>
            <a:endParaRPr lang="en-US" sz="2000" dirty="0"/>
          </a:p>
        </p:txBody>
      </p:sp>
      <p:sp>
        <p:nvSpPr>
          <p:cNvPr id="5" name="Text 3"/>
          <p:cNvSpPr txBox="1"/>
          <p:nvPr/>
        </p:nvSpPr>
        <p:spPr>
          <a:xfrm>
            <a:off x="548640" y="4160520"/>
            <a:ext cx="4572000" cy="274320"/>
          </a:xfrm>
          <a:prstGeom prst="rect">
            <a:avLst/>
          </a:prstGeom>
          <a:noFill/>
          <a:ln/>
        </p:spPr>
        <p:txBody>
          <a:bodyPr wrap="square" lIns="0" tIns="0" rIns="0" bIns="0" rtlCol="0" anchor="ctr"/>
          <a:lstStyle/>
          <a:p>
            <a:pPr indent="0" marL="0">
              <a:buNone/>
            </a:pPr>
            <a:r>
              <a:rPr lang="en-US" sz="1400" dirty="0">
                <a:solidFill>
                  <a:schemeClr val="accent5"/>
                </a:solidFill>
              </a:rPr>
              <a:t>Face  |  Voice  |  Fingerprint</a:t>
            </a:r>
            <a:endParaRPr lang="en-US" sz="1400" dirty="0"/>
          </a:p>
        </p:txBody>
      </p:sp>
      <p:sp>
        <p:nvSpPr>
          <p:cNvPr id="6" name="Text 4"/>
          <p:cNvSpPr txBox="1"/>
          <p:nvPr/>
        </p:nvSpPr>
        <p:spPr>
          <a:xfrm>
            <a:off x="548640" y="4480560"/>
            <a:ext cx="5029200" cy="274320"/>
          </a:xfrm>
          <a:prstGeom prst="rect">
            <a:avLst/>
          </a:prstGeom>
          <a:noFill/>
          <a:ln/>
        </p:spPr>
        <p:txBody>
          <a:bodyPr wrap="square" lIns="0" tIns="0" rIns="0" bIns="0" rtlCol="0" anchor="ctr"/>
          <a:lstStyle/>
          <a:p>
            <a:pPr indent="0" marL="0">
              <a:buNone/>
            </a:pPr>
            <a:r>
              <a:rPr lang="en-US" sz="1200" dirty="0">
                <a:solidFill>
                  <a:schemeClr val="accent5"/>
                </a:solidFill>
              </a:rPr>
              <a:t>Academic prototype. All transactions are simulated.</a:t>
            </a:r>
            <a:endParaRPr lang="en-US" sz="1200" dirty="0"/>
          </a:p>
        </p:txBody>
      </p:sp>
      <p:sp>
        <p:nvSpPr>
          <p:cNvPr id="7" name="Shape 5"/>
          <p:cNvSpPr/>
          <p:nvPr/>
        </p:nvSpPr>
        <p:spPr>
          <a:xfrm>
            <a:off x="6995160" y="1051560"/>
            <a:ext cx="914" cy="1463040"/>
          </a:xfrm>
          <a:prstGeom prst="line">
            <a:avLst/>
          </a:prstGeom>
          <a:noFill/>
          <a:ln w="12700">
            <a:solidFill>
              <a:schemeClr val="accent5"/>
            </a:solidFill>
            <a:prstDash val="dash"/>
          </a:ln>
        </p:spPr>
      </p:sp>
      <p:sp>
        <p:nvSpPr>
          <p:cNvPr id="8" name="Shape 6"/>
          <p:cNvSpPr/>
          <p:nvPr/>
        </p:nvSpPr>
        <p:spPr>
          <a:xfrm>
            <a:off x="6995160" y="2514600"/>
            <a:ext cx="1325880" cy="960120"/>
          </a:xfrm>
          <a:prstGeom prst="line">
            <a:avLst/>
          </a:prstGeom>
          <a:noFill/>
          <a:ln w="12700">
            <a:solidFill>
              <a:schemeClr val="accent5"/>
            </a:solidFill>
            <a:prstDash val="dash"/>
          </a:ln>
        </p:spPr>
      </p:sp>
      <p:sp>
        <p:nvSpPr>
          <p:cNvPr id="9" name="Shape 7"/>
          <p:cNvSpPr/>
          <p:nvPr/>
        </p:nvSpPr>
        <p:spPr>
          <a:xfrm flipH="1">
            <a:off x="5669280" y="2514600"/>
            <a:ext cx="1325880" cy="960120"/>
          </a:xfrm>
          <a:prstGeom prst="line">
            <a:avLst/>
          </a:prstGeom>
          <a:noFill/>
          <a:ln w="12700">
            <a:solidFill>
              <a:schemeClr val="accent5"/>
            </a:solidFill>
            <a:prstDash val="dash"/>
          </a:ln>
        </p:spPr>
      </p:sp>
      <p:sp>
        <p:nvSpPr>
          <p:cNvPr id="10" name="Shape 8"/>
          <p:cNvSpPr/>
          <p:nvPr/>
        </p:nvSpPr>
        <p:spPr>
          <a:xfrm>
            <a:off x="6217920" y="1737360"/>
            <a:ext cx="1554480" cy="1554480"/>
          </a:xfrm>
          <a:prstGeom prst="ellipse">
            <a:avLst/>
          </a:prstGeom>
          <a:solidFill>
            <a:schemeClr val="tx2"/>
          </a:solidFill>
          <a:ln w="25400">
            <a:solidFill>
              <a:schemeClr val="accent1"/>
            </a:solidFill>
            <a:prstDash val="solid"/>
          </a:ln>
        </p:spPr>
      </p:sp>
      <p:pic>
        <p:nvPicPr>
          <p:cNvPr id="11" name="Image 0" descr="Lock">    </p:cNvPr>
          <p:cNvPicPr>
            <a:picLocks noChangeAspect="1"/>
          </p:cNvPicPr>
          <p:nvPr/>
        </p:nvPicPr>
        <p:blipFill>
          <a:blip r:embed="rId1"/>
          <a:stretch>
            <a:fillRect/>
          </a:stretch>
        </p:blipFill>
        <p:spPr>
          <a:xfrm>
            <a:off x="6629400" y="2148840"/>
            <a:ext cx="731520" cy="731520"/>
          </a:xfrm>
          <a:prstGeom prst="rect">
            <a:avLst/>
          </a:prstGeom>
        </p:spPr>
      </p:pic>
      <p:sp>
        <p:nvSpPr>
          <p:cNvPr id="12" name="Shape 9"/>
          <p:cNvSpPr/>
          <p:nvPr/>
        </p:nvSpPr>
        <p:spPr>
          <a:xfrm>
            <a:off x="6629400" y="685800"/>
            <a:ext cx="731520" cy="731520"/>
          </a:xfrm>
          <a:prstGeom prst="ellipse">
            <a:avLst/>
          </a:prstGeom>
          <a:solidFill>
            <a:schemeClr val="tx2"/>
          </a:solidFill>
          <a:ln w="15875">
            <a:solidFill>
              <a:schemeClr val="accent1"/>
            </a:solidFill>
            <a:prstDash val="solid"/>
          </a:ln>
        </p:spPr>
      </p:sp>
      <p:pic>
        <p:nvPicPr>
          <p:cNvPr id="13" name="Image 1" descr="Face">    </p:cNvPr>
          <p:cNvPicPr>
            <a:picLocks noChangeAspect="1"/>
          </p:cNvPicPr>
          <p:nvPr/>
        </p:nvPicPr>
        <p:blipFill>
          <a:blip r:embed="rId2"/>
          <a:stretch>
            <a:fillRect/>
          </a:stretch>
        </p:blipFill>
        <p:spPr>
          <a:xfrm>
            <a:off x="6793992" y="850392"/>
            <a:ext cx="402336" cy="402336"/>
          </a:xfrm>
          <a:prstGeom prst="rect">
            <a:avLst/>
          </a:prstGeom>
        </p:spPr>
      </p:pic>
      <p:sp>
        <p:nvSpPr>
          <p:cNvPr id="14" name="Text 10"/>
          <p:cNvSpPr txBox="1"/>
          <p:nvPr/>
        </p:nvSpPr>
        <p:spPr>
          <a:xfrm>
            <a:off x="6172200" y="393192"/>
            <a:ext cx="1645920" cy="228600"/>
          </a:xfrm>
          <a:prstGeom prst="rect">
            <a:avLst/>
          </a:prstGeom>
          <a:noFill/>
          <a:ln/>
        </p:spPr>
        <p:txBody>
          <a:bodyPr wrap="square" lIns="0" tIns="0" rIns="0" bIns="0" rtlCol="0" anchor="ctr"/>
          <a:lstStyle/>
          <a:p>
            <a:pPr algn="ctr" indent="0" marL="0">
              <a:buNone/>
            </a:pPr>
            <a:r>
              <a:rPr lang="en-US" sz="1200" dirty="0">
                <a:solidFill>
                  <a:schemeClr val="accent5"/>
                </a:solidFill>
              </a:rPr>
              <a:t>Face</a:t>
            </a:r>
            <a:endParaRPr lang="en-US" sz="1200" dirty="0"/>
          </a:p>
        </p:txBody>
      </p:sp>
      <p:sp>
        <p:nvSpPr>
          <p:cNvPr id="15" name="Shape 11"/>
          <p:cNvSpPr/>
          <p:nvPr/>
        </p:nvSpPr>
        <p:spPr>
          <a:xfrm>
            <a:off x="7955280" y="3108960"/>
            <a:ext cx="731520" cy="731520"/>
          </a:xfrm>
          <a:prstGeom prst="ellipse">
            <a:avLst/>
          </a:prstGeom>
          <a:solidFill>
            <a:schemeClr val="tx2"/>
          </a:solidFill>
          <a:ln w="15875">
            <a:solidFill>
              <a:schemeClr val="accent1"/>
            </a:solidFill>
            <a:prstDash val="solid"/>
          </a:ln>
        </p:spPr>
      </p:sp>
      <p:pic>
        <p:nvPicPr>
          <p:cNvPr id="16" name="Image 2" descr="Voice">    </p:cNvPr>
          <p:cNvPicPr>
            <a:picLocks noChangeAspect="1"/>
          </p:cNvPicPr>
          <p:nvPr/>
        </p:nvPicPr>
        <p:blipFill>
          <a:blip r:embed="rId3"/>
          <a:stretch>
            <a:fillRect/>
          </a:stretch>
        </p:blipFill>
        <p:spPr>
          <a:xfrm>
            <a:off x="8119872" y="3273552"/>
            <a:ext cx="402336" cy="402336"/>
          </a:xfrm>
          <a:prstGeom prst="rect">
            <a:avLst/>
          </a:prstGeom>
        </p:spPr>
      </p:pic>
      <p:sp>
        <p:nvSpPr>
          <p:cNvPr id="17" name="Text 12"/>
          <p:cNvSpPr txBox="1"/>
          <p:nvPr/>
        </p:nvSpPr>
        <p:spPr>
          <a:xfrm>
            <a:off x="7498080" y="3895344"/>
            <a:ext cx="1645920" cy="228600"/>
          </a:xfrm>
          <a:prstGeom prst="rect">
            <a:avLst/>
          </a:prstGeom>
          <a:noFill/>
          <a:ln/>
        </p:spPr>
        <p:txBody>
          <a:bodyPr wrap="square" lIns="0" tIns="0" rIns="0" bIns="0" rtlCol="0" anchor="ctr"/>
          <a:lstStyle/>
          <a:p>
            <a:pPr algn="ctr" indent="0" marL="0">
              <a:buNone/>
            </a:pPr>
            <a:r>
              <a:rPr lang="en-US" sz="1200" dirty="0">
                <a:solidFill>
                  <a:schemeClr val="accent5"/>
                </a:solidFill>
              </a:rPr>
              <a:t>Voice</a:t>
            </a:r>
            <a:endParaRPr lang="en-US" sz="1200" dirty="0"/>
          </a:p>
        </p:txBody>
      </p:sp>
      <p:sp>
        <p:nvSpPr>
          <p:cNvPr id="18" name="Shape 13"/>
          <p:cNvSpPr/>
          <p:nvPr/>
        </p:nvSpPr>
        <p:spPr>
          <a:xfrm>
            <a:off x="5303520" y="3108960"/>
            <a:ext cx="731520" cy="731520"/>
          </a:xfrm>
          <a:prstGeom prst="ellipse">
            <a:avLst/>
          </a:prstGeom>
          <a:solidFill>
            <a:schemeClr val="tx2"/>
          </a:solidFill>
          <a:ln w="15875">
            <a:solidFill>
              <a:schemeClr val="accent1"/>
            </a:solidFill>
            <a:prstDash val="solid"/>
          </a:ln>
        </p:spPr>
      </p:sp>
      <p:pic>
        <p:nvPicPr>
          <p:cNvPr id="19" name="Image 3" descr="Fingerprint">    </p:cNvPr>
          <p:cNvPicPr>
            <a:picLocks noChangeAspect="1"/>
          </p:cNvPicPr>
          <p:nvPr/>
        </p:nvPicPr>
        <p:blipFill>
          <a:blip r:embed="rId4"/>
          <a:stretch>
            <a:fillRect/>
          </a:stretch>
        </p:blipFill>
        <p:spPr>
          <a:xfrm>
            <a:off x="5468112" y="3273552"/>
            <a:ext cx="402336" cy="402336"/>
          </a:xfrm>
          <a:prstGeom prst="rect">
            <a:avLst/>
          </a:prstGeom>
        </p:spPr>
      </p:pic>
      <p:sp>
        <p:nvSpPr>
          <p:cNvPr id="20" name="Text 14"/>
          <p:cNvSpPr txBox="1"/>
          <p:nvPr/>
        </p:nvSpPr>
        <p:spPr>
          <a:xfrm>
            <a:off x="4846320" y="3895344"/>
            <a:ext cx="1645920" cy="228600"/>
          </a:xfrm>
          <a:prstGeom prst="rect">
            <a:avLst/>
          </a:prstGeom>
          <a:noFill/>
          <a:ln/>
        </p:spPr>
        <p:txBody>
          <a:bodyPr wrap="square" lIns="0" tIns="0" rIns="0" bIns="0" rtlCol="0" anchor="ctr"/>
          <a:lstStyle/>
          <a:p>
            <a:pPr algn="ctr" indent="0" marL="0">
              <a:buNone/>
            </a:pPr>
            <a:r>
              <a:rPr lang="en-US" sz="1200" dirty="0">
                <a:solidFill>
                  <a:schemeClr val="accent5"/>
                </a:solidFill>
              </a:rPr>
              <a:t>Fingerprint (optional)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Passwords alone do not prove who you are</a:t>
            </a:r>
            <a:endParaRPr lang="en-US" sz="2800" dirty="0"/>
          </a:p>
        </p:txBody>
      </p:sp>
      <p:sp>
        <p:nvSpPr>
          <p:cNvPr id="3" name="Credentials can be taken circle"/>
          <p:cNvSpPr/>
          <p:nvPr/>
        </p:nvSpPr>
        <p:spPr>
          <a:xfrm>
            <a:off x="548640" y="1188720"/>
            <a:ext cx="566928" cy="566928"/>
          </a:xfrm>
          <a:prstGeom prst="ellipse">
            <a:avLst/>
          </a:prstGeom>
          <a:solidFill>
            <a:schemeClr val="accent1">
              <a:alpha val="14000"/>
            </a:schemeClr>
          </a:solidFill>
          <a:ln w="12700">
            <a:solidFill>
              <a:schemeClr val="accent1">
                <a:alpha val="0"/>
              </a:schemeClr>
            </a:solidFill>
            <a:prstDash val="solid"/>
          </a:ln>
        </p:spPr>
      </p:sp>
      <p:pic>
        <p:nvPicPr>
          <p:cNvPr id="4" name="Credentials can be taken" descr="Credentials can be taken">    </p:cNvPr>
          <p:cNvPicPr>
            <a:picLocks noChangeAspect="1"/>
          </p:cNvPicPr>
          <p:nvPr/>
        </p:nvPicPr>
        <p:blipFill>
          <a:blip r:embed="rId1"/>
          <a:stretch>
            <a:fillRect/>
          </a:stretch>
        </p:blipFill>
        <p:spPr>
          <a:xfrm>
            <a:off x="696041" y="1336121"/>
            <a:ext cx="272125" cy="272125"/>
          </a:xfrm>
          <a:prstGeom prst="rect">
            <a:avLst/>
          </a:prstGeom>
        </p:spPr>
      </p:pic>
      <p:sp>
        <p:nvSpPr>
          <p:cNvPr id="5" name="Text 2"/>
          <p:cNvSpPr txBox="1"/>
          <p:nvPr/>
        </p:nvSpPr>
        <p:spPr>
          <a:xfrm>
            <a:off x="1298448" y="1170432"/>
            <a:ext cx="4023360" cy="274320"/>
          </a:xfrm>
          <a:prstGeom prst="rect">
            <a:avLst/>
          </a:prstGeom>
          <a:noFill/>
          <a:ln/>
        </p:spPr>
        <p:txBody>
          <a:bodyPr wrap="square" lIns="0" tIns="0" rIns="0" bIns="0" rtlCol="0" anchor="ctr"/>
          <a:lstStyle/>
          <a:p>
            <a:pPr indent="0" marL="0">
              <a:buNone/>
            </a:pPr>
            <a:r>
              <a:rPr lang="en-US" sz="1600" b="1" dirty="0">
                <a:solidFill>
                  <a:schemeClr val="tx1"/>
                </a:solidFill>
              </a:rPr>
              <a:t>Credentials can be taken</a:t>
            </a:r>
            <a:endParaRPr lang="en-US" sz="1600" dirty="0"/>
          </a:p>
        </p:txBody>
      </p:sp>
      <p:sp>
        <p:nvSpPr>
          <p:cNvPr id="6" name="Text 3"/>
          <p:cNvSpPr txBox="1"/>
          <p:nvPr/>
        </p:nvSpPr>
        <p:spPr>
          <a:xfrm>
            <a:off x="1298448" y="1463040"/>
            <a:ext cx="4023360" cy="731520"/>
          </a:xfrm>
          <a:prstGeom prst="rect">
            <a:avLst/>
          </a:prstGeom>
          <a:noFill/>
          <a:ln/>
        </p:spPr>
        <p:txBody>
          <a:bodyPr wrap="square" lIns="0" tIns="0" rIns="0" bIns="0" rtlCol="0" anchor="t"/>
          <a:lstStyle/>
          <a:p>
            <a:pPr indent="0" marL="0">
              <a:buNone/>
            </a:pPr>
            <a:r>
              <a:rPr lang="en-US" sz="1400" dirty="0">
                <a:solidFill>
                  <a:schemeClr val="tx2"/>
                </a:solidFill>
              </a:rPr>
              <a:t>Passwords and one-time codes can be guessed, phished or shared. Whoever has them is "you".</a:t>
            </a:r>
            <a:endParaRPr lang="en-US" sz="1400" dirty="0"/>
          </a:p>
        </p:txBody>
      </p:sp>
      <p:sp>
        <p:nvSpPr>
          <p:cNvPr id="7" name="One biometric is not enough circle"/>
          <p:cNvSpPr/>
          <p:nvPr/>
        </p:nvSpPr>
        <p:spPr>
          <a:xfrm>
            <a:off x="548640" y="2350008"/>
            <a:ext cx="566928" cy="566928"/>
          </a:xfrm>
          <a:prstGeom prst="ellipse">
            <a:avLst/>
          </a:prstGeom>
          <a:solidFill>
            <a:schemeClr val="accent1">
              <a:alpha val="14000"/>
            </a:schemeClr>
          </a:solidFill>
          <a:ln w="12700">
            <a:solidFill>
              <a:schemeClr val="accent1">
                <a:alpha val="0"/>
              </a:schemeClr>
            </a:solidFill>
            <a:prstDash val="solid"/>
          </a:ln>
        </p:spPr>
      </p:sp>
      <p:pic>
        <p:nvPicPr>
          <p:cNvPr id="8" name="One biometric is not enough" descr="One biometric is not enough">    </p:cNvPr>
          <p:cNvPicPr>
            <a:picLocks noChangeAspect="1"/>
          </p:cNvPicPr>
          <p:nvPr/>
        </p:nvPicPr>
        <p:blipFill>
          <a:blip r:embed="rId2"/>
          <a:stretch>
            <a:fillRect/>
          </a:stretch>
        </p:blipFill>
        <p:spPr>
          <a:xfrm>
            <a:off x="696041" y="2497409"/>
            <a:ext cx="272125" cy="272125"/>
          </a:xfrm>
          <a:prstGeom prst="rect">
            <a:avLst/>
          </a:prstGeom>
        </p:spPr>
      </p:pic>
      <p:sp>
        <p:nvSpPr>
          <p:cNvPr id="9" name="Text 5"/>
          <p:cNvSpPr txBox="1"/>
          <p:nvPr/>
        </p:nvSpPr>
        <p:spPr>
          <a:xfrm>
            <a:off x="1298448" y="2331720"/>
            <a:ext cx="4023360" cy="274320"/>
          </a:xfrm>
          <a:prstGeom prst="rect">
            <a:avLst/>
          </a:prstGeom>
          <a:noFill/>
          <a:ln/>
        </p:spPr>
        <p:txBody>
          <a:bodyPr wrap="square" lIns="0" tIns="0" rIns="0" bIns="0" rtlCol="0" anchor="ctr"/>
          <a:lstStyle/>
          <a:p>
            <a:pPr indent="0" marL="0">
              <a:buNone/>
            </a:pPr>
            <a:r>
              <a:rPr lang="en-US" sz="1600" b="1" dirty="0">
                <a:solidFill>
                  <a:schemeClr val="tx1"/>
                </a:solidFill>
              </a:rPr>
              <a:t>One biometric is not enough</a:t>
            </a:r>
            <a:endParaRPr lang="en-US" sz="1600" dirty="0"/>
          </a:p>
        </p:txBody>
      </p:sp>
      <p:sp>
        <p:nvSpPr>
          <p:cNvPr id="10" name="Text 6"/>
          <p:cNvSpPr txBox="1"/>
          <p:nvPr/>
        </p:nvSpPr>
        <p:spPr>
          <a:xfrm>
            <a:off x="1298448" y="2624328"/>
            <a:ext cx="4023360" cy="731520"/>
          </a:xfrm>
          <a:prstGeom prst="rect">
            <a:avLst/>
          </a:prstGeom>
          <a:noFill/>
          <a:ln/>
        </p:spPr>
        <p:txBody>
          <a:bodyPr wrap="square" lIns="0" tIns="0" rIns="0" bIns="0" rtlCol="0" anchor="t"/>
          <a:lstStyle/>
          <a:p>
            <a:pPr indent="0" marL="0">
              <a:buNone/>
            </a:pPr>
            <a:r>
              <a:rPr lang="en-US" sz="1400" dirty="0">
                <a:solidFill>
                  <a:schemeClr val="tx2"/>
                </a:solidFill>
              </a:rPr>
              <a:t>A single trait can be faked with a photo or a recording, or fail in bad light and noise.</a:t>
            </a:r>
            <a:endParaRPr lang="en-US" sz="1400" dirty="0"/>
          </a:p>
        </p:txBody>
      </p:sp>
      <p:sp>
        <p:nvSpPr>
          <p:cNvPr id="11" name="Every payment gets the same check circle"/>
          <p:cNvSpPr/>
          <p:nvPr/>
        </p:nvSpPr>
        <p:spPr>
          <a:xfrm>
            <a:off x="548640" y="3511296"/>
            <a:ext cx="566928" cy="566928"/>
          </a:xfrm>
          <a:prstGeom prst="ellipse">
            <a:avLst/>
          </a:prstGeom>
          <a:solidFill>
            <a:schemeClr val="accent1">
              <a:alpha val="14000"/>
            </a:schemeClr>
          </a:solidFill>
          <a:ln w="12700">
            <a:solidFill>
              <a:schemeClr val="accent1">
                <a:alpha val="0"/>
              </a:schemeClr>
            </a:solidFill>
            <a:prstDash val="solid"/>
          </a:ln>
        </p:spPr>
      </p:sp>
      <p:pic>
        <p:nvPicPr>
          <p:cNvPr id="12" name="Every payment gets the same check" descr="Every payment gets the same check">    </p:cNvPr>
          <p:cNvPicPr>
            <a:picLocks noChangeAspect="1"/>
          </p:cNvPicPr>
          <p:nvPr/>
        </p:nvPicPr>
        <p:blipFill>
          <a:blip r:embed="rId3"/>
          <a:stretch>
            <a:fillRect/>
          </a:stretch>
        </p:blipFill>
        <p:spPr>
          <a:xfrm>
            <a:off x="696041" y="3658697"/>
            <a:ext cx="272125" cy="272125"/>
          </a:xfrm>
          <a:prstGeom prst="rect">
            <a:avLst/>
          </a:prstGeom>
        </p:spPr>
      </p:pic>
      <p:sp>
        <p:nvSpPr>
          <p:cNvPr id="13" name="Text 8"/>
          <p:cNvSpPr txBox="1"/>
          <p:nvPr/>
        </p:nvSpPr>
        <p:spPr>
          <a:xfrm>
            <a:off x="1298448" y="3493008"/>
            <a:ext cx="4023360" cy="274320"/>
          </a:xfrm>
          <a:prstGeom prst="rect">
            <a:avLst/>
          </a:prstGeom>
          <a:noFill/>
          <a:ln/>
        </p:spPr>
        <p:txBody>
          <a:bodyPr wrap="square" lIns="0" tIns="0" rIns="0" bIns="0" rtlCol="0" anchor="ctr"/>
          <a:lstStyle/>
          <a:p>
            <a:pPr indent="0" marL="0">
              <a:buNone/>
            </a:pPr>
            <a:r>
              <a:rPr lang="en-US" sz="1600" b="1" dirty="0">
                <a:solidFill>
                  <a:schemeClr val="tx1"/>
                </a:solidFill>
              </a:rPr>
              <a:t>Every payment gets the same check</a:t>
            </a:r>
            <a:endParaRPr lang="en-US" sz="1600" dirty="0"/>
          </a:p>
        </p:txBody>
      </p:sp>
      <p:sp>
        <p:nvSpPr>
          <p:cNvPr id="14" name="Text 9"/>
          <p:cNvSpPr txBox="1"/>
          <p:nvPr/>
        </p:nvSpPr>
        <p:spPr>
          <a:xfrm>
            <a:off x="1298448" y="3785616"/>
            <a:ext cx="4023360" cy="731520"/>
          </a:xfrm>
          <a:prstGeom prst="rect">
            <a:avLst/>
          </a:prstGeom>
          <a:noFill/>
          <a:ln/>
        </p:spPr>
        <p:txBody>
          <a:bodyPr wrap="square" lIns="0" tIns="0" rIns="0" bIns="0" rtlCol="0" anchor="t"/>
          <a:lstStyle/>
          <a:p>
            <a:pPr indent="0" marL="0">
              <a:buNone/>
            </a:pPr>
            <a:r>
              <a:rPr lang="en-US" sz="1400" dirty="0">
                <a:solidFill>
                  <a:schemeClr val="tx2"/>
                </a:solidFill>
              </a:rPr>
              <a:t>A coffee and a large transfer are treated alike, so the check is either too weak or too annoying.</a:t>
            </a:r>
            <a:endParaRPr lang="en-US" sz="1400" dirty="0"/>
          </a:p>
        </p:txBody>
      </p:sp>
      <p:sp>
        <p:nvSpPr>
          <p:cNvPr id="15" name="Shape 10"/>
          <p:cNvSpPr/>
          <p:nvPr/>
        </p:nvSpPr>
        <p:spPr>
          <a:xfrm>
            <a:off x="5577840" y="1188720"/>
            <a:ext cx="3017520" cy="3200400"/>
          </a:xfrm>
          <a:prstGeom prst="roundRect">
            <a:avLst>
              <a:gd name="adj" fmla="val 3030"/>
            </a:avLst>
          </a:prstGeom>
          <a:solidFill>
            <a:schemeClr val="tx2"/>
          </a:solidFill>
          <a:ln w="12700">
            <a:solidFill>
              <a:schemeClr val="tx2"/>
            </a:solidFill>
            <a:prstDash val="solid"/>
          </a:ln>
        </p:spPr>
      </p:sp>
      <p:sp>
        <p:nvSpPr>
          <p:cNvPr id="16" name="Text 11"/>
          <p:cNvSpPr txBox="1"/>
          <p:nvPr/>
        </p:nvSpPr>
        <p:spPr>
          <a:xfrm>
            <a:off x="5852160" y="1463040"/>
            <a:ext cx="246888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The question</a:t>
            </a:r>
            <a:endParaRPr lang="en-US" sz="1200" dirty="0"/>
          </a:p>
        </p:txBody>
      </p:sp>
      <p:sp>
        <p:nvSpPr>
          <p:cNvPr id="17" name="Text 12"/>
          <p:cNvSpPr txBox="1"/>
          <p:nvPr/>
        </p:nvSpPr>
        <p:spPr>
          <a:xfrm>
            <a:off x="5852160" y="1828800"/>
            <a:ext cx="2468880" cy="2286000"/>
          </a:xfrm>
          <a:prstGeom prst="rect">
            <a:avLst/>
          </a:prstGeom>
          <a:noFill/>
          <a:ln/>
        </p:spPr>
        <p:txBody>
          <a:bodyPr wrap="square" lIns="0" tIns="0" rIns="0" bIns="0" rtlCol="0" anchor="t"/>
          <a:lstStyle/>
          <a:p>
            <a:pPr indent="0" marL="0">
              <a:buNone/>
            </a:pPr>
            <a:r>
              <a:rPr lang="en-US" sz="2100" i="1" dirty="0">
                <a:solidFill>
                  <a:schemeClr val="bg1"/>
                </a:solidFill>
                <a:latin typeface="Cambria" pitchFamily="34" charset="0"/>
                <a:ea typeface="Cambria" pitchFamily="34" charset="-122"/>
                <a:cs typeface="Cambria" pitchFamily="34" charset="-120"/>
              </a:rPr>
              <a:t>How do we verify a person strongly, without making every small payment painful?</a:t>
            </a:r>
            <a:endParaRPr lang="en-US" sz="21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The idea: match the check to the risk</a:t>
            </a:r>
            <a:endParaRPr lang="en-US" sz="2800" dirty="0"/>
          </a:p>
        </p:txBody>
      </p:sp>
      <p:sp>
        <p:nvSpPr>
          <p:cNvPr id="3" name="Low bar"/>
          <p:cNvSpPr/>
          <p:nvPr/>
        </p:nvSpPr>
        <p:spPr>
          <a:xfrm>
            <a:off x="548640" y="2697480"/>
            <a:ext cx="1874520" cy="960120"/>
          </a:xfrm>
          <a:prstGeom prst="roundRect">
            <a:avLst>
              <a:gd name="adj" fmla="val 5714"/>
            </a:avLst>
          </a:prstGeom>
          <a:solidFill>
            <a:schemeClr val="accent3"/>
          </a:solidFill>
          <a:ln w="12700">
            <a:solidFill>
              <a:schemeClr val="accent3"/>
            </a:solidFill>
            <a:prstDash val="solid"/>
          </a:ln>
        </p:spPr>
      </p:sp>
      <p:sp>
        <p:nvSpPr>
          <p:cNvPr id="4" name="Text 2"/>
          <p:cNvSpPr txBox="1"/>
          <p:nvPr/>
        </p:nvSpPr>
        <p:spPr>
          <a:xfrm>
            <a:off x="685800" y="2807208"/>
            <a:ext cx="1645920" cy="3200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Low</a:t>
            </a:r>
            <a:endParaRPr lang="en-US" sz="1800" dirty="0"/>
          </a:p>
        </p:txBody>
      </p:sp>
      <p:sp>
        <p:nvSpPr>
          <p:cNvPr id="5" name="Text 3"/>
          <p:cNvSpPr txBox="1"/>
          <p:nvPr/>
        </p:nvSpPr>
        <p:spPr>
          <a:xfrm>
            <a:off x="685800" y="3154680"/>
            <a:ext cx="1645920" cy="640080"/>
          </a:xfrm>
          <a:prstGeom prst="rect">
            <a:avLst/>
          </a:prstGeom>
          <a:noFill/>
          <a:ln/>
        </p:spPr>
        <p:txBody>
          <a:bodyPr wrap="square" lIns="0" tIns="0" rIns="0" bIns="0" rtlCol="0" anchor="t"/>
          <a:lstStyle/>
          <a:p>
            <a:pPr indent="0" marL="0">
              <a:buNone/>
            </a:pPr>
            <a:r>
              <a:rPr lang="en-US" sz="1400" dirty="0">
                <a:solidFill>
                  <a:schemeClr val="bg1"/>
                </a:solidFill>
              </a:rPr>
              <a:t>One biometric is enough</a:t>
            </a:r>
            <a:endParaRPr lang="en-US" sz="1400" dirty="0"/>
          </a:p>
        </p:txBody>
      </p:sp>
      <p:sp>
        <p:nvSpPr>
          <p:cNvPr id="6" name="Medium bar"/>
          <p:cNvSpPr/>
          <p:nvPr/>
        </p:nvSpPr>
        <p:spPr>
          <a:xfrm>
            <a:off x="2606040" y="2194560"/>
            <a:ext cx="1874520" cy="1463040"/>
          </a:xfrm>
          <a:prstGeom prst="roundRect">
            <a:avLst>
              <a:gd name="adj" fmla="val 3750"/>
            </a:avLst>
          </a:prstGeom>
          <a:solidFill>
            <a:schemeClr val="accent1"/>
          </a:solidFill>
          <a:ln w="12700">
            <a:solidFill>
              <a:schemeClr val="accent1"/>
            </a:solidFill>
            <a:prstDash val="solid"/>
          </a:ln>
        </p:spPr>
      </p:sp>
      <p:sp>
        <p:nvSpPr>
          <p:cNvPr id="7" name="Text 5"/>
          <p:cNvSpPr txBox="1"/>
          <p:nvPr/>
        </p:nvSpPr>
        <p:spPr>
          <a:xfrm>
            <a:off x="2743200" y="2304288"/>
            <a:ext cx="1645920" cy="3200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Medium</a:t>
            </a:r>
            <a:endParaRPr lang="en-US" sz="1800" dirty="0"/>
          </a:p>
        </p:txBody>
      </p:sp>
      <p:sp>
        <p:nvSpPr>
          <p:cNvPr id="8" name="Text 6"/>
          <p:cNvSpPr txBox="1"/>
          <p:nvPr/>
        </p:nvSpPr>
        <p:spPr>
          <a:xfrm>
            <a:off x="2743200" y="2651760"/>
            <a:ext cx="1645920" cy="640080"/>
          </a:xfrm>
          <a:prstGeom prst="rect">
            <a:avLst/>
          </a:prstGeom>
          <a:noFill/>
          <a:ln/>
        </p:spPr>
        <p:txBody>
          <a:bodyPr wrap="square" lIns="0" tIns="0" rIns="0" bIns="0" rtlCol="0" anchor="t"/>
          <a:lstStyle/>
          <a:p>
            <a:pPr indent="0" marL="0">
              <a:buNone/>
            </a:pPr>
            <a:r>
              <a:rPr lang="en-US" sz="1400" dirty="0">
                <a:solidFill>
                  <a:schemeClr val="bg1"/>
                </a:solidFill>
              </a:rPr>
              <a:t>Two biometrics</a:t>
            </a:r>
            <a:endParaRPr lang="en-US" sz="1400" dirty="0"/>
          </a:p>
        </p:txBody>
      </p:sp>
      <p:sp>
        <p:nvSpPr>
          <p:cNvPr id="9" name="High bar"/>
          <p:cNvSpPr/>
          <p:nvPr/>
        </p:nvSpPr>
        <p:spPr>
          <a:xfrm>
            <a:off x="4663440" y="1691640"/>
            <a:ext cx="1874520" cy="1965960"/>
          </a:xfrm>
          <a:prstGeom prst="roundRect">
            <a:avLst>
              <a:gd name="adj" fmla="val 2927"/>
            </a:avLst>
          </a:prstGeom>
          <a:solidFill>
            <a:schemeClr val="accent2"/>
          </a:solidFill>
          <a:ln w="12700">
            <a:solidFill>
              <a:schemeClr val="accent2"/>
            </a:solidFill>
            <a:prstDash val="solid"/>
          </a:ln>
        </p:spPr>
      </p:sp>
      <p:sp>
        <p:nvSpPr>
          <p:cNvPr id="10" name="Text 8"/>
          <p:cNvSpPr txBox="1"/>
          <p:nvPr/>
        </p:nvSpPr>
        <p:spPr>
          <a:xfrm>
            <a:off x="4800600" y="1801368"/>
            <a:ext cx="1645920" cy="3200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High</a:t>
            </a:r>
            <a:endParaRPr lang="en-US" sz="1800" dirty="0"/>
          </a:p>
        </p:txBody>
      </p:sp>
      <p:sp>
        <p:nvSpPr>
          <p:cNvPr id="11" name="Text 9"/>
          <p:cNvSpPr txBox="1"/>
          <p:nvPr/>
        </p:nvSpPr>
        <p:spPr>
          <a:xfrm>
            <a:off x="4800600" y="2148840"/>
            <a:ext cx="1645920" cy="640080"/>
          </a:xfrm>
          <a:prstGeom prst="rect">
            <a:avLst/>
          </a:prstGeom>
          <a:noFill/>
          <a:ln/>
        </p:spPr>
        <p:txBody>
          <a:bodyPr wrap="square" lIns="0" tIns="0" rIns="0" bIns="0" rtlCol="0" anchor="t"/>
          <a:lstStyle/>
          <a:p>
            <a:pPr indent="0" marL="0">
              <a:buNone/>
            </a:pPr>
            <a:r>
              <a:rPr lang="en-US" sz="1400" dirty="0">
                <a:solidFill>
                  <a:schemeClr val="bg1"/>
                </a:solidFill>
              </a:rPr>
              <a:t>Face and voice, live</a:t>
            </a:r>
            <a:endParaRPr lang="en-US" sz="1400" dirty="0"/>
          </a:p>
        </p:txBody>
      </p:sp>
      <p:sp>
        <p:nvSpPr>
          <p:cNvPr id="12" name="Critical bar"/>
          <p:cNvSpPr/>
          <p:nvPr/>
        </p:nvSpPr>
        <p:spPr>
          <a:xfrm>
            <a:off x="6720840" y="1188720"/>
            <a:ext cx="1874520" cy="2468880"/>
          </a:xfrm>
          <a:prstGeom prst="roundRect">
            <a:avLst>
              <a:gd name="adj" fmla="val 2927"/>
            </a:avLst>
          </a:prstGeom>
          <a:solidFill>
            <a:schemeClr val="accent4"/>
          </a:solidFill>
          <a:ln w="12700">
            <a:solidFill>
              <a:schemeClr val="accent4"/>
            </a:solidFill>
            <a:prstDash val="solid"/>
          </a:ln>
        </p:spPr>
      </p:sp>
      <p:sp>
        <p:nvSpPr>
          <p:cNvPr id="13" name="Text 11"/>
          <p:cNvSpPr txBox="1"/>
          <p:nvPr/>
        </p:nvSpPr>
        <p:spPr>
          <a:xfrm>
            <a:off x="6858000" y="1298448"/>
            <a:ext cx="1645920" cy="3200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Critical</a:t>
            </a:r>
            <a:endParaRPr lang="en-US" sz="1800" dirty="0"/>
          </a:p>
        </p:txBody>
      </p:sp>
      <p:sp>
        <p:nvSpPr>
          <p:cNvPr id="14" name="Text 12"/>
          <p:cNvSpPr txBox="1"/>
          <p:nvPr/>
        </p:nvSpPr>
        <p:spPr>
          <a:xfrm>
            <a:off x="6858000" y="1645920"/>
            <a:ext cx="1645920" cy="640080"/>
          </a:xfrm>
          <a:prstGeom prst="rect">
            <a:avLst/>
          </a:prstGeom>
          <a:noFill/>
          <a:ln/>
        </p:spPr>
        <p:txBody>
          <a:bodyPr wrap="square" lIns="0" tIns="0" rIns="0" bIns="0" rtlCol="0" anchor="t"/>
          <a:lstStyle/>
          <a:p>
            <a:pPr indent="0" marL="0">
              <a:buNone/>
            </a:pPr>
            <a:r>
              <a:rPr lang="en-US" sz="1400" dirty="0">
                <a:solidFill>
                  <a:schemeClr val="bg1"/>
                </a:solidFill>
              </a:rPr>
              <a:t>Face and voice, live, higher bar</a:t>
            </a:r>
            <a:endParaRPr lang="en-US" sz="1400" dirty="0"/>
          </a:p>
        </p:txBody>
      </p:sp>
      <p:sp>
        <p:nvSpPr>
          <p:cNvPr id="15" name="Text 13"/>
          <p:cNvSpPr txBox="1"/>
          <p:nvPr/>
        </p:nvSpPr>
        <p:spPr>
          <a:xfrm>
            <a:off x="548640" y="3977640"/>
            <a:ext cx="2560320" cy="457200"/>
          </a:xfrm>
          <a:prstGeom prst="rect">
            <a:avLst/>
          </a:prstGeom>
          <a:noFill/>
          <a:ln/>
        </p:spPr>
        <p:txBody>
          <a:bodyPr wrap="square" lIns="0" tIns="0" rIns="0" bIns="0" rtlCol="0" anchor="ctr"/>
          <a:lstStyle/>
          <a:p>
            <a:pPr indent="0" marL="0">
              <a:buNone/>
            </a:pPr>
            <a:r>
              <a:rPr lang="en-US" sz="1400" b="1" dirty="0">
                <a:solidFill>
                  <a:schemeClr val="tx1"/>
                </a:solidFill>
              </a:rPr>
              <a:t>Small payments stay smooth</a:t>
            </a:r>
            <a:endParaRPr lang="en-US" sz="1400" dirty="0"/>
          </a:p>
        </p:txBody>
      </p:sp>
      <p:sp>
        <p:nvSpPr>
          <p:cNvPr id="16" name="Text 14"/>
          <p:cNvSpPr txBox="1"/>
          <p:nvPr/>
        </p:nvSpPr>
        <p:spPr>
          <a:xfrm>
            <a:off x="3291840" y="3977640"/>
            <a:ext cx="2560320" cy="457200"/>
          </a:xfrm>
          <a:prstGeom prst="rect">
            <a:avLst/>
          </a:prstGeom>
          <a:noFill/>
          <a:ln/>
        </p:spPr>
        <p:txBody>
          <a:bodyPr wrap="square" lIns="0" tIns="0" rIns="0" bIns="0" rtlCol="0" anchor="ctr"/>
          <a:lstStyle/>
          <a:p>
            <a:pPr indent="0" marL="0">
              <a:buNone/>
            </a:pPr>
            <a:r>
              <a:rPr lang="en-US" sz="1400" b="1" dirty="0">
                <a:solidFill>
                  <a:schemeClr val="tx1"/>
                </a:solidFill>
              </a:rPr>
              <a:t>Large payments get more proof</a:t>
            </a:r>
            <a:endParaRPr lang="en-US" sz="1400" dirty="0"/>
          </a:p>
        </p:txBody>
      </p:sp>
      <p:sp>
        <p:nvSpPr>
          <p:cNvPr id="17" name="Text 15"/>
          <p:cNvSpPr txBox="1"/>
          <p:nvPr/>
        </p:nvSpPr>
        <p:spPr>
          <a:xfrm>
            <a:off x="6035040" y="3977640"/>
            <a:ext cx="2560320" cy="457200"/>
          </a:xfrm>
          <a:prstGeom prst="rect">
            <a:avLst/>
          </a:prstGeom>
          <a:noFill/>
          <a:ln/>
        </p:spPr>
        <p:txBody>
          <a:bodyPr wrap="square" lIns="0" tIns="0" rIns="0" bIns="0" rtlCol="0" anchor="ctr"/>
          <a:lstStyle/>
          <a:p>
            <a:pPr indent="0" marL="0">
              <a:buNone/>
            </a:pPr>
            <a:r>
              <a:rPr lang="en-US" sz="1400" b="1" dirty="0">
                <a:solidFill>
                  <a:schemeClr val="tx1"/>
                </a:solidFill>
              </a:rPr>
              <a:t>Missing evidence is never a match</a:t>
            </a:r>
            <a:endParaRPr lang="en-US" sz="1400" dirty="0"/>
          </a:p>
        </p:txBody>
      </p:sp>
      <p:sp>
        <p:nvSpPr>
          <p:cNvPr id="18" name="Text 16"/>
          <p:cNvSpPr txBox="1"/>
          <p:nvPr/>
        </p:nvSpPr>
        <p:spPr>
          <a:xfrm>
            <a:off x="548640" y="1188720"/>
            <a:ext cx="3291840" cy="320040"/>
          </a:xfrm>
          <a:prstGeom prst="rect">
            <a:avLst/>
          </a:prstGeom>
          <a:noFill/>
          <a:ln/>
        </p:spPr>
        <p:txBody>
          <a:bodyPr wrap="square" lIns="0" tIns="0" rIns="0" bIns="0" rtlCol="0" anchor="ctr"/>
          <a:lstStyle/>
          <a:p>
            <a:pPr indent="0" marL="0">
              <a:buNone/>
            </a:pPr>
            <a:r>
              <a:rPr lang="en-US" sz="1800" i="1" dirty="0">
                <a:solidFill>
                  <a:schemeClr val="tx2"/>
                </a:solidFill>
                <a:latin typeface="Cambria" pitchFamily="34" charset="0"/>
                <a:ea typeface="Cambria" pitchFamily="34" charset="-122"/>
                <a:cs typeface="Cambria" pitchFamily="34" charset="-120"/>
              </a:rPr>
              <a:t>More risk, more evidence</a:t>
            </a:r>
            <a:endParaRPr lang="en-US" sz="18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TriLock in one view</a:t>
            </a:r>
            <a:endParaRPr lang="en-US" sz="2800" dirty="0"/>
          </a:p>
        </p:txBody>
      </p:sp>
      <p:sp>
        <p:nvSpPr>
          <p:cNvPr id="3" name="Shape 1"/>
          <p:cNvSpPr/>
          <p:nvPr/>
        </p:nvSpPr>
        <p:spPr>
          <a:xfrm>
            <a:off x="548640" y="1234440"/>
            <a:ext cx="1444752" cy="1600200"/>
          </a:xfrm>
          <a:prstGeom prst="roundRect">
            <a:avLst>
              <a:gd name="adj" fmla="val 506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 name="Sign in circle"/>
          <p:cNvSpPr/>
          <p:nvPr/>
        </p:nvSpPr>
        <p:spPr>
          <a:xfrm>
            <a:off x="1024128" y="1371600"/>
            <a:ext cx="493776" cy="493776"/>
          </a:xfrm>
          <a:prstGeom prst="ellipse">
            <a:avLst/>
          </a:prstGeom>
          <a:solidFill>
            <a:schemeClr val="accent1">
              <a:alpha val="14000"/>
            </a:schemeClr>
          </a:solidFill>
          <a:ln w="12700">
            <a:solidFill>
              <a:schemeClr val="accent1">
                <a:alpha val="0"/>
              </a:schemeClr>
            </a:solidFill>
            <a:prstDash val="solid"/>
          </a:ln>
        </p:spPr>
      </p:sp>
      <p:pic>
        <p:nvPicPr>
          <p:cNvPr id="5" name="Sign in" descr="Sign in">    </p:cNvPr>
          <p:cNvPicPr>
            <a:picLocks noChangeAspect="1"/>
          </p:cNvPicPr>
          <p:nvPr/>
        </p:nvPicPr>
        <p:blipFill>
          <a:blip r:embed="rId1"/>
          <a:stretch>
            <a:fillRect/>
          </a:stretch>
        </p:blipFill>
        <p:spPr>
          <a:xfrm>
            <a:off x="1152510" y="1499982"/>
            <a:ext cx="237012" cy="237012"/>
          </a:xfrm>
          <a:prstGeom prst="rect">
            <a:avLst/>
          </a:prstGeom>
        </p:spPr>
      </p:pic>
      <p:sp>
        <p:nvSpPr>
          <p:cNvPr id="6" name="Text 3"/>
          <p:cNvSpPr txBox="1"/>
          <p:nvPr/>
        </p:nvSpPr>
        <p:spPr>
          <a:xfrm>
            <a:off x="621792" y="1920240"/>
            <a:ext cx="1298448" cy="274320"/>
          </a:xfrm>
          <a:prstGeom prst="rect">
            <a:avLst/>
          </a:prstGeom>
          <a:noFill/>
          <a:ln/>
        </p:spPr>
        <p:txBody>
          <a:bodyPr wrap="square" lIns="0" tIns="0" rIns="0" bIns="0" rtlCol="0" anchor="ctr"/>
          <a:lstStyle/>
          <a:p>
            <a:pPr algn="ctr" indent="0" marL="0">
              <a:buNone/>
            </a:pPr>
            <a:r>
              <a:rPr lang="en-US" sz="1500" b="1" dirty="0">
                <a:solidFill>
                  <a:schemeClr val="tx1"/>
                </a:solidFill>
              </a:rPr>
              <a:t>Sign in</a:t>
            </a:r>
            <a:endParaRPr lang="en-US" sz="1500" dirty="0"/>
          </a:p>
        </p:txBody>
      </p:sp>
      <p:sp>
        <p:nvSpPr>
          <p:cNvPr id="7" name="Text 4"/>
          <p:cNvSpPr txBox="1"/>
          <p:nvPr/>
        </p:nvSpPr>
        <p:spPr>
          <a:xfrm>
            <a:off x="640080" y="2212848"/>
            <a:ext cx="1261872" cy="566928"/>
          </a:xfrm>
          <a:prstGeom prst="rect">
            <a:avLst/>
          </a:prstGeom>
          <a:noFill/>
          <a:ln/>
        </p:spPr>
        <p:txBody>
          <a:bodyPr wrap="square" lIns="0" tIns="0" rIns="0" bIns="0" rtlCol="0" anchor="t"/>
          <a:lstStyle/>
          <a:p>
            <a:pPr algn="ctr" indent="0" marL="0">
              <a:buNone/>
            </a:pPr>
            <a:r>
              <a:rPr lang="en-US" sz="1200" dirty="0">
                <a:solidFill>
                  <a:schemeClr val="tx2"/>
                </a:solidFill>
              </a:rPr>
              <a:t>Password, then live face and voice</a:t>
            </a:r>
            <a:endParaRPr lang="en-US" sz="1200" dirty="0"/>
          </a:p>
        </p:txBody>
      </p:sp>
      <p:sp>
        <p:nvSpPr>
          <p:cNvPr id="8" name="Shape 5"/>
          <p:cNvSpPr/>
          <p:nvPr/>
        </p:nvSpPr>
        <p:spPr>
          <a:xfrm>
            <a:off x="2020824" y="2011680"/>
            <a:ext cx="150876" cy="0"/>
          </a:xfrm>
          <a:prstGeom prst="line">
            <a:avLst/>
          </a:prstGeom>
          <a:noFill/>
          <a:ln w="19050">
            <a:solidFill>
              <a:schemeClr val="accent5"/>
            </a:solidFill>
            <a:prstDash val="solid"/>
            <a:tailEnd type="triangle"/>
          </a:ln>
        </p:spPr>
      </p:sp>
      <p:sp>
        <p:nvSpPr>
          <p:cNvPr id="9" name="Shape 6"/>
          <p:cNvSpPr/>
          <p:nvPr/>
        </p:nvSpPr>
        <p:spPr>
          <a:xfrm>
            <a:off x="2199132" y="1234440"/>
            <a:ext cx="1444752" cy="1600200"/>
          </a:xfrm>
          <a:prstGeom prst="roundRect">
            <a:avLst>
              <a:gd name="adj" fmla="val 506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0" name="Payment circle"/>
          <p:cNvSpPr/>
          <p:nvPr/>
        </p:nvSpPr>
        <p:spPr>
          <a:xfrm>
            <a:off x="2674620" y="1371600"/>
            <a:ext cx="493776" cy="493776"/>
          </a:xfrm>
          <a:prstGeom prst="ellipse">
            <a:avLst/>
          </a:prstGeom>
          <a:solidFill>
            <a:schemeClr val="accent1">
              <a:alpha val="14000"/>
            </a:schemeClr>
          </a:solidFill>
          <a:ln w="12700">
            <a:solidFill>
              <a:schemeClr val="accent1">
                <a:alpha val="0"/>
              </a:schemeClr>
            </a:solidFill>
            <a:prstDash val="solid"/>
          </a:ln>
        </p:spPr>
      </p:sp>
      <p:pic>
        <p:nvPicPr>
          <p:cNvPr id="11" name="Payment" descr="Payment">    </p:cNvPr>
          <p:cNvPicPr>
            <a:picLocks noChangeAspect="1"/>
          </p:cNvPicPr>
          <p:nvPr/>
        </p:nvPicPr>
        <p:blipFill>
          <a:blip r:embed="rId2"/>
          <a:stretch>
            <a:fillRect/>
          </a:stretch>
        </p:blipFill>
        <p:spPr>
          <a:xfrm>
            <a:off x="2803002" y="1499982"/>
            <a:ext cx="237012" cy="237012"/>
          </a:xfrm>
          <a:prstGeom prst="rect">
            <a:avLst/>
          </a:prstGeom>
        </p:spPr>
      </p:pic>
      <p:sp>
        <p:nvSpPr>
          <p:cNvPr id="12" name="Text 8"/>
          <p:cNvSpPr txBox="1"/>
          <p:nvPr/>
        </p:nvSpPr>
        <p:spPr>
          <a:xfrm>
            <a:off x="2272284" y="1920240"/>
            <a:ext cx="1298448" cy="274320"/>
          </a:xfrm>
          <a:prstGeom prst="rect">
            <a:avLst/>
          </a:prstGeom>
          <a:noFill/>
          <a:ln/>
        </p:spPr>
        <p:txBody>
          <a:bodyPr wrap="square" lIns="0" tIns="0" rIns="0" bIns="0" rtlCol="0" anchor="ctr"/>
          <a:lstStyle/>
          <a:p>
            <a:pPr algn="ctr" indent="0" marL="0">
              <a:buNone/>
            </a:pPr>
            <a:r>
              <a:rPr lang="en-US" sz="1500" b="1" dirty="0">
                <a:solidFill>
                  <a:schemeClr val="tx1"/>
                </a:solidFill>
              </a:rPr>
              <a:t>Payment</a:t>
            </a:r>
            <a:endParaRPr lang="en-US" sz="1500" dirty="0"/>
          </a:p>
        </p:txBody>
      </p:sp>
      <p:sp>
        <p:nvSpPr>
          <p:cNvPr id="13" name="Text 9"/>
          <p:cNvSpPr txBox="1"/>
          <p:nvPr/>
        </p:nvSpPr>
        <p:spPr>
          <a:xfrm>
            <a:off x="2290572" y="2212848"/>
            <a:ext cx="1261872" cy="566928"/>
          </a:xfrm>
          <a:prstGeom prst="rect">
            <a:avLst/>
          </a:prstGeom>
          <a:noFill/>
          <a:ln/>
        </p:spPr>
        <p:txBody>
          <a:bodyPr wrap="square" lIns="0" tIns="0" rIns="0" bIns="0" rtlCol="0" anchor="t"/>
          <a:lstStyle/>
          <a:p>
            <a:pPr algn="ctr" indent="0" marL="0">
              <a:buNone/>
            </a:pPr>
            <a:r>
              <a:rPr lang="en-US" sz="1200" dirty="0">
                <a:solidFill>
                  <a:schemeClr val="tx2"/>
                </a:solidFill>
              </a:rPr>
              <a:t>Amount, recipient, device</a:t>
            </a:r>
            <a:endParaRPr lang="en-US" sz="1200" dirty="0"/>
          </a:p>
        </p:txBody>
      </p:sp>
      <p:sp>
        <p:nvSpPr>
          <p:cNvPr id="14" name="Shape 10"/>
          <p:cNvSpPr/>
          <p:nvPr/>
        </p:nvSpPr>
        <p:spPr>
          <a:xfrm>
            <a:off x="3671316" y="2011680"/>
            <a:ext cx="150876" cy="0"/>
          </a:xfrm>
          <a:prstGeom prst="line">
            <a:avLst/>
          </a:prstGeom>
          <a:noFill/>
          <a:ln w="19050">
            <a:solidFill>
              <a:schemeClr val="accent5"/>
            </a:solidFill>
            <a:prstDash val="solid"/>
            <a:tailEnd type="triangle"/>
          </a:ln>
        </p:spPr>
      </p:sp>
      <p:sp>
        <p:nvSpPr>
          <p:cNvPr id="15" name="Shape 11"/>
          <p:cNvSpPr/>
          <p:nvPr/>
        </p:nvSpPr>
        <p:spPr>
          <a:xfrm>
            <a:off x="3849624" y="1234440"/>
            <a:ext cx="1444752" cy="1600200"/>
          </a:xfrm>
          <a:prstGeom prst="roundRect">
            <a:avLst>
              <a:gd name="adj" fmla="val 506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6" name="Risk score circle"/>
          <p:cNvSpPr/>
          <p:nvPr/>
        </p:nvSpPr>
        <p:spPr>
          <a:xfrm>
            <a:off x="4325112" y="1371600"/>
            <a:ext cx="493776" cy="493776"/>
          </a:xfrm>
          <a:prstGeom prst="ellipse">
            <a:avLst/>
          </a:prstGeom>
          <a:solidFill>
            <a:schemeClr val="accent1">
              <a:alpha val="14000"/>
            </a:schemeClr>
          </a:solidFill>
          <a:ln w="12700">
            <a:solidFill>
              <a:schemeClr val="accent1">
                <a:alpha val="0"/>
              </a:schemeClr>
            </a:solidFill>
            <a:prstDash val="solid"/>
          </a:ln>
        </p:spPr>
      </p:sp>
      <p:pic>
        <p:nvPicPr>
          <p:cNvPr id="17" name="Risk score" descr="Risk score">    </p:cNvPr>
          <p:cNvPicPr>
            <a:picLocks noChangeAspect="1"/>
          </p:cNvPicPr>
          <p:nvPr/>
        </p:nvPicPr>
        <p:blipFill>
          <a:blip r:embed="rId3"/>
          <a:stretch>
            <a:fillRect/>
          </a:stretch>
        </p:blipFill>
        <p:spPr>
          <a:xfrm>
            <a:off x="4453494" y="1499982"/>
            <a:ext cx="237012" cy="237012"/>
          </a:xfrm>
          <a:prstGeom prst="rect">
            <a:avLst/>
          </a:prstGeom>
        </p:spPr>
      </p:pic>
      <p:sp>
        <p:nvSpPr>
          <p:cNvPr id="18" name="Text 13"/>
          <p:cNvSpPr txBox="1"/>
          <p:nvPr/>
        </p:nvSpPr>
        <p:spPr>
          <a:xfrm>
            <a:off x="3922776" y="1920240"/>
            <a:ext cx="1298448" cy="274320"/>
          </a:xfrm>
          <a:prstGeom prst="rect">
            <a:avLst/>
          </a:prstGeom>
          <a:noFill/>
          <a:ln/>
        </p:spPr>
        <p:txBody>
          <a:bodyPr wrap="square" lIns="0" tIns="0" rIns="0" bIns="0" rtlCol="0" anchor="ctr"/>
          <a:lstStyle/>
          <a:p>
            <a:pPr algn="ctr" indent="0" marL="0">
              <a:buNone/>
            </a:pPr>
            <a:r>
              <a:rPr lang="en-US" sz="1500" b="1" dirty="0">
                <a:solidFill>
                  <a:schemeClr val="tx1"/>
                </a:solidFill>
              </a:rPr>
              <a:t>Risk score</a:t>
            </a:r>
            <a:endParaRPr lang="en-US" sz="1500" dirty="0"/>
          </a:p>
        </p:txBody>
      </p:sp>
      <p:sp>
        <p:nvSpPr>
          <p:cNvPr id="19" name="Text 14"/>
          <p:cNvSpPr txBox="1"/>
          <p:nvPr/>
        </p:nvSpPr>
        <p:spPr>
          <a:xfrm>
            <a:off x="3941064" y="2212848"/>
            <a:ext cx="1261872" cy="566928"/>
          </a:xfrm>
          <a:prstGeom prst="rect">
            <a:avLst/>
          </a:prstGeom>
          <a:noFill/>
          <a:ln/>
        </p:spPr>
        <p:txBody>
          <a:bodyPr wrap="square" lIns="0" tIns="0" rIns="0" bIns="0" rtlCol="0" anchor="t"/>
          <a:lstStyle/>
          <a:p>
            <a:pPr algn="ctr" indent="0" marL="0">
              <a:buNone/>
            </a:pPr>
            <a:r>
              <a:rPr lang="en-US" sz="1200" dirty="0">
                <a:solidFill>
                  <a:schemeClr val="tx2"/>
                </a:solidFill>
              </a:rPr>
              <a:t>0 to 100, rule based</a:t>
            </a:r>
            <a:endParaRPr lang="en-US" sz="1200" dirty="0"/>
          </a:p>
        </p:txBody>
      </p:sp>
      <p:sp>
        <p:nvSpPr>
          <p:cNvPr id="20" name="Shape 15"/>
          <p:cNvSpPr/>
          <p:nvPr/>
        </p:nvSpPr>
        <p:spPr>
          <a:xfrm>
            <a:off x="5321808" y="2011680"/>
            <a:ext cx="150876" cy="0"/>
          </a:xfrm>
          <a:prstGeom prst="line">
            <a:avLst/>
          </a:prstGeom>
          <a:noFill/>
          <a:ln w="19050">
            <a:solidFill>
              <a:schemeClr val="accent5"/>
            </a:solidFill>
            <a:prstDash val="solid"/>
            <a:tailEnd type="triangle"/>
          </a:ln>
        </p:spPr>
      </p:sp>
      <p:sp>
        <p:nvSpPr>
          <p:cNvPr id="21" name="Shape 16"/>
          <p:cNvSpPr/>
          <p:nvPr/>
        </p:nvSpPr>
        <p:spPr>
          <a:xfrm>
            <a:off x="5500116" y="1234440"/>
            <a:ext cx="1444752" cy="1600200"/>
          </a:xfrm>
          <a:prstGeom prst="roundRect">
            <a:avLst>
              <a:gd name="adj" fmla="val 506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2" name="Evidence circle"/>
          <p:cNvSpPr/>
          <p:nvPr/>
        </p:nvSpPr>
        <p:spPr>
          <a:xfrm>
            <a:off x="5975604" y="1371600"/>
            <a:ext cx="493776" cy="493776"/>
          </a:xfrm>
          <a:prstGeom prst="ellipse">
            <a:avLst/>
          </a:prstGeom>
          <a:solidFill>
            <a:schemeClr val="accent1">
              <a:alpha val="14000"/>
            </a:schemeClr>
          </a:solidFill>
          <a:ln w="12700">
            <a:solidFill>
              <a:schemeClr val="accent1">
                <a:alpha val="0"/>
              </a:schemeClr>
            </a:solidFill>
            <a:prstDash val="solid"/>
          </a:ln>
        </p:spPr>
      </p:sp>
      <p:pic>
        <p:nvPicPr>
          <p:cNvPr id="23" name="Evidence" descr="Evidence">    </p:cNvPr>
          <p:cNvPicPr>
            <a:picLocks noChangeAspect="1"/>
          </p:cNvPicPr>
          <p:nvPr/>
        </p:nvPicPr>
        <p:blipFill>
          <a:blip r:embed="rId4"/>
          <a:stretch>
            <a:fillRect/>
          </a:stretch>
        </p:blipFill>
        <p:spPr>
          <a:xfrm>
            <a:off x="6103986" y="1499982"/>
            <a:ext cx="237012" cy="237012"/>
          </a:xfrm>
          <a:prstGeom prst="rect">
            <a:avLst/>
          </a:prstGeom>
        </p:spPr>
      </p:pic>
      <p:sp>
        <p:nvSpPr>
          <p:cNvPr id="24" name="Text 18"/>
          <p:cNvSpPr txBox="1"/>
          <p:nvPr/>
        </p:nvSpPr>
        <p:spPr>
          <a:xfrm>
            <a:off x="5573268" y="1920240"/>
            <a:ext cx="1298448" cy="274320"/>
          </a:xfrm>
          <a:prstGeom prst="rect">
            <a:avLst/>
          </a:prstGeom>
          <a:noFill/>
          <a:ln/>
        </p:spPr>
        <p:txBody>
          <a:bodyPr wrap="square" lIns="0" tIns="0" rIns="0" bIns="0" rtlCol="0" anchor="ctr"/>
          <a:lstStyle/>
          <a:p>
            <a:pPr algn="ctr" indent="0" marL="0">
              <a:buNone/>
            </a:pPr>
            <a:r>
              <a:rPr lang="en-US" sz="1500" b="1" dirty="0">
                <a:solidFill>
                  <a:schemeClr val="tx1"/>
                </a:solidFill>
              </a:rPr>
              <a:t>Evidence</a:t>
            </a:r>
            <a:endParaRPr lang="en-US" sz="1500" dirty="0"/>
          </a:p>
        </p:txBody>
      </p:sp>
      <p:sp>
        <p:nvSpPr>
          <p:cNvPr id="25" name="Text 19"/>
          <p:cNvSpPr txBox="1"/>
          <p:nvPr/>
        </p:nvSpPr>
        <p:spPr>
          <a:xfrm>
            <a:off x="5591556" y="2212848"/>
            <a:ext cx="1261872" cy="566928"/>
          </a:xfrm>
          <a:prstGeom prst="rect">
            <a:avLst/>
          </a:prstGeom>
          <a:noFill/>
          <a:ln/>
        </p:spPr>
        <p:txBody>
          <a:bodyPr wrap="square" lIns="0" tIns="0" rIns="0" bIns="0" rtlCol="0" anchor="t"/>
          <a:lstStyle/>
          <a:p>
            <a:pPr algn="ctr" indent="0" marL="0">
              <a:buNone/>
            </a:pPr>
            <a:r>
              <a:rPr lang="en-US" sz="1200" dirty="0">
                <a:solidFill>
                  <a:schemeClr val="tx2"/>
                </a:solidFill>
              </a:rPr>
              <a:t>Face, voice, fingerprint</a:t>
            </a:r>
            <a:endParaRPr lang="en-US" sz="1200" dirty="0"/>
          </a:p>
        </p:txBody>
      </p:sp>
      <p:sp>
        <p:nvSpPr>
          <p:cNvPr id="26" name="Shape 20"/>
          <p:cNvSpPr/>
          <p:nvPr/>
        </p:nvSpPr>
        <p:spPr>
          <a:xfrm>
            <a:off x="6972300" y="2011680"/>
            <a:ext cx="150876" cy="0"/>
          </a:xfrm>
          <a:prstGeom prst="line">
            <a:avLst/>
          </a:prstGeom>
          <a:noFill/>
          <a:ln w="19050">
            <a:solidFill>
              <a:schemeClr val="accent5"/>
            </a:solidFill>
            <a:prstDash val="solid"/>
            <a:tailEnd type="triangle"/>
          </a:ln>
        </p:spPr>
      </p:sp>
      <p:sp>
        <p:nvSpPr>
          <p:cNvPr id="27" name="Shape 21"/>
          <p:cNvSpPr/>
          <p:nvPr/>
        </p:nvSpPr>
        <p:spPr>
          <a:xfrm>
            <a:off x="7150608" y="1234440"/>
            <a:ext cx="1444752" cy="1600200"/>
          </a:xfrm>
          <a:prstGeom prst="roundRect">
            <a:avLst>
              <a:gd name="adj" fmla="val 506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8" name="Decision circle"/>
          <p:cNvSpPr/>
          <p:nvPr/>
        </p:nvSpPr>
        <p:spPr>
          <a:xfrm>
            <a:off x="7626096" y="1371600"/>
            <a:ext cx="493776" cy="493776"/>
          </a:xfrm>
          <a:prstGeom prst="ellipse">
            <a:avLst/>
          </a:prstGeom>
          <a:solidFill>
            <a:schemeClr val="accent1">
              <a:alpha val="14000"/>
            </a:schemeClr>
          </a:solidFill>
          <a:ln w="12700">
            <a:solidFill>
              <a:schemeClr val="accent1">
                <a:alpha val="0"/>
              </a:schemeClr>
            </a:solidFill>
            <a:prstDash val="solid"/>
          </a:ln>
        </p:spPr>
      </p:sp>
      <p:pic>
        <p:nvPicPr>
          <p:cNvPr id="29" name="Decision" descr="Decision">    </p:cNvPr>
          <p:cNvPicPr>
            <a:picLocks noChangeAspect="1"/>
          </p:cNvPicPr>
          <p:nvPr/>
        </p:nvPicPr>
        <p:blipFill>
          <a:blip r:embed="rId5"/>
          <a:stretch>
            <a:fillRect/>
          </a:stretch>
        </p:blipFill>
        <p:spPr>
          <a:xfrm>
            <a:off x="7754478" y="1499982"/>
            <a:ext cx="237012" cy="237012"/>
          </a:xfrm>
          <a:prstGeom prst="rect">
            <a:avLst/>
          </a:prstGeom>
        </p:spPr>
      </p:pic>
      <p:sp>
        <p:nvSpPr>
          <p:cNvPr id="30" name="Text 23"/>
          <p:cNvSpPr txBox="1"/>
          <p:nvPr/>
        </p:nvSpPr>
        <p:spPr>
          <a:xfrm>
            <a:off x="7223760" y="1920240"/>
            <a:ext cx="1298448" cy="274320"/>
          </a:xfrm>
          <a:prstGeom prst="rect">
            <a:avLst/>
          </a:prstGeom>
          <a:noFill/>
          <a:ln/>
        </p:spPr>
        <p:txBody>
          <a:bodyPr wrap="square" lIns="0" tIns="0" rIns="0" bIns="0" rtlCol="0" anchor="ctr"/>
          <a:lstStyle/>
          <a:p>
            <a:pPr algn="ctr" indent="0" marL="0">
              <a:buNone/>
            </a:pPr>
            <a:r>
              <a:rPr lang="en-US" sz="1500" b="1" dirty="0">
                <a:solidFill>
                  <a:schemeClr val="tx1"/>
                </a:solidFill>
              </a:rPr>
              <a:t>Decision</a:t>
            </a:r>
            <a:endParaRPr lang="en-US" sz="1500" dirty="0"/>
          </a:p>
        </p:txBody>
      </p:sp>
      <p:sp>
        <p:nvSpPr>
          <p:cNvPr id="31" name="Text 24"/>
          <p:cNvSpPr txBox="1"/>
          <p:nvPr/>
        </p:nvSpPr>
        <p:spPr>
          <a:xfrm>
            <a:off x="7242048" y="2212848"/>
            <a:ext cx="1261872" cy="566928"/>
          </a:xfrm>
          <a:prstGeom prst="rect">
            <a:avLst/>
          </a:prstGeom>
          <a:noFill/>
          <a:ln/>
        </p:spPr>
        <p:txBody>
          <a:bodyPr wrap="square" lIns="0" tIns="0" rIns="0" bIns="0" rtlCol="0" anchor="t"/>
          <a:lstStyle/>
          <a:p>
            <a:pPr algn="ctr" indent="0" marL="0">
              <a:buNone/>
            </a:pPr>
            <a:r>
              <a:rPr lang="en-US" sz="1200" dirty="0">
                <a:solidFill>
                  <a:schemeClr val="tx2"/>
                </a:solidFill>
              </a:rPr>
              <a:t>Approve, reject or ask for more</a:t>
            </a:r>
            <a:endParaRPr lang="en-US" sz="1200" dirty="0"/>
          </a:p>
        </p:txBody>
      </p:sp>
      <p:sp>
        <p:nvSpPr>
          <p:cNvPr id="32" name="Text 25"/>
          <p:cNvSpPr txBox="1"/>
          <p:nvPr/>
        </p:nvSpPr>
        <p:spPr>
          <a:xfrm>
            <a:off x="548640" y="3246120"/>
            <a:ext cx="2560320" cy="274320"/>
          </a:xfrm>
          <a:prstGeom prst="rect">
            <a:avLst/>
          </a:prstGeom>
          <a:noFill/>
          <a:ln/>
        </p:spPr>
        <p:txBody>
          <a:bodyPr wrap="square" lIns="0" tIns="0" rIns="0" bIns="0" rtlCol="0" anchor="ctr"/>
          <a:lstStyle/>
          <a:p>
            <a:pPr indent="0" marL="0">
              <a:buNone/>
            </a:pPr>
            <a:r>
              <a:rPr lang="en-US" sz="1600" b="1" dirty="0">
                <a:solidFill>
                  <a:schemeClr val="accent1"/>
                </a:solidFill>
              </a:rPr>
              <a:t>Multimodal</a:t>
            </a:r>
            <a:endParaRPr lang="en-US" sz="1600" dirty="0"/>
          </a:p>
        </p:txBody>
      </p:sp>
      <p:sp>
        <p:nvSpPr>
          <p:cNvPr id="33" name="Text 26"/>
          <p:cNvSpPr txBox="1"/>
          <p:nvPr/>
        </p:nvSpPr>
        <p:spPr>
          <a:xfrm>
            <a:off x="548640" y="3566160"/>
            <a:ext cx="2514600" cy="822960"/>
          </a:xfrm>
          <a:prstGeom prst="rect">
            <a:avLst/>
          </a:prstGeom>
          <a:noFill/>
          <a:ln/>
        </p:spPr>
        <p:txBody>
          <a:bodyPr wrap="square" lIns="0" tIns="0" rIns="0" bIns="0" rtlCol="0" anchor="t"/>
          <a:lstStyle/>
          <a:p>
            <a:pPr indent="0" marL="0">
              <a:buNone/>
            </a:pPr>
            <a:r>
              <a:rPr lang="en-US" sz="1400" dirty="0">
                <a:solidFill>
                  <a:schemeClr val="tx2"/>
                </a:solidFill>
              </a:rPr>
              <a:t>Three traits that fail in different ways, so they cover each other.</a:t>
            </a:r>
            <a:endParaRPr lang="en-US" sz="1400" dirty="0"/>
          </a:p>
        </p:txBody>
      </p:sp>
      <p:sp>
        <p:nvSpPr>
          <p:cNvPr id="34" name="Text 27"/>
          <p:cNvSpPr txBox="1"/>
          <p:nvPr/>
        </p:nvSpPr>
        <p:spPr>
          <a:xfrm>
            <a:off x="3291840" y="3246120"/>
            <a:ext cx="2560320" cy="274320"/>
          </a:xfrm>
          <a:prstGeom prst="rect">
            <a:avLst/>
          </a:prstGeom>
          <a:noFill/>
          <a:ln/>
        </p:spPr>
        <p:txBody>
          <a:bodyPr wrap="square" lIns="0" tIns="0" rIns="0" bIns="0" rtlCol="0" anchor="ctr"/>
          <a:lstStyle/>
          <a:p>
            <a:pPr indent="0" marL="0">
              <a:buNone/>
            </a:pPr>
            <a:r>
              <a:rPr lang="en-US" sz="1600" b="1" dirty="0">
                <a:solidFill>
                  <a:schemeClr val="accent1"/>
                </a:solidFill>
              </a:rPr>
              <a:t>Risk-adaptive</a:t>
            </a:r>
            <a:endParaRPr lang="en-US" sz="1600" dirty="0"/>
          </a:p>
        </p:txBody>
      </p:sp>
      <p:sp>
        <p:nvSpPr>
          <p:cNvPr id="35" name="Text 28"/>
          <p:cNvSpPr txBox="1"/>
          <p:nvPr/>
        </p:nvSpPr>
        <p:spPr>
          <a:xfrm>
            <a:off x="3291840" y="3566160"/>
            <a:ext cx="2514600" cy="822960"/>
          </a:xfrm>
          <a:prstGeom prst="rect">
            <a:avLst/>
          </a:prstGeom>
          <a:noFill/>
          <a:ln/>
        </p:spPr>
        <p:txBody>
          <a:bodyPr wrap="square" lIns="0" tIns="0" rIns="0" bIns="0" rtlCol="0" anchor="t"/>
          <a:lstStyle/>
          <a:p>
            <a:pPr indent="0" marL="0">
              <a:buNone/>
            </a:pPr>
            <a:r>
              <a:rPr lang="en-US" sz="1400" dirty="0">
                <a:solidFill>
                  <a:schemeClr val="tx2"/>
                </a:solidFill>
              </a:rPr>
              <a:t>The bar rises with the risk of the payment.</a:t>
            </a:r>
            <a:endParaRPr lang="en-US" sz="1400" dirty="0"/>
          </a:p>
        </p:txBody>
      </p:sp>
      <p:sp>
        <p:nvSpPr>
          <p:cNvPr id="36" name="Text 29"/>
          <p:cNvSpPr txBox="1"/>
          <p:nvPr/>
        </p:nvSpPr>
        <p:spPr>
          <a:xfrm>
            <a:off x="6035040" y="3246120"/>
            <a:ext cx="2560320" cy="274320"/>
          </a:xfrm>
          <a:prstGeom prst="rect">
            <a:avLst/>
          </a:prstGeom>
          <a:noFill/>
          <a:ln/>
        </p:spPr>
        <p:txBody>
          <a:bodyPr wrap="square" lIns="0" tIns="0" rIns="0" bIns="0" rtlCol="0" anchor="ctr"/>
          <a:lstStyle/>
          <a:p>
            <a:pPr indent="0" marL="0">
              <a:buNone/>
            </a:pPr>
            <a:r>
              <a:rPr lang="en-US" sz="1600" b="1" dirty="0">
                <a:solidFill>
                  <a:schemeClr val="accent1"/>
                </a:solidFill>
              </a:rPr>
              <a:t>Liveness-aware</a:t>
            </a:r>
            <a:endParaRPr lang="en-US" sz="1600" dirty="0"/>
          </a:p>
        </p:txBody>
      </p:sp>
      <p:sp>
        <p:nvSpPr>
          <p:cNvPr id="37" name="Text 30"/>
          <p:cNvSpPr txBox="1"/>
          <p:nvPr/>
        </p:nvSpPr>
        <p:spPr>
          <a:xfrm>
            <a:off x="6035040" y="3566160"/>
            <a:ext cx="2514600" cy="822960"/>
          </a:xfrm>
          <a:prstGeom prst="rect">
            <a:avLst/>
          </a:prstGeom>
          <a:noFill/>
          <a:ln/>
        </p:spPr>
        <p:txBody>
          <a:bodyPr wrap="square" lIns="0" tIns="0" rIns="0" bIns="0" rtlCol="0" anchor="t"/>
          <a:lstStyle/>
          <a:p>
            <a:pPr indent="0" marL="0">
              <a:buNone/>
            </a:pPr>
            <a:r>
              <a:rPr lang="en-US" sz="1400" dirty="0">
                <a:solidFill>
                  <a:schemeClr val="tx2"/>
                </a:solidFill>
              </a:rPr>
              <a:t>High-risk steps need a live head turn and spoken words.</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System architecture</a:t>
            </a:r>
            <a:endParaRPr lang="en-US" sz="2800" dirty="0"/>
          </a:p>
        </p:txBody>
      </p:sp>
      <p:sp>
        <p:nvSpPr>
          <p:cNvPr id="3" name="Shape 1"/>
          <p:cNvSpPr/>
          <p:nvPr/>
        </p:nvSpPr>
        <p:spPr>
          <a:xfrm>
            <a:off x="548640" y="1143000"/>
            <a:ext cx="1828800" cy="2240280"/>
          </a:xfrm>
          <a:prstGeom prst="roundRect">
            <a:avLst>
              <a:gd name="adj" fmla="val 4000"/>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 name="Browser circle"/>
          <p:cNvSpPr/>
          <p:nvPr/>
        </p:nvSpPr>
        <p:spPr>
          <a:xfrm>
            <a:off x="685800" y="1261872"/>
            <a:ext cx="457200" cy="457200"/>
          </a:xfrm>
          <a:prstGeom prst="ellipse">
            <a:avLst/>
          </a:prstGeom>
          <a:solidFill>
            <a:schemeClr val="accent1">
              <a:alpha val="14000"/>
            </a:schemeClr>
          </a:solidFill>
          <a:ln w="12700">
            <a:solidFill>
              <a:schemeClr val="accent1">
                <a:alpha val="0"/>
              </a:schemeClr>
            </a:solidFill>
            <a:prstDash val="solid"/>
          </a:ln>
        </p:spPr>
      </p:sp>
      <p:pic>
        <p:nvPicPr>
          <p:cNvPr id="5" name="Browser" descr="Browser">    </p:cNvPr>
          <p:cNvPicPr>
            <a:picLocks noChangeAspect="1"/>
          </p:cNvPicPr>
          <p:nvPr/>
        </p:nvPicPr>
        <p:blipFill>
          <a:blip r:embed="rId1"/>
          <a:stretch>
            <a:fillRect/>
          </a:stretch>
        </p:blipFill>
        <p:spPr>
          <a:xfrm>
            <a:off x="804672" y="1380744"/>
            <a:ext cx="219456" cy="219456"/>
          </a:xfrm>
          <a:prstGeom prst="rect">
            <a:avLst/>
          </a:prstGeom>
        </p:spPr>
      </p:pic>
      <p:sp>
        <p:nvSpPr>
          <p:cNvPr id="6" name="Text 3"/>
          <p:cNvSpPr txBox="1"/>
          <p:nvPr/>
        </p:nvSpPr>
        <p:spPr>
          <a:xfrm>
            <a:off x="1234440" y="1261872"/>
            <a:ext cx="1097280" cy="256032"/>
          </a:xfrm>
          <a:prstGeom prst="rect">
            <a:avLst/>
          </a:prstGeom>
          <a:noFill/>
          <a:ln/>
        </p:spPr>
        <p:txBody>
          <a:bodyPr wrap="square" lIns="0" tIns="0" rIns="0" bIns="0" rtlCol="0" anchor="ctr"/>
          <a:lstStyle/>
          <a:p>
            <a:pPr indent="0" marL="0">
              <a:buNone/>
            </a:pPr>
            <a:r>
              <a:rPr lang="en-US" sz="1500" b="1" dirty="0">
                <a:solidFill>
                  <a:schemeClr val="tx1"/>
                </a:solidFill>
              </a:rPr>
              <a:t>Browser</a:t>
            </a:r>
            <a:endParaRPr lang="en-US" sz="1500" dirty="0"/>
          </a:p>
        </p:txBody>
      </p:sp>
      <p:sp>
        <p:nvSpPr>
          <p:cNvPr id="7" name="Text 4"/>
          <p:cNvSpPr txBox="1"/>
          <p:nvPr/>
        </p:nvSpPr>
        <p:spPr>
          <a:xfrm>
            <a:off x="1234440" y="1536192"/>
            <a:ext cx="1097280" cy="201168"/>
          </a:xfrm>
          <a:prstGeom prst="rect">
            <a:avLst/>
          </a:prstGeom>
          <a:noFill/>
          <a:ln/>
        </p:spPr>
        <p:txBody>
          <a:bodyPr wrap="square" lIns="0" tIns="0" rIns="0" bIns="0" rtlCol="0" anchor="ctr"/>
          <a:lstStyle/>
          <a:p>
            <a:pPr indent="0" marL="0">
              <a:buNone/>
            </a:pPr>
            <a:r>
              <a:rPr lang="en-US" sz="1100" dirty="0">
                <a:solidFill>
                  <a:schemeClr val="accent5"/>
                </a:solidFill>
              </a:rPr>
              <a:t>React + Vite</a:t>
            </a:r>
            <a:endParaRPr lang="en-US" sz="1100" dirty="0"/>
          </a:p>
        </p:txBody>
      </p:sp>
      <p:sp>
        <p:nvSpPr>
          <p:cNvPr id="8" name="Text 5"/>
          <p:cNvSpPr txBox="1"/>
          <p:nvPr/>
        </p:nvSpPr>
        <p:spPr>
          <a:xfrm>
            <a:off x="685800" y="1965960"/>
            <a:ext cx="1554480" cy="1325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Camera and microphone</a:t>
            </a:r>
            <a:endParaRPr lang="en-US" sz="1200" dirty="0"/>
          </a:p>
          <a:p>
            <a:pPr marL="342900" indent="-342900">
              <a:spcAft>
                <a:spcPts val="400"/>
              </a:spcAft>
              <a:buSzPct val="100000"/>
              <a:buChar char="•"/>
            </a:pPr>
            <a:r>
              <a:rPr lang="en-US" sz="1200" dirty="0">
                <a:solidFill>
                  <a:schemeClr val="tx2"/>
                </a:solidFill>
              </a:rPr>
              <a:t>Dashboard and analytics</a:t>
            </a:r>
            <a:endParaRPr lang="en-US" sz="1200" dirty="0"/>
          </a:p>
          <a:p>
            <a:pPr marL="342900" indent="-342900">
              <a:spcAft>
                <a:spcPts val="400"/>
              </a:spcAft>
              <a:buSzPct val="100000"/>
              <a:buChar char="•"/>
            </a:pPr>
            <a:r>
              <a:rPr lang="en-US" sz="1200" dirty="0">
                <a:solidFill>
                  <a:schemeClr val="tx2"/>
                </a:solidFill>
              </a:rPr>
              <a:t>Makes no decisions</a:t>
            </a:r>
            <a:endParaRPr lang="en-US" sz="1200" dirty="0"/>
          </a:p>
        </p:txBody>
      </p:sp>
      <p:sp>
        <p:nvSpPr>
          <p:cNvPr id="9" name="Shape 6"/>
          <p:cNvSpPr/>
          <p:nvPr/>
        </p:nvSpPr>
        <p:spPr>
          <a:xfrm>
            <a:off x="2395728" y="2194560"/>
            <a:ext cx="207569" cy="0"/>
          </a:xfrm>
          <a:prstGeom prst="line">
            <a:avLst/>
          </a:prstGeom>
          <a:noFill/>
          <a:ln w="19050">
            <a:solidFill>
              <a:schemeClr val="accent5"/>
            </a:solidFill>
            <a:prstDash val="solid"/>
            <a:tailEnd type="triangle"/>
          </a:ln>
        </p:spPr>
      </p:sp>
      <p:sp>
        <p:nvSpPr>
          <p:cNvPr id="10" name="Shape 7"/>
          <p:cNvSpPr/>
          <p:nvPr/>
        </p:nvSpPr>
        <p:spPr>
          <a:xfrm>
            <a:off x="2621585" y="1143000"/>
            <a:ext cx="1828800" cy="2240280"/>
          </a:xfrm>
          <a:prstGeom prst="roundRect">
            <a:avLst>
              <a:gd name="adj" fmla="val 4000"/>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1" name="API circle"/>
          <p:cNvSpPr/>
          <p:nvPr/>
        </p:nvSpPr>
        <p:spPr>
          <a:xfrm>
            <a:off x="2758745" y="1261872"/>
            <a:ext cx="457200" cy="457200"/>
          </a:xfrm>
          <a:prstGeom prst="ellipse">
            <a:avLst/>
          </a:prstGeom>
          <a:solidFill>
            <a:schemeClr val="accent1">
              <a:alpha val="14000"/>
            </a:schemeClr>
          </a:solidFill>
          <a:ln w="12700">
            <a:solidFill>
              <a:schemeClr val="accent1">
                <a:alpha val="0"/>
              </a:schemeClr>
            </a:solidFill>
            <a:prstDash val="solid"/>
          </a:ln>
        </p:spPr>
      </p:sp>
      <p:pic>
        <p:nvPicPr>
          <p:cNvPr id="12" name="API" descr="API">    </p:cNvPr>
          <p:cNvPicPr>
            <a:picLocks noChangeAspect="1"/>
          </p:cNvPicPr>
          <p:nvPr/>
        </p:nvPicPr>
        <p:blipFill>
          <a:blip r:embed="rId2"/>
          <a:stretch>
            <a:fillRect/>
          </a:stretch>
        </p:blipFill>
        <p:spPr>
          <a:xfrm>
            <a:off x="2877617" y="1380744"/>
            <a:ext cx="219456" cy="219456"/>
          </a:xfrm>
          <a:prstGeom prst="rect">
            <a:avLst/>
          </a:prstGeom>
        </p:spPr>
      </p:pic>
      <p:sp>
        <p:nvSpPr>
          <p:cNvPr id="13" name="Text 9"/>
          <p:cNvSpPr txBox="1"/>
          <p:nvPr/>
        </p:nvSpPr>
        <p:spPr>
          <a:xfrm>
            <a:off x="3307385" y="1261872"/>
            <a:ext cx="1097280" cy="256032"/>
          </a:xfrm>
          <a:prstGeom prst="rect">
            <a:avLst/>
          </a:prstGeom>
          <a:noFill/>
          <a:ln/>
        </p:spPr>
        <p:txBody>
          <a:bodyPr wrap="square" lIns="0" tIns="0" rIns="0" bIns="0" rtlCol="0" anchor="ctr"/>
          <a:lstStyle/>
          <a:p>
            <a:pPr indent="0" marL="0">
              <a:buNone/>
            </a:pPr>
            <a:r>
              <a:rPr lang="en-US" sz="1500" b="1" dirty="0">
                <a:solidFill>
                  <a:schemeClr val="tx1"/>
                </a:solidFill>
              </a:rPr>
              <a:t>API</a:t>
            </a:r>
            <a:endParaRPr lang="en-US" sz="1500" dirty="0"/>
          </a:p>
        </p:txBody>
      </p:sp>
      <p:sp>
        <p:nvSpPr>
          <p:cNvPr id="14" name="Text 10"/>
          <p:cNvSpPr txBox="1"/>
          <p:nvPr/>
        </p:nvSpPr>
        <p:spPr>
          <a:xfrm>
            <a:off x="3307385" y="1536192"/>
            <a:ext cx="1097280" cy="201168"/>
          </a:xfrm>
          <a:prstGeom prst="rect">
            <a:avLst/>
          </a:prstGeom>
          <a:noFill/>
          <a:ln/>
        </p:spPr>
        <p:txBody>
          <a:bodyPr wrap="square" lIns="0" tIns="0" rIns="0" bIns="0" rtlCol="0" anchor="ctr"/>
          <a:lstStyle/>
          <a:p>
            <a:pPr indent="0" marL="0">
              <a:buNone/>
            </a:pPr>
            <a:r>
              <a:rPr lang="en-US" sz="1100" dirty="0">
                <a:solidFill>
                  <a:schemeClr val="accent5"/>
                </a:solidFill>
              </a:rPr>
              <a:t>FastAPI</a:t>
            </a:r>
            <a:endParaRPr lang="en-US" sz="1100" dirty="0"/>
          </a:p>
        </p:txBody>
      </p:sp>
      <p:sp>
        <p:nvSpPr>
          <p:cNvPr id="15" name="Text 11"/>
          <p:cNvSpPr txBox="1"/>
          <p:nvPr/>
        </p:nvSpPr>
        <p:spPr>
          <a:xfrm>
            <a:off x="2758745" y="1965960"/>
            <a:ext cx="1554480" cy="1325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Routes, validation</a:t>
            </a:r>
            <a:endParaRPr lang="en-US" sz="1200" dirty="0"/>
          </a:p>
          <a:p>
            <a:pPr marL="342900" indent="-342900">
              <a:spcAft>
                <a:spcPts val="400"/>
              </a:spcAft>
              <a:buSzPct val="100000"/>
              <a:buChar char="•"/>
            </a:pPr>
            <a:r>
              <a:rPr lang="en-US" sz="1200" dirty="0">
                <a:solidFill>
                  <a:schemeClr val="tx2"/>
                </a:solidFill>
              </a:rPr>
              <a:t>Sessions, access control</a:t>
            </a:r>
            <a:endParaRPr lang="en-US" sz="1200" dirty="0"/>
          </a:p>
          <a:p>
            <a:pPr marL="342900" indent="-342900">
              <a:spcAft>
                <a:spcPts val="400"/>
              </a:spcAft>
              <a:buSzPct val="100000"/>
              <a:buChar char="•"/>
            </a:pPr>
            <a:r>
              <a:rPr lang="en-US" sz="1200" dirty="0">
                <a:solidFill>
                  <a:schemeClr val="tx2"/>
                </a:solidFill>
              </a:rPr>
              <a:t>One error format</a:t>
            </a:r>
            <a:endParaRPr lang="en-US" sz="1200" dirty="0"/>
          </a:p>
        </p:txBody>
      </p:sp>
      <p:sp>
        <p:nvSpPr>
          <p:cNvPr id="16" name="Shape 12"/>
          <p:cNvSpPr/>
          <p:nvPr/>
        </p:nvSpPr>
        <p:spPr>
          <a:xfrm>
            <a:off x="4468673" y="2194560"/>
            <a:ext cx="207569" cy="0"/>
          </a:xfrm>
          <a:prstGeom prst="line">
            <a:avLst/>
          </a:prstGeom>
          <a:noFill/>
          <a:ln w="19050">
            <a:solidFill>
              <a:schemeClr val="accent5"/>
            </a:solidFill>
            <a:prstDash val="solid"/>
            <a:tailEnd type="triangle"/>
          </a:ln>
        </p:spPr>
      </p:sp>
      <p:sp>
        <p:nvSpPr>
          <p:cNvPr id="17" name="Shape 13"/>
          <p:cNvSpPr/>
          <p:nvPr/>
        </p:nvSpPr>
        <p:spPr>
          <a:xfrm>
            <a:off x="4694530" y="1143000"/>
            <a:ext cx="1828800" cy="2240280"/>
          </a:xfrm>
          <a:prstGeom prst="roundRect">
            <a:avLst>
              <a:gd name="adj" fmla="val 4000"/>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8" name="Services circle"/>
          <p:cNvSpPr/>
          <p:nvPr/>
        </p:nvSpPr>
        <p:spPr>
          <a:xfrm>
            <a:off x="4831690" y="1261872"/>
            <a:ext cx="457200" cy="457200"/>
          </a:xfrm>
          <a:prstGeom prst="ellipse">
            <a:avLst/>
          </a:prstGeom>
          <a:solidFill>
            <a:schemeClr val="accent1">
              <a:alpha val="14000"/>
            </a:schemeClr>
          </a:solidFill>
          <a:ln w="12700">
            <a:solidFill>
              <a:schemeClr val="accent1">
                <a:alpha val="0"/>
              </a:schemeClr>
            </a:solidFill>
            <a:prstDash val="solid"/>
          </a:ln>
        </p:spPr>
      </p:sp>
      <p:pic>
        <p:nvPicPr>
          <p:cNvPr id="19" name="Services" descr="Services">    </p:cNvPr>
          <p:cNvPicPr>
            <a:picLocks noChangeAspect="1"/>
          </p:cNvPicPr>
          <p:nvPr/>
        </p:nvPicPr>
        <p:blipFill>
          <a:blip r:embed="rId3"/>
          <a:stretch>
            <a:fillRect/>
          </a:stretch>
        </p:blipFill>
        <p:spPr>
          <a:xfrm>
            <a:off x="4950562" y="1380744"/>
            <a:ext cx="219456" cy="219456"/>
          </a:xfrm>
          <a:prstGeom prst="rect">
            <a:avLst/>
          </a:prstGeom>
        </p:spPr>
      </p:pic>
      <p:sp>
        <p:nvSpPr>
          <p:cNvPr id="20" name="Text 15"/>
          <p:cNvSpPr txBox="1"/>
          <p:nvPr/>
        </p:nvSpPr>
        <p:spPr>
          <a:xfrm>
            <a:off x="5380330" y="1261872"/>
            <a:ext cx="1097280" cy="256032"/>
          </a:xfrm>
          <a:prstGeom prst="rect">
            <a:avLst/>
          </a:prstGeom>
          <a:noFill/>
          <a:ln/>
        </p:spPr>
        <p:txBody>
          <a:bodyPr wrap="square" lIns="0" tIns="0" rIns="0" bIns="0" rtlCol="0" anchor="ctr"/>
          <a:lstStyle/>
          <a:p>
            <a:pPr indent="0" marL="0">
              <a:buNone/>
            </a:pPr>
            <a:r>
              <a:rPr lang="en-US" sz="1500" b="1" dirty="0">
                <a:solidFill>
                  <a:schemeClr val="tx1"/>
                </a:solidFill>
              </a:rPr>
              <a:t>Services</a:t>
            </a:r>
            <a:endParaRPr lang="en-US" sz="1500" dirty="0"/>
          </a:p>
        </p:txBody>
      </p:sp>
      <p:sp>
        <p:nvSpPr>
          <p:cNvPr id="21" name="Text 16"/>
          <p:cNvSpPr txBox="1"/>
          <p:nvPr/>
        </p:nvSpPr>
        <p:spPr>
          <a:xfrm>
            <a:off x="5380330" y="1536192"/>
            <a:ext cx="1097280" cy="201168"/>
          </a:xfrm>
          <a:prstGeom prst="rect">
            <a:avLst/>
          </a:prstGeom>
          <a:noFill/>
          <a:ln/>
        </p:spPr>
        <p:txBody>
          <a:bodyPr wrap="square" lIns="0" tIns="0" rIns="0" bIns="0" rtlCol="0" anchor="ctr"/>
          <a:lstStyle/>
          <a:p>
            <a:pPr indent="0" marL="0">
              <a:buNone/>
            </a:pPr>
            <a:r>
              <a:rPr lang="en-US" sz="1100" dirty="0">
                <a:solidFill>
                  <a:schemeClr val="accent5"/>
                </a:solidFill>
              </a:rPr>
              <a:t>Python</a:t>
            </a:r>
            <a:endParaRPr lang="en-US" sz="1100" dirty="0"/>
          </a:p>
        </p:txBody>
      </p:sp>
      <p:sp>
        <p:nvSpPr>
          <p:cNvPr id="22" name="Text 17"/>
          <p:cNvSpPr txBox="1"/>
          <p:nvPr/>
        </p:nvSpPr>
        <p:spPr>
          <a:xfrm>
            <a:off x="4831690" y="1965960"/>
            <a:ext cx="1554480" cy="1325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Risk engine</a:t>
            </a:r>
            <a:endParaRPr lang="en-US" sz="1200" dirty="0"/>
          </a:p>
          <a:p>
            <a:pPr marL="342900" indent="-342900">
              <a:spcAft>
                <a:spcPts val="400"/>
              </a:spcAft>
              <a:buSzPct val="100000"/>
              <a:buChar char="•"/>
            </a:pPr>
            <a:r>
              <a:rPr lang="en-US" sz="1200" dirty="0">
                <a:solidFill>
                  <a:schemeClr val="tx2"/>
                </a:solidFill>
              </a:rPr>
              <a:t>Fusion and policy</a:t>
            </a:r>
            <a:endParaRPr lang="en-US" sz="1200" dirty="0"/>
          </a:p>
          <a:p>
            <a:pPr marL="342900" indent="-342900">
              <a:spcAft>
                <a:spcPts val="400"/>
              </a:spcAft>
              <a:buSzPct val="100000"/>
              <a:buChar char="•"/>
            </a:pPr>
            <a:r>
              <a:rPr lang="en-US" sz="1200" dirty="0">
                <a:solidFill>
                  <a:schemeClr val="tx2"/>
                </a:solidFill>
              </a:rPr>
              <a:t>Sign-in and liveness</a:t>
            </a:r>
            <a:endParaRPr lang="en-US" sz="1200" dirty="0"/>
          </a:p>
        </p:txBody>
      </p:sp>
      <p:sp>
        <p:nvSpPr>
          <p:cNvPr id="23" name="Shape 18"/>
          <p:cNvSpPr/>
          <p:nvPr/>
        </p:nvSpPr>
        <p:spPr>
          <a:xfrm>
            <a:off x="6541618" y="2194560"/>
            <a:ext cx="207569" cy="0"/>
          </a:xfrm>
          <a:prstGeom prst="line">
            <a:avLst/>
          </a:prstGeom>
          <a:noFill/>
          <a:ln w="19050">
            <a:solidFill>
              <a:schemeClr val="accent5"/>
            </a:solidFill>
            <a:prstDash val="solid"/>
            <a:tailEnd type="triangle"/>
          </a:ln>
        </p:spPr>
      </p:sp>
      <p:sp>
        <p:nvSpPr>
          <p:cNvPr id="24" name="Shape 19"/>
          <p:cNvSpPr/>
          <p:nvPr/>
        </p:nvSpPr>
        <p:spPr>
          <a:xfrm>
            <a:off x="6767474" y="1143000"/>
            <a:ext cx="1828800" cy="2240280"/>
          </a:xfrm>
          <a:prstGeom prst="roundRect">
            <a:avLst>
              <a:gd name="adj" fmla="val 4000"/>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5" name="Biometrics circle"/>
          <p:cNvSpPr/>
          <p:nvPr/>
        </p:nvSpPr>
        <p:spPr>
          <a:xfrm>
            <a:off x="6904634" y="1261872"/>
            <a:ext cx="457200" cy="457200"/>
          </a:xfrm>
          <a:prstGeom prst="ellipse">
            <a:avLst/>
          </a:prstGeom>
          <a:solidFill>
            <a:schemeClr val="accent1">
              <a:alpha val="14000"/>
            </a:schemeClr>
          </a:solidFill>
          <a:ln w="12700">
            <a:solidFill>
              <a:schemeClr val="accent1">
                <a:alpha val="0"/>
              </a:schemeClr>
            </a:solidFill>
            <a:prstDash val="solid"/>
          </a:ln>
        </p:spPr>
      </p:sp>
      <p:pic>
        <p:nvPicPr>
          <p:cNvPr id="26" name="Biometrics" descr="Biometrics">    </p:cNvPr>
          <p:cNvPicPr>
            <a:picLocks noChangeAspect="1"/>
          </p:cNvPicPr>
          <p:nvPr/>
        </p:nvPicPr>
        <p:blipFill>
          <a:blip r:embed="rId4"/>
          <a:stretch>
            <a:fillRect/>
          </a:stretch>
        </p:blipFill>
        <p:spPr>
          <a:xfrm>
            <a:off x="7023506" y="1380744"/>
            <a:ext cx="219456" cy="219456"/>
          </a:xfrm>
          <a:prstGeom prst="rect">
            <a:avLst/>
          </a:prstGeom>
        </p:spPr>
      </p:pic>
      <p:sp>
        <p:nvSpPr>
          <p:cNvPr id="27" name="Text 21"/>
          <p:cNvSpPr txBox="1"/>
          <p:nvPr/>
        </p:nvSpPr>
        <p:spPr>
          <a:xfrm>
            <a:off x="7453274" y="1261872"/>
            <a:ext cx="1097280" cy="256032"/>
          </a:xfrm>
          <a:prstGeom prst="rect">
            <a:avLst/>
          </a:prstGeom>
          <a:noFill/>
          <a:ln/>
        </p:spPr>
        <p:txBody>
          <a:bodyPr wrap="square" lIns="0" tIns="0" rIns="0" bIns="0" rtlCol="0" anchor="ctr"/>
          <a:lstStyle/>
          <a:p>
            <a:pPr indent="0" marL="0">
              <a:buNone/>
            </a:pPr>
            <a:r>
              <a:rPr lang="en-US" sz="1500" b="1" dirty="0">
                <a:solidFill>
                  <a:schemeClr val="tx1"/>
                </a:solidFill>
              </a:rPr>
              <a:t>Biometrics</a:t>
            </a:r>
            <a:endParaRPr lang="en-US" sz="1500" dirty="0"/>
          </a:p>
        </p:txBody>
      </p:sp>
      <p:sp>
        <p:nvSpPr>
          <p:cNvPr id="28" name="Text 22"/>
          <p:cNvSpPr txBox="1"/>
          <p:nvPr/>
        </p:nvSpPr>
        <p:spPr>
          <a:xfrm>
            <a:off x="7453274" y="1536192"/>
            <a:ext cx="1097280" cy="201168"/>
          </a:xfrm>
          <a:prstGeom prst="rect">
            <a:avLst/>
          </a:prstGeom>
          <a:noFill/>
          <a:ln/>
        </p:spPr>
        <p:txBody>
          <a:bodyPr wrap="square" lIns="0" tIns="0" rIns="0" bIns="0" rtlCol="0" anchor="ctr"/>
          <a:lstStyle/>
          <a:p>
            <a:pPr indent="0" marL="0">
              <a:buNone/>
            </a:pPr>
            <a:r>
              <a:rPr lang="en-US" sz="1100" dirty="0">
                <a:solidFill>
                  <a:schemeClr val="accent5"/>
                </a:solidFill>
              </a:rPr>
              <a:t>3 modules</a:t>
            </a:r>
            <a:endParaRPr lang="en-US" sz="1100" dirty="0"/>
          </a:p>
        </p:txBody>
      </p:sp>
      <p:sp>
        <p:nvSpPr>
          <p:cNvPr id="29" name="Text 23"/>
          <p:cNvSpPr txBox="1"/>
          <p:nvPr/>
        </p:nvSpPr>
        <p:spPr>
          <a:xfrm>
            <a:off x="6904634" y="1965960"/>
            <a:ext cx="1554480" cy="1325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Face: YuNet, SFace</a:t>
            </a:r>
            <a:endParaRPr lang="en-US" sz="1200" dirty="0"/>
          </a:p>
          <a:p>
            <a:pPr marL="342900" indent="-342900">
              <a:spcAft>
                <a:spcPts val="400"/>
              </a:spcAft>
              <a:buSzPct val="100000"/>
              <a:buChar char="•"/>
            </a:pPr>
            <a:r>
              <a:rPr lang="en-US" sz="1200" dirty="0">
                <a:solidFill>
                  <a:schemeClr val="tx2"/>
                </a:solidFill>
              </a:rPr>
              <a:t>Voice: ECAPA-TDNN</a:t>
            </a:r>
            <a:endParaRPr lang="en-US" sz="1200" dirty="0"/>
          </a:p>
          <a:p>
            <a:pPr marL="342900" indent="-342900">
              <a:spcAft>
                <a:spcPts val="400"/>
              </a:spcAft>
              <a:buSzPct val="100000"/>
              <a:buChar char="•"/>
            </a:pPr>
            <a:r>
              <a:rPr lang="en-US" sz="1200" dirty="0">
                <a:solidFill>
                  <a:schemeClr val="tx2"/>
                </a:solidFill>
              </a:rPr>
              <a:t>Finger: SIFT, RANSAC</a:t>
            </a:r>
            <a:endParaRPr lang="en-US" sz="1200" dirty="0"/>
          </a:p>
        </p:txBody>
      </p:sp>
      <p:sp>
        <p:nvSpPr>
          <p:cNvPr id="30" name="Shape 24"/>
          <p:cNvSpPr/>
          <p:nvPr/>
        </p:nvSpPr>
        <p:spPr>
          <a:xfrm>
            <a:off x="548640" y="3657600"/>
            <a:ext cx="2560320" cy="868680"/>
          </a:xfrm>
          <a:prstGeom prst="roundRect">
            <a:avLst>
              <a:gd name="adj" fmla="val 8421"/>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31" name="SQLite circle"/>
          <p:cNvSpPr/>
          <p:nvPr/>
        </p:nvSpPr>
        <p:spPr>
          <a:xfrm>
            <a:off x="685800" y="3840480"/>
            <a:ext cx="502920" cy="502920"/>
          </a:xfrm>
          <a:prstGeom prst="ellipse">
            <a:avLst/>
          </a:prstGeom>
          <a:solidFill>
            <a:schemeClr val="accent3">
              <a:alpha val="14000"/>
            </a:schemeClr>
          </a:solidFill>
          <a:ln w="12700">
            <a:solidFill>
              <a:schemeClr val="accent3">
                <a:alpha val="0"/>
              </a:schemeClr>
            </a:solidFill>
            <a:prstDash val="solid"/>
          </a:ln>
        </p:spPr>
      </p:sp>
      <p:pic>
        <p:nvPicPr>
          <p:cNvPr id="32" name="SQLite" descr="SQLite">    </p:cNvPr>
          <p:cNvPicPr>
            <a:picLocks noChangeAspect="1"/>
          </p:cNvPicPr>
          <p:nvPr/>
        </p:nvPicPr>
        <p:blipFill>
          <a:blip r:embed="rId5"/>
          <a:stretch>
            <a:fillRect/>
          </a:stretch>
        </p:blipFill>
        <p:spPr>
          <a:xfrm>
            <a:off x="816559" y="3971239"/>
            <a:ext cx="241402" cy="241402"/>
          </a:xfrm>
          <a:prstGeom prst="rect">
            <a:avLst/>
          </a:prstGeom>
        </p:spPr>
      </p:pic>
      <p:sp>
        <p:nvSpPr>
          <p:cNvPr id="33" name="Text 26"/>
          <p:cNvSpPr txBox="1"/>
          <p:nvPr/>
        </p:nvSpPr>
        <p:spPr>
          <a:xfrm>
            <a:off x="1325880" y="3776472"/>
            <a:ext cx="1691640" cy="256032"/>
          </a:xfrm>
          <a:prstGeom prst="rect">
            <a:avLst/>
          </a:prstGeom>
          <a:noFill/>
          <a:ln/>
        </p:spPr>
        <p:txBody>
          <a:bodyPr wrap="square" lIns="0" tIns="0" rIns="0" bIns="0" rtlCol="0" anchor="ctr"/>
          <a:lstStyle/>
          <a:p>
            <a:pPr indent="0" marL="0">
              <a:buNone/>
            </a:pPr>
            <a:r>
              <a:rPr lang="en-US" sz="1400" b="1" dirty="0">
                <a:solidFill>
                  <a:schemeClr val="tx1"/>
                </a:solidFill>
              </a:rPr>
              <a:t>SQLite</a:t>
            </a:r>
            <a:endParaRPr lang="en-US" sz="1400" dirty="0"/>
          </a:p>
        </p:txBody>
      </p:sp>
      <p:sp>
        <p:nvSpPr>
          <p:cNvPr id="34" name="Text 27"/>
          <p:cNvSpPr txBox="1"/>
          <p:nvPr/>
        </p:nvSpPr>
        <p:spPr>
          <a:xfrm>
            <a:off x="1325880" y="4050792"/>
            <a:ext cx="1691640" cy="384048"/>
          </a:xfrm>
          <a:prstGeom prst="rect">
            <a:avLst/>
          </a:prstGeom>
          <a:noFill/>
          <a:ln/>
        </p:spPr>
        <p:txBody>
          <a:bodyPr wrap="square" lIns="0" tIns="0" rIns="0" bIns="0" rtlCol="0" anchor="t"/>
          <a:lstStyle/>
          <a:p>
            <a:pPr indent="0" marL="0">
              <a:buNone/>
            </a:pPr>
            <a:r>
              <a:rPr lang="en-US" sz="1100" dirty="0">
                <a:solidFill>
                  <a:schemeClr val="tx2"/>
                </a:solidFill>
              </a:rPr>
              <a:t>users, payments, attempts, audit log</a:t>
            </a:r>
            <a:endParaRPr lang="en-US" sz="1100" dirty="0"/>
          </a:p>
        </p:txBody>
      </p:sp>
      <p:sp>
        <p:nvSpPr>
          <p:cNvPr id="35" name="Shape 28"/>
          <p:cNvSpPr/>
          <p:nvPr/>
        </p:nvSpPr>
        <p:spPr>
          <a:xfrm>
            <a:off x="3291840" y="3657600"/>
            <a:ext cx="2560320" cy="868680"/>
          </a:xfrm>
          <a:prstGeom prst="roundRect">
            <a:avLst>
              <a:gd name="adj" fmla="val 8421"/>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36" name="Templates circle"/>
          <p:cNvSpPr/>
          <p:nvPr/>
        </p:nvSpPr>
        <p:spPr>
          <a:xfrm>
            <a:off x="3429000" y="3840480"/>
            <a:ext cx="502920" cy="502920"/>
          </a:xfrm>
          <a:prstGeom prst="ellipse">
            <a:avLst/>
          </a:prstGeom>
          <a:solidFill>
            <a:schemeClr val="accent3">
              <a:alpha val="14000"/>
            </a:schemeClr>
          </a:solidFill>
          <a:ln w="12700">
            <a:solidFill>
              <a:schemeClr val="accent3">
                <a:alpha val="0"/>
              </a:schemeClr>
            </a:solidFill>
            <a:prstDash val="solid"/>
          </a:ln>
        </p:spPr>
      </p:sp>
      <p:pic>
        <p:nvPicPr>
          <p:cNvPr id="37" name="Templates" descr="Templates">    </p:cNvPr>
          <p:cNvPicPr>
            <a:picLocks noChangeAspect="1"/>
          </p:cNvPicPr>
          <p:nvPr/>
        </p:nvPicPr>
        <p:blipFill>
          <a:blip r:embed="rId6"/>
          <a:stretch>
            <a:fillRect/>
          </a:stretch>
        </p:blipFill>
        <p:spPr>
          <a:xfrm>
            <a:off x="3559759" y="3971239"/>
            <a:ext cx="241402" cy="241402"/>
          </a:xfrm>
          <a:prstGeom prst="rect">
            <a:avLst/>
          </a:prstGeom>
        </p:spPr>
      </p:pic>
      <p:sp>
        <p:nvSpPr>
          <p:cNvPr id="38" name="Text 30"/>
          <p:cNvSpPr txBox="1"/>
          <p:nvPr/>
        </p:nvSpPr>
        <p:spPr>
          <a:xfrm>
            <a:off x="4069080" y="3776472"/>
            <a:ext cx="1691640" cy="256032"/>
          </a:xfrm>
          <a:prstGeom prst="rect">
            <a:avLst/>
          </a:prstGeom>
          <a:noFill/>
          <a:ln/>
        </p:spPr>
        <p:txBody>
          <a:bodyPr wrap="square" lIns="0" tIns="0" rIns="0" bIns="0" rtlCol="0" anchor="ctr"/>
          <a:lstStyle/>
          <a:p>
            <a:pPr indent="0" marL="0">
              <a:buNone/>
            </a:pPr>
            <a:r>
              <a:rPr lang="en-US" sz="1400" b="1" dirty="0">
                <a:solidFill>
                  <a:schemeClr val="tx1"/>
                </a:solidFill>
              </a:rPr>
              <a:t>Templates</a:t>
            </a:r>
            <a:endParaRPr lang="en-US" sz="1400" dirty="0"/>
          </a:p>
        </p:txBody>
      </p:sp>
      <p:sp>
        <p:nvSpPr>
          <p:cNvPr id="39" name="Text 31"/>
          <p:cNvSpPr txBox="1"/>
          <p:nvPr/>
        </p:nvSpPr>
        <p:spPr>
          <a:xfrm>
            <a:off x="4069080" y="4050792"/>
            <a:ext cx="1691640" cy="384048"/>
          </a:xfrm>
          <a:prstGeom prst="rect">
            <a:avLst/>
          </a:prstGeom>
          <a:noFill/>
          <a:ln/>
        </p:spPr>
        <p:txBody>
          <a:bodyPr wrap="square" lIns="0" tIns="0" rIns="0" bIns="0" rtlCol="0" anchor="t"/>
          <a:lstStyle/>
          <a:p>
            <a:pPr indent="0" marL="0">
              <a:buNone/>
            </a:pPr>
            <a:r>
              <a:rPr lang="en-US" sz="1100" dirty="0">
                <a:solidFill>
                  <a:schemeClr val="tx2"/>
                </a:solidFill>
              </a:rPr>
              <a:t>encrypted numbers, never photos</a:t>
            </a:r>
            <a:endParaRPr lang="en-US" sz="1100" dirty="0"/>
          </a:p>
        </p:txBody>
      </p:sp>
      <p:sp>
        <p:nvSpPr>
          <p:cNvPr id="40" name="Shape 32"/>
          <p:cNvSpPr/>
          <p:nvPr/>
        </p:nvSpPr>
        <p:spPr>
          <a:xfrm>
            <a:off x="6035040" y="3657600"/>
            <a:ext cx="2560320" cy="868680"/>
          </a:xfrm>
          <a:prstGeom prst="roundRect">
            <a:avLst>
              <a:gd name="adj" fmla="val 8421"/>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1" name="Evaluation circle"/>
          <p:cNvSpPr/>
          <p:nvPr/>
        </p:nvSpPr>
        <p:spPr>
          <a:xfrm>
            <a:off x="6172200" y="3840480"/>
            <a:ext cx="502920" cy="502920"/>
          </a:xfrm>
          <a:prstGeom prst="ellipse">
            <a:avLst/>
          </a:prstGeom>
          <a:solidFill>
            <a:schemeClr val="accent3">
              <a:alpha val="14000"/>
            </a:schemeClr>
          </a:solidFill>
          <a:ln w="12700">
            <a:solidFill>
              <a:schemeClr val="accent3">
                <a:alpha val="0"/>
              </a:schemeClr>
            </a:solidFill>
            <a:prstDash val="solid"/>
          </a:ln>
        </p:spPr>
      </p:sp>
      <p:pic>
        <p:nvPicPr>
          <p:cNvPr id="42" name="Evaluation" descr="Evaluation">    </p:cNvPr>
          <p:cNvPicPr>
            <a:picLocks noChangeAspect="1"/>
          </p:cNvPicPr>
          <p:nvPr/>
        </p:nvPicPr>
        <p:blipFill>
          <a:blip r:embed="rId7"/>
          <a:stretch>
            <a:fillRect/>
          </a:stretch>
        </p:blipFill>
        <p:spPr>
          <a:xfrm>
            <a:off x="6302959" y="3971239"/>
            <a:ext cx="241402" cy="241402"/>
          </a:xfrm>
          <a:prstGeom prst="rect">
            <a:avLst/>
          </a:prstGeom>
        </p:spPr>
      </p:pic>
      <p:sp>
        <p:nvSpPr>
          <p:cNvPr id="43" name="Text 34"/>
          <p:cNvSpPr txBox="1"/>
          <p:nvPr/>
        </p:nvSpPr>
        <p:spPr>
          <a:xfrm>
            <a:off x="6812280" y="3776472"/>
            <a:ext cx="1691640" cy="256032"/>
          </a:xfrm>
          <a:prstGeom prst="rect">
            <a:avLst/>
          </a:prstGeom>
          <a:noFill/>
          <a:ln/>
        </p:spPr>
        <p:txBody>
          <a:bodyPr wrap="square" lIns="0" tIns="0" rIns="0" bIns="0" rtlCol="0" anchor="ctr"/>
          <a:lstStyle/>
          <a:p>
            <a:pPr indent="0" marL="0">
              <a:buNone/>
            </a:pPr>
            <a:r>
              <a:rPr lang="en-US" sz="1400" b="1" dirty="0">
                <a:solidFill>
                  <a:schemeClr val="tx1"/>
                </a:solidFill>
              </a:rPr>
              <a:t>Evaluation</a:t>
            </a:r>
            <a:endParaRPr lang="en-US" sz="1400" dirty="0"/>
          </a:p>
        </p:txBody>
      </p:sp>
      <p:sp>
        <p:nvSpPr>
          <p:cNvPr id="44" name="Text 35"/>
          <p:cNvSpPr txBox="1"/>
          <p:nvPr/>
        </p:nvSpPr>
        <p:spPr>
          <a:xfrm>
            <a:off x="6812280" y="4050792"/>
            <a:ext cx="1691640" cy="384048"/>
          </a:xfrm>
          <a:prstGeom prst="rect">
            <a:avLst/>
          </a:prstGeom>
          <a:noFill/>
          <a:ln/>
        </p:spPr>
        <p:txBody>
          <a:bodyPr wrap="square" lIns="0" tIns="0" rIns="0" bIns="0" rtlCol="0" anchor="t"/>
          <a:lstStyle/>
          <a:p>
            <a:pPr indent="0" marL="0">
              <a:buNone/>
            </a:pPr>
            <a:r>
              <a:rPr lang="en-US" sz="1100" dirty="0">
                <a:solidFill>
                  <a:schemeClr val="tx2"/>
                </a:solidFill>
              </a:rPr>
              <a:t>offline scripts, reproducible</a:t>
            </a:r>
            <a:endParaRPr lang="en-US" sz="11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Why face, voice and fingerprint</a:t>
            </a:r>
            <a:endParaRPr lang="en-US" sz="2800" dirty="0"/>
          </a:p>
        </p:txBody>
      </p:sp>
      <p:sp>
        <p:nvSpPr>
          <p:cNvPr id="3" name="Shape 1"/>
          <p:cNvSpPr/>
          <p:nvPr/>
        </p:nvSpPr>
        <p:spPr>
          <a:xfrm>
            <a:off x="548640" y="1188720"/>
            <a:ext cx="2560320" cy="2743200"/>
          </a:xfrm>
          <a:prstGeom prst="roundRect">
            <a:avLst>
              <a:gd name="adj" fmla="val 2857"/>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 name="Face circle"/>
          <p:cNvSpPr/>
          <p:nvPr/>
        </p:nvSpPr>
        <p:spPr>
          <a:xfrm>
            <a:off x="777240" y="1371600"/>
            <a:ext cx="640080" cy="640080"/>
          </a:xfrm>
          <a:prstGeom prst="ellipse">
            <a:avLst/>
          </a:prstGeom>
          <a:solidFill>
            <a:schemeClr val="accent1">
              <a:alpha val="14000"/>
            </a:schemeClr>
          </a:solidFill>
          <a:ln w="12700">
            <a:solidFill>
              <a:schemeClr val="accent1">
                <a:alpha val="0"/>
              </a:schemeClr>
            </a:solidFill>
            <a:prstDash val="solid"/>
          </a:ln>
        </p:spPr>
      </p:sp>
      <p:pic>
        <p:nvPicPr>
          <p:cNvPr id="5" name="Face" descr="Face">    </p:cNvPr>
          <p:cNvPicPr>
            <a:picLocks noChangeAspect="1"/>
          </p:cNvPicPr>
          <p:nvPr/>
        </p:nvPicPr>
        <p:blipFill>
          <a:blip r:embed="rId1"/>
          <a:stretch>
            <a:fillRect/>
          </a:stretch>
        </p:blipFill>
        <p:spPr>
          <a:xfrm>
            <a:off x="943661" y="1538021"/>
            <a:ext cx="307238" cy="307238"/>
          </a:xfrm>
          <a:prstGeom prst="rect">
            <a:avLst/>
          </a:prstGeom>
        </p:spPr>
      </p:pic>
      <p:sp>
        <p:nvSpPr>
          <p:cNvPr id="6" name="Text 3"/>
          <p:cNvSpPr txBox="1"/>
          <p:nvPr/>
        </p:nvSpPr>
        <p:spPr>
          <a:xfrm>
            <a:off x="1508760" y="1417320"/>
            <a:ext cx="155448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Face</a:t>
            </a:r>
            <a:endParaRPr lang="en-US" sz="1800" dirty="0"/>
          </a:p>
        </p:txBody>
      </p:sp>
      <p:sp>
        <p:nvSpPr>
          <p:cNvPr id="7" name="Shape 4"/>
          <p:cNvSpPr/>
          <p:nvPr/>
        </p:nvSpPr>
        <p:spPr>
          <a:xfrm>
            <a:off x="1554480" y="1810512"/>
            <a:ext cx="868680" cy="237744"/>
          </a:xfrm>
          <a:prstGeom prst="roundRect">
            <a:avLst>
              <a:gd name="adj" fmla="val 50000"/>
            </a:avLst>
          </a:prstGeom>
          <a:solidFill>
            <a:schemeClr val="accent3">
              <a:alpha val="20000"/>
            </a:schemeClr>
          </a:solidFill>
          <a:ln w="12700">
            <a:solidFill>
              <a:schemeClr val="accent3">
                <a:alpha val="0"/>
              </a:schemeClr>
            </a:solidFill>
            <a:prstDash val="solid"/>
          </a:ln>
        </p:spPr>
      </p:sp>
      <p:sp>
        <p:nvSpPr>
          <p:cNvPr id="8" name="Text 5"/>
          <p:cNvSpPr txBox="1"/>
          <p:nvPr/>
        </p:nvSpPr>
        <p:spPr>
          <a:xfrm>
            <a:off x="1554480" y="1810512"/>
            <a:ext cx="868680" cy="237744"/>
          </a:xfrm>
          <a:prstGeom prst="rect">
            <a:avLst/>
          </a:prstGeom>
          <a:noFill/>
          <a:ln/>
        </p:spPr>
        <p:txBody>
          <a:bodyPr wrap="square" lIns="0" tIns="0" rIns="0" bIns="0" rtlCol="0" anchor="ctr"/>
          <a:lstStyle/>
          <a:p>
            <a:pPr algn="ctr" indent="0" marL="0">
              <a:buNone/>
            </a:pPr>
            <a:r>
              <a:rPr lang="en-US" sz="1100" b="1" dirty="0">
                <a:solidFill>
                  <a:schemeClr val="tx1"/>
                </a:solidFill>
              </a:rPr>
              <a:t>Required</a:t>
            </a:r>
            <a:endParaRPr lang="en-US" sz="1100" dirty="0"/>
          </a:p>
        </p:txBody>
      </p:sp>
      <p:sp>
        <p:nvSpPr>
          <p:cNvPr id="9" name="Text 6"/>
          <p:cNvSpPr txBox="1"/>
          <p:nvPr/>
        </p:nvSpPr>
        <p:spPr>
          <a:xfrm>
            <a:off x="777240" y="2468880"/>
            <a:ext cx="2103120" cy="1325880"/>
          </a:xfrm>
          <a:prstGeom prst="rect">
            <a:avLst/>
          </a:prstGeom>
          <a:noFill/>
          <a:ln/>
        </p:spPr>
        <p:txBody>
          <a:bodyPr wrap="square" lIns="0" tIns="0" rIns="0" bIns="0" rtlCol="0" anchor="t"/>
          <a:lstStyle/>
          <a:p>
            <a:pPr indent="0" marL="0">
              <a:buNone/>
            </a:pPr>
            <a:r>
              <a:rPr lang="en-US" sz="1400" dirty="0">
                <a:solidFill>
                  <a:schemeClr val="tx2"/>
                </a:solidFill>
              </a:rPr>
              <a:t>Every laptop and phone has a camera. It is quick, natural and needs no extra hardware.</a:t>
            </a:r>
            <a:endParaRPr lang="en-US" sz="1400" dirty="0"/>
          </a:p>
        </p:txBody>
      </p:sp>
      <p:sp>
        <p:nvSpPr>
          <p:cNvPr id="10" name="Shape 7"/>
          <p:cNvSpPr/>
          <p:nvPr/>
        </p:nvSpPr>
        <p:spPr>
          <a:xfrm>
            <a:off x="3291840" y="1188720"/>
            <a:ext cx="2560320" cy="2743200"/>
          </a:xfrm>
          <a:prstGeom prst="roundRect">
            <a:avLst>
              <a:gd name="adj" fmla="val 2857"/>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1" name="Voice circle"/>
          <p:cNvSpPr/>
          <p:nvPr/>
        </p:nvSpPr>
        <p:spPr>
          <a:xfrm>
            <a:off x="3520440" y="1371600"/>
            <a:ext cx="640080" cy="640080"/>
          </a:xfrm>
          <a:prstGeom prst="ellipse">
            <a:avLst/>
          </a:prstGeom>
          <a:solidFill>
            <a:schemeClr val="accent1">
              <a:alpha val="14000"/>
            </a:schemeClr>
          </a:solidFill>
          <a:ln w="12700">
            <a:solidFill>
              <a:schemeClr val="accent1">
                <a:alpha val="0"/>
              </a:schemeClr>
            </a:solidFill>
            <a:prstDash val="solid"/>
          </a:ln>
        </p:spPr>
      </p:sp>
      <p:pic>
        <p:nvPicPr>
          <p:cNvPr id="12" name="Voice" descr="Voice">    </p:cNvPr>
          <p:cNvPicPr>
            <a:picLocks noChangeAspect="1"/>
          </p:cNvPicPr>
          <p:nvPr/>
        </p:nvPicPr>
        <p:blipFill>
          <a:blip r:embed="rId2"/>
          <a:stretch>
            <a:fillRect/>
          </a:stretch>
        </p:blipFill>
        <p:spPr>
          <a:xfrm>
            <a:off x="3686861" y="1538021"/>
            <a:ext cx="307238" cy="307238"/>
          </a:xfrm>
          <a:prstGeom prst="rect">
            <a:avLst/>
          </a:prstGeom>
        </p:spPr>
      </p:pic>
      <p:sp>
        <p:nvSpPr>
          <p:cNvPr id="13" name="Text 9"/>
          <p:cNvSpPr txBox="1"/>
          <p:nvPr/>
        </p:nvSpPr>
        <p:spPr>
          <a:xfrm>
            <a:off x="4251960" y="1417320"/>
            <a:ext cx="155448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Voice</a:t>
            </a:r>
            <a:endParaRPr lang="en-US" sz="1800" dirty="0"/>
          </a:p>
        </p:txBody>
      </p:sp>
      <p:sp>
        <p:nvSpPr>
          <p:cNvPr id="14" name="Shape 10"/>
          <p:cNvSpPr/>
          <p:nvPr/>
        </p:nvSpPr>
        <p:spPr>
          <a:xfrm>
            <a:off x="4297680" y="1810512"/>
            <a:ext cx="868680" cy="237744"/>
          </a:xfrm>
          <a:prstGeom prst="roundRect">
            <a:avLst>
              <a:gd name="adj" fmla="val 50000"/>
            </a:avLst>
          </a:prstGeom>
          <a:solidFill>
            <a:schemeClr val="accent3">
              <a:alpha val="20000"/>
            </a:schemeClr>
          </a:solidFill>
          <a:ln w="12700">
            <a:solidFill>
              <a:schemeClr val="accent3">
                <a:alpha val="0"/>
              </a:schemeClr>
            </a:solidFill>
            <a:prstDash val="solid"/>
          </a:ln>
        </p:spPr>
      </p:sp>
      <p:sp>
        <p:nvSpPr>
          <p:cNvPr id="15" name="Text 11"/>
          <p:cNvSpPr txBox="1"/>
          <p:nvPr/>
        </p:nvSpPr>
        <p:spPr>
          <a:xfrm>
            <a:off x="4297680" y="1810512"/>
            <a:ext cx="868680" cy="237744"/>
          </a:xfrm>
          <a:prstGeom prst="rect">
            <a:avLst/>
          </a:prstGeom>
          <a:noFill/>
          <a:ln/>
        </p:spPr>
        <p:txBody>
          <a:bodyPr wrap="square" lIns="0" tIns="0" rIns="0" bIns="0" rtlCol="0" anchor="ctr"/>
          <a:lstStyle/>
          <a:p>
            <a:pPr algn="ctr" indent="0" marL="0">
              <a:buNone/>
            </a:pPr>
            <a:r>
              <a:rPr lang="en-US" sz="1100" b="1" dirty="0">
                <a:solidFill>
                  <a:schemeClr val="tx1"/>
                </a:solidFill>
              </a:rPr>
              <a:t>Required</a:t>
            </a:r>
            <a:endParaRPr lang="en-US" sz="1100" dirty="0"/>
          </a:p>
        </p:txBody>
      </p:sp>
      <p:sp>
        <p:nvSpPr>
          <p:cNvPr id="16" name="Text 12"/>
          <p:cNvSpPr txBox="1"/>
          <p:nvPr/>
        </p:nvSpPr>
        <p:spPr>
          <a:xfrm>
            <a:off x="3520440" y="2468880"/>
            <a:ext cx="2103120" cy="1325880"/>
          </a:xfrm>
          <a:prstGeom prst="rect">
            <a:avLst/>
          </a:prstGeom>
          <a:noFill/>
          <a:ln/>
        </p:spPr>
        <p:txBody>
          <a:bodyPr wrap="square" lIns="0" tIns="0" rIns="0" bIns="0" rtlCol="0" anchor="t"/>
          <a:lstStyle/>
          <a:p>
            <a:pPr indent="0" marL="0">
              <a:buNone/>
            </a:pPr>
            <a:r>
              <a:rPr lang="en-US" sz="1400" dirty="0">
                <a:solidFill>
                  <a:schemeClr val="tx2"/>
                </a:solidFill>
              </a:rPr>
              <a:t>Works remotely with only a microphone, and carries different information than the face.</a:t>
            </a:r>
            <a:endParaRPr lang="en-US" sz="1400" dirty="0"/>
          </a:p>
        </p:txBody>
      </p:sp>
      <p:sp>
        <p:nvSpPr>
          <p:cNvPr id="17" name="Shape 13"/>
          <p:cNvSpPr/>
          <p:nvPr/>
        </p:nvSpPr>
        <p:spPr>
          <a:xfrm>
            <a:off x="6035040" y="1188720"/>
            <a:ext cx="2560320" cy="2743200"/>
          </a:xfrm>
          <a:prstGeom prst="roundRect">
            <a:avLst>
              <a:gd name="adj" fmla="val 2857"/>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8" name="Fingerprint circle"/>
          <p:cNvSpPr/>
          <p:nvPr/>
        </p:nvSpPr>
        <p:spPr>
          <a:xfrm>
            <a:off x="6263640" y="1371600"/>
            <a:ext cx="640080" cy="640080"/>
          </a:xfrm>
          <a:prstGeom prst="ellipse">
            <a:avLst/>
          </a:prstGeom>
          <a:solidFill>
            <a:schemeClr val="accent5">
              <a:alpha val="14000"/>
            </a:schemeClr>
          </a:solidFill>
          <a:ln w="12700">
            <a:solidFill>
              <a:schemeClr val="accent5">
                <a:alpha val="0"/>
              </a:schemeClr>
            </a:solidFill>
            <a:prstDash val="solid"/>
          </a:ln>
        </p:spPr>
      </p:sp>
      <p:pic>
        <p:nvPicPr>
          <p:cNvPr id="19" name="Fingerprint" descr="Fingerprint">    </p:cNvPr>
          <p:cNvPicPr>
            <a:picLocks noChangeAspect="1"/>
          </p:cNvPicPr>
          <p:nvPr/>
        </p:nvPicPr>
        <p:blipFill>
          <a:blip r:embed="rId3"/>
          <a:stretch>
            <a:fillRect/>
          </a:stretch>
        </p:blipFill>
        <p:spPr>
          <a:xfrm>
            <a:off x="6430061" y="1538021"/>
            <a:ext cx="307238" cy="307238"/>
          </a:xfrm>
          <a:prstGeom prst="rect">
            <a:avLst/>
          </a:prstGeom>
        </p:spPr>
      </p:pic>
      <p:sp>
        <p:nvSpPr>
          <p:cNvPr id="20" name="Text 15"/>
          <p:cNvSpPr txBox="1"/>
          <p:nvPr/>
        </p:nvSpPr>
        <p:spPr>
          <a:xfrm>
            <a:off x="6995160" y="1417320"/>
            <a:ext cx="155448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Fingerprint</a:t>
            </a:r>
            <a:endParaRPr lang="en-US" sz="1800" dirty="0"/>
          </a:p>
        </p:txBody>
      </p:sp>
      <p:sp>
        <p:nvSpPr>
          <p:cNvPr id="21" name="Shape 16"/>
          <p:cNvSpPr/>
          <p:nvPr/>
        </p:nvSpPr>
        <p:spPr>
          <a:xfrm>
            <a:off x="7040880" y="1810512"/>
            <a:ext cx="868680" cy="237744"/>
          </a:xfrm>
          <a:prstGeom prst="roundRect">
            <a:avLst>
              <a:gd name="adj" fmla="val 50000"/>
            </a:avLst>
          </a:prstGeom>
          <a:solidFill>
            <a:schemeClr val="accent5">
              <a:alpha val="20000"/>
            </a:schemeClr>
          </a:solidFill>
          <a:ln w="12700">
            <a:solidFill>
              <a:schemeClr val="accent5">
                <a:alpha val="0"/>
              </a:schemeClr>
            </a:solidFill>
            <a:prstDash val="solid"/>
          </a:ln>
        </p:spPr>
      </p:sp>
      <p:sp>
        <p:nvSpPr>
          <p:cNvPr id="22" name="Text 17"/>
          <p:cNvSpPr txBox="1"/>
          <p:nvPr/>
        </p:nvSpPr>
        <p:spPr>
          <a:xfrm>
            <a:off x="7040880" y="1810512"/>
            <a:ext cx="868680" cy="237744"/>
          </a:xfrm>
          <a:prstGeom prst="rect">
            <a:avLst/>
          </a:prstGeom>
          <a:noFill/>
          <a:ln/>
        </p:spPr>
        <p:txBody>
          <a:bodyPr wrap="square" lIns="0" tIns="0" rIns="0" bIns="0" rtlCol="0" anchor="ctr"/>
          <a:lstStyle/>
          <a:p>
            <a:pPr algn="ctr" indent="0" marL="0">
              <a:buNone/>
            </a:pPr>
            <a:r>
              <a:rPr lang="en-US" sz="1100" b="1" dirty="0">
                <a:solidFill>
                  <a:schemeClr val="tx2"/>
                </a:solidFill>
              </a:rPr>
              <a:t>Optional</a:t>
            </a:r>
            <a:endParaRPr lang="en-US" sz="1100" dirty="0"/>
          </a:p>
        </p:txBody>
      </p:sp>
      <p:sp>
        <p:nvSpPr>
          <p:cNvPr id="23" name="Text 18"/>
          <p:cNvSpPr txBox="1"/>
          <p:nvPr/>
        </p:nvSpPr>
        <p:spPr>
          <a:xfrm>
            <a:off x="6263640" y="2468880"/>
            <a:ext cx="2103120" cy="1325880"/>
          </a:xfrm>
          <a:prstGeom prst="rect">
            <a:avLst/>
          </a:prstGeom>
          <a:noFill/>
          <a:ln/>
        </p:spPr>
        <p:txBody>
          <a:bodyPr wrap="square" lIns="0" tIns="0" rIns="0" bIns="0" rtlCol="0" anchor="t"/>
          <a:lstStyle/>
          <a:p>
            <a:pPr indent="0" marL="0">
              <a:buNone/>
            </a:pPr>
            <a:r>
              <a:rPr lang="en-US" sz="1400" dirty="0">
                <a:solidFill>
                  <a:schemeClr val="tx2"/>
                </a:solidFill>
              </a:rPr>
              <a:t>A strong trait, but a browser cannot read a sensor. We work on images, so it is a future enhancement.</a:t>
            </a:r>
            <a:endParaRPr lang="en-US" sz="1400" dirty="0"/>
          </a:p>
        </p:txBody>
      </p:sp>
      <p:sp>
        <p:nvSpPr>
          <p:cNvPr id="24" name="Text 19"/>
          <p:cNvSpPr txBox="1"/>
          <p:nvPr/>
        </p:nvSpPr>
        <p:spPr>
          <a:xfrm>
            <a:off x="548640" y="4114800"/>
            <a:ext cx="8046720" cy="45720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Different traits fail in different ways, so combining them covers each other's weak spots.</a:t>
            </a:r>
            <a:endParaRPr lang="en-US" sz="16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How a face or voice is recognised</a:t>
            </a:r>
            <a:endParaRPr lang="en-US" sz="2800" dirty="0"/>
          </a:p>
        </p:txBody>
      </p:sp>
      <p:sp>
        <p:nvSpPr>
          <p:cNvPr id="3" name="Shape 1"/>
          <p:cNvSpPr/>
          <p:nvPr/>
        </p:nvSpPr>
        <p:spPr>
          <a:xfrm>
            <a:off x="548640" y="1188720"/>
            <a:ext cx="1463040" cy="502920"/>
          </a:xfrm>
          <a:prstGeom prst="roundRect">
            <a:avLst>
              <a:gd name="adj" fmla="val 14545"/>
            </a:avLst>
          </a:prstGeom>
          <a:solidFill>
            <a:schemeClr val="accent1"/>
          </a:solidFill>
          <a:ln w="12700">
            <a:solidFill>
              <a:schemeClr val="accent1"/>
            </a:solidFill>
            <a:prstDash val="solid"/>
          </a:ln>
        </p:spPr>
      </p:sp>
      <p:sp>
        <p:nvSpPr>
          <p:cNvPr id="4" name="Text 2"/>
          <p:cNvSpPr txBox="1"/>
          <p:nvPr/>
        </p:nvSpPr>
        <p:spPr>
          <a:xfrm>
            <a:off x="548640" y="1188720"/>
            <a:ext cx="1463040" cy="502920"/>
          </a:xfrm>
          <a:prstGeom prst="rect">
            <a:avLst/>
          </a:prstGeom>
          <a:noFill/>
          <a:ln/>
        </p:spPr>
        <p:txBody>
          <a:bodyPr wrap="square" lIns="0" tIns="0" rIns="0" bIns="0" rtlCol="0" anchor="ctr"/>
          <a:lstStyle/>
          <a:p>
            <a:pPr algn="ctr" indent="0" marL="0">
              <a:buNone/>
            </a:pPr>
            <a:r>
              <a:rPr lang="en-US" sz="1500" b="1" dirty="0">
                <a:solidFill>
                  <a:schemeClr val="bg1"/>
                </a:solidFill>
              </a:rPr>
              <a:t>1  Sample</a:t>
            </a:r>
            <a:endParaRPr lang="en-US" sz="1500" dirty="0"/>
          </a:p>
        </p:txBody>
      </p:sp>
      <p:sp>
        <p:nvSpPr>
          <p:cNvPr id="5" name="Text 3"/>
          <p:cNvSpPr txBox="1"/>
          <p:nvPr/>
        </p:nvSpPr>
        <p:spPr>
          <a:xfrm>
            <a:off x="594360" y="1828800"/>
            <a:ext cx="1371600" cy="914400"/>
          </a:xfrm>
          <a:prstGeom prst="rect">
            <a:avLst/>
          </a:prstGeom>
          <a:noFill/>
          <a:ln/>
        </p:spPr>
        <p:txBody>
          <a:bodyPr wrap="square" lIns="0" tIns="0" rIns="0" bIns="0" rtlCol="0" anchor="t"/>
          <a:lstStyle/>
          <a:p>
            <a:pPr algn="ctr" indent="0" marL="0">
              <a:buNone/>
            </a:pPr>
            <a:r>
              <a:rPr lang="en-US" sz="1300" dirty="0">
                <a:solidFill>
                  <a:schemeClr val="tx2"/>
                </a:solidFill>
              </a:rPr>
              <a:t>A camera frame or an audio clip</a:t>
            </a:r>
            <a:endParaRPr lang="en-US" sz="1300" dirty="0"/>
          </a:p>
        </p:txBody>
      </p:sp>
      <p:sp>
        <p:nvSpPr>
          <p:cNvPr id="6" name="Shape 4"/>
          <p:cNvSpPr/>
          <p:nvPr/>
        </p:nvSpPr>
        <p:spPr>
          <a:xfrm>
            <a:off x="2029968" y="1440180"/>
            <a:ext cx="146304" cy="0"/>
          </a:xfrm>
          <a:prstGeom prst="line">
            <a:avLst/>
          </a:prstGeom>
          <a:noFill/>
          <a:ln w="19050">
            <a:solidFill>
              <a:schemeClr val="accent5"/>
            </a:solidFill>
            <a:prstDash val="solid"/>
            <a:tailEnd type="triangle"/>
          </a:ln>
        </p:spPr>
      </p:sp>
      <p:sp>
        <p:nvSpPr>
          <p:cNvPr id="7" name="Shape 5"/>
          <p:cNvSpPr/>
          <p:nvPr/>
        </p:nvSpPr>
        <p:spPr>
          <a:xfrm>
            <a:off x="2194560" y="1188720"/>
            <a:ext cx="1463040" cy="502920"/>
          </a:xfrm>
          <a:prstGeom prst="roundRect">
            <a:avLst>
              <a:gd name="adj" fmla="val 14545"/>
            </a:avLst>
          </a:prstGeom>
          <a:solidFill>
            <a:schemeClr val="accent1"/>
          </a:solidFill>
          <a:ln w="12700">
            <a:solidFill>
              <a:schemeClr val="accent1"/>
            </a:solidFill>
            <a:prstDash val="solid"/>
          </a:ln>
        </p:spPr>
      </p:sp>
      <p:sp>
        <p:nvSpPr>
          <p:cNvPr id="8" name="Text 6"/>
          <p:cNvSpPr txBox="1"/>
          <p:nvPr/>
        </p:nvSpPr>
        <p:spPr>
          <a:xfrm>
            <a:off x="2194560" y="1188720"/>
            <a:ext cx="1463040" cy="502920"/>
          </a:xfrm>
          <a:prstGeom prst="rect">
            <a:avLst/>
          </a:prstGeom>
          <a:noFill/>
          <a:ln/>
        </p:spPr>
        <p:txBody>
          <a:bodyPr wrap="square" lIns="0" tIns="0" rIns="0" bIns="0" rtlCol="0" anchor="ctr"/>
          <a:lstStyle/>
          <a:p>
            <a:pPr algn="ctr" indent="0" marL="0">
              <a:buNone/>
            </a:pPr>
            <a:r>
              <a:rPr lang="en-US" sz="1500" b="1" dirty="0">
                <a:solidFill>
                  <a:schemeClr val="bg1"/>
                </a:solidFill>
              </a:rPr>
              <a:t>2  Quality gate</a:t>
            </a:r>
            <a:endParaRPr lang="en-US" sz="1500" dirty="0"/>
          </a:p>
        </p:txBody>
      </p:sp>
      <p:sp>
        <p:nvSpPr>
          <p:cNvPr id="9" name="Text 7"/>
          <p:cNvSpPr txBox="1"/>
          <p:nvPr/>
        </p:nvSpPr>
        <p:spPr>
          <a:xfrm>
            <a:off x="2240280" y="1828800"/>
            <a:ext cx="1371600" cy="914400"/>
          </a:xfrm>
          <a:prstGeom prst="rect">
            <a:avLst/>
          </a:prstGeom>
          <a:noFill/>
          <a:ln/>
        </p:spPr>
        <p:txBody>
          <a:bodyPr wrap="square" lIns="0" tIns="0" rIns="0" bIns="0" rtlCol="0" anchor="t"/>
          <a:lstStyle/>
          <a:p>
            <a:pPr algn="ctr" indent="0" marL="0">
              <a:buNone/>
            </a:pPr>
            <a:r>
              <a:rPr lang="en-US" sz="1300" dirty="0">
                <a:solidFill>
                  <a:schemeClr val="tx2"/>
                </a:solidFill>
              </a:rPr>
              <a:t>Face found, sharp, lit. Speech present, not clipped</a:t>
            </a:r>
            <a:endParaRPr lang="en-US" sz="1300" dirty="0"/>
          </a:p>
        </p:txBody>
      </p:sp>
      <p:sp>
        <p:nvSpPr>
          <p:cNvPr id="10" name="Shape 8"/>
          <p:cNvSpPr/>
          <p:nvPr/>
        </p:nvSpPr>
        <p:spPr>
          <a:xfrm>
            <a:off x="3675888" y="1440180"/>
            <a:ext cx="146304" cy="0"/>
          </a:xfrm>
          <a:prstGeom prst="line">
            <a:avLst/>
          </a:prstGeom>
          <a:noFill/>
          <a:ln w="19050">
            <a:solidFill>
              <a:schemeClr val="accent5"/>
            </a:solidFill>
            <a:prstDash val="solid"/>
            <a:tailEnd type="triangle"/>
          </a:ln>
        </p:spPr>
      </p:sp>
      <p:sp>
        <p:nvSpPr>
          <p:cNvPr id="11" name="Shape 9"/>
          <p:cNvSpPr/>
          <p:nvPr/>
        </p:nvSpPr>
        <p:spPr>
          <a:xfrm>
            <a:off x="3840480" y="1188720"/>
            <a:ext cx="1463040" cy="502920"/>
          </a:xfrm>
          <a:prstGeom prst="roundRect">
            <a:avLst>
              <a:gd name="adj" fmla="val 14545"/>
            </a:avLst>
          </a:prstGeom>
          <a:solidFill>
            <a:schemeClr val="accent1"/>
          </a:solidFill>
          <a:ln w="12700">
            <a:solidFill>
              <a:schemeClr val="accent1"/>
            </a:solidFill>
            <a:prstDash val="solid"/>
          </a:ln>
        </p:spPr>
      </p:sp>
      <p:sp>
        <p:nvSpPr>
          <p:cNvPr id="12" name="Text 10"/>
          <p:cNvSpPr txBox="1"/>
          <p:nvPr/>
        </p:nvSpPr>
        <p:spPr>
          <a:xfrm>
            <a:off x="3840480" y="1188720"/>
            <a:ext cx="1463040" cy="502920"/>
          </a:xfrm>
          <a:prstGeom prst="rect">
            <a:avLst/>
          </a:prstGeom>
          <a:noFill/>
          <a:ln/>
        </p:spPr>
        <p:txBody>
          <a:bodyPr wrap="square" lIns="0" tIns="0" rIns="0" bIns="0" rtlCol="0" anchor="ctr"/>
          <a:lstStyle/>
          <a:p>
            <a:pPr algn="ctr" indent="0" marL="0">
              <a:buNone/>
            </a:pPr>
            <a:r>
              <a:rPr lang="en-US" sz="1500" b="1" dirty="0">
                <a:solidFill>
                  <a:schemeClr val="bg1"/>
                </a:solidFill>
              </a:rPr>
              <a:t>3  Embedding</a:t>
            </a:r>
            <a:endParaRPr lang="en-US" sz="1500" dirty="0"/>
          </a:p>
        </p:txBody>
      </p:sp>
      <p:sp>
        <p:nvSpPr>
          <p:cNvPr id="13" name="Text 11"/>
          <p:cNvSpPr txBox="1"/>
          <p:nvPr/>
        </p:nvSpPr>
        <p:spPr>
          <a:xfrm>
            <a:off x="3886200" y="1828800"/>
            <a:ext cx="1371600" cy="914400"/>
          </a:xfrm>
          <a:prstGeom prst="rect">
            <a:avLst/>
          </a:prstGeom>
          <a:noFill/>
          <a:ln/>
        </p:spPr>
        <p:txBody>
          <a:bodyPr wrap="square" lIns="0" tIns="0" rIns="0" bIns="0" rtlCol="0" anchor="t"/>
          <a:lstStyle/>
          <a:p>
            <a:pPr algn="ctr" indent="0" marL="0">
              <a:buNone/>
            </a:pPr>
            <a:r>
              <a:rPr lang="en-US" sz="1300" dirty="0">
                <a:solidFill>
                  <a:schemeClr val="tx2"/>
                </a:solidFill>
              </a:rPr>
              <a:t>128 numbers for a face, 192 for a voice</a:t>
            </a:r>
            <a:endParaRPr lang="en-US" sz="1300" dirty="0"/>
          </a:p>
        </p:txBody>
      </p:sp>
      <p:sp>
        <p:nvSpPr>
          <p:cNvPr id="14" name="Shape 12"/>
          <p:cNvSpPr/>
          <p:nvPr/>
        </p:nvSpPr>
        <p:spPr>
          <a:xfrm>
            <a:off x="5321808" y="1440180"/>
            <a:ext cx="146304" cy="0"/>
          </a:xfrm>
          <a:prstGeom prst="line">
            <a:avLst/>
          </a:prstGeom>
          <a:noFill/>
          <a:ln w="19050">
            <a:solidFill>
              <a:schemeClr val="accent5"/>
            </a:solidFill>
            <a:prstDash val="solid"/>
            <a:tailEnd type="triangle"/>
          </a:ln>
        </p:spPr>
      </p:sp>
      <p:sp>
        <p:nvSpPr>
          <p:cNvPr id="15" name="Shape 13"/>
          <p:cNvSpPr/>
          <p:nvPr/>
        </p:nvSpPr>
        <p:spPr>
          <a:xfrm>
            <a:off x="5486400" y="1188720"/>
            <a:ext cx="1463040" cy="502920"/>
          </a:xfrm>
          <a:prstGeom prst="roundRect">
            <a:avLst>
              <a:gd name="adj" fmla="val 14545"/>
            </a:avLst>
          </a:prstGeom>
          <a:solidFill>
            <a:schemeClr val="accent1"/>
          </a:solidFill>
          <a:ln w="12700">
            <a:solidFill>
              <a:schemeClr val="accent1"/>
            </a:solidFill>
            <a:prstDash val="solid"/>
          </a:ln>
        </p:spPr>
      </p:sp>
      <p:sp>
        <p:nvSpPr>
          <p:cNvPr id="16" name="Text 14"/>
          <p:cNvSpPr txBox="1"/>
          <p:nvPr/>
        </p:nvSpPr>
        <p:spPr>
          <a:xfrm>
            <a:off x="5486400" y="1188720"/>
            <a:ext cx="1463040" cy="502920"/>
          </a:xfrm>
          <a:prstGeom prst="rect">
            <a:avLst/>
          </a:prstGeom>
          <a:noFill/>
          <a:ln/>
        </p:spPr>
        <p:txBody>
          <a:bodyPr wrap="square" lIns="0" tIns="0" rIns="0" bIns="0" rtlCol="0" anchor="ctr"/>
          <a:lstStyle/>
          <a:p>
            <a:pPr algn="ctr" indent="0" marL="0">
              <a:buNone/>
            </a:pPr>
            <a:r>
              <a:rPr lang="en-US" sz="1500" b="1" dirty="0">
                <a:solidFill>
                  <a:schemeClr val="bg1"/>
                </a:solidFill>
              </a:rPr>
              <a:t>4  Compare</a:t>
            </a:r>
            <a:endParaRPr lang="en-US" sz="1500" dirty="0"/>
          </a:p>
        </p:txBody>
      </p:sp>
      <p:sp>
        <p:nvSpPr>
          <p:cNvPr id="17" name="Text 15"/>
          <p:cNvSpPr txBox="1"/>
          <p:nvPr/>
        </p:nvSpPr>
        <p:spPr>
          <a:xfrm>
            <a:off x="5532120" y="1828800"/>
            <a:ext cx="1371600" cy="914400"/>
          </a:xfrm>
          <a:prstGeom prst="rect">
            <a:avLst/>
          </a:prstGeom>
          <a:noFill/>
          <a:ln/>
        </p:spPr>
        <p:txBody>
          <a:bodyPr wrap="square" lIns="0" tIns="0" rIns="0" bIns="0" rtlCol="0" anchor="t"/>
          <a:lstStyle/>
          <a:p>
            <a:pPr algn="ctr" indent="0" marL="0">
              <a:buNone/>
            </a:pPr>
            <a:r>
              <a:rPr lang="en-US" sz="1300" dirty="0">
                <a:solidFill>
                  <a:schemeClr val="tx2"/>
                </a:solidFill>
              </a:rPr>
              <a:t>Cosine similarity to the enrolled reference</a:t>
            </a:r>
            <a:endParaRPr lang="en-US" sz="1300" dirty="0"/>
          </a:p>
        </p:txBody>
      </p:sp>
      <p:sp>
        <p:nvSpPr>
          <p:cNvPr id="18" name="Shape 16"/>
          <p:cNvSpPr/>
          <p:nvPr/>
        </p:nvSpPr>
        <p:spPr>
          <a:xfrm>
            <a:off x="6967728" y="1440180"/>
            <a:ext cx="146304" cy="0"/>
          </a:xfrm>
          <a:prstGeom prst="line">
            <a:avLst/>
          </a:prstGeom>
          <a:noFill/>
          <a:ln w="19050">
            <a:solidFill>
              <a:schemeClr val="accent5"/>
            </a:solidFill>
            <a:prstDash val="solid"/>
            <a:tailEnd type="triangle"/>
          </a:ln>
        </p:spPr>
      </p:sp>
      <p:sp>
        <p:nvSpPr>
          <p:cNvPr id="19" name="Shape 17"/>
          <p:cNvSpPr/>
          <p:nvPr/>
        </p:nvSpPr>
        <p:spPr>
          <a:xfrm>
            <a:off x="7132320" y="1188720"/>
            <a:ext cx="1463040" cy="502920"/>
          </a:xfrm>
          <a:prstGeom prst="roundRect">
            <a:avLst>
              <a:gd name="adj" fmla="val 14545"/>
            </a:avLst>
          </a:prstGeom>
          <a:solidFill>
            <a:schemeClr val="accent3"/>
          </a:solidFill>
          <a:ln w="12700">
            <a:solidFill>
              <a:schemeClr val="accent3"/>
            </a:solidFill>
            <a:prstDash val="solid"/>
          </a:ln>
        </p:spPr>
      </p:sp>
      <p:sp>
        <p:nvSpPr>
          <p:cNvPr id="20" name="Text 18"/>
          <p:cNvSpPr txBox="1"/>
          <p:nvPr/>
        </p:nvSpPr>
        <p:spPr>
          <a:xfrm>
            <a:off x="7132320" y="1188720"/>
            <a:ext cx="1463040" cy="502920"/>
          </a:xfrm>
          <a:prstGeom prst="rect">
            <a:avLst/>
          </a:prstGeom>
          <a:noFill/>
          <a:ln/>
        </p:spPr>
        <p:txBody>
          <a:bodyPr wrap="square" lIns="0" tIns="0" rIns="0" bIns="0" rtlCol="0" anchor="ctr"/>
          <a:lstStyle/>
          <a:p>
            <a:pPr algn="ctr" indent="0" marL="0">
              <a:buNone/>
            </a:pPr>
            <a:r>
              <a:rPr lang="en-US" sz="1500" b="1" dirty="0">
                <a:solidFill>
                  <a:schemeClr val="bg1"/>
                </a:solidFill>
              </a:rPr>
              <a:t>5  Confidence</a:t>
            </a:r>
            <a:endParaRPr lang="en-US" sz="1500" dirty="0"/>
          </a:p>
        </p:txBody>
      </p:sp>
      <p:sp>
        <p:nvSpPr>
          <p:cNvPr id="21" name="Text 19"/>
          <p:cNvSpPr txBox="1"/>
          <p:nvPr/>
        </p:nvSpPr>
        <p:spPr>
          <a:xfrm>
            <a:off x="7178040" y="1828800"/>
            <a:ext cx="1371600" cy="914400"/>
          </a:xfrm>
          <a:prstGeom prst="rect">
            <a:avLst/>
          </a:prstGeom>
          <a:noFill/>
          <a:ln/>
        </p:spPr>
        <p:txBody>
          <a:bodyPr wrap="square" lIns="0" tIns="0" rIns="0" bIns="0" rtlCol="0" anchor="t"/>
          <a:lstStyle/>
          <a:p>
            <a:pPr algn="ctr" indent="0" marL="0">
              <a:buNone/>
            </a:pPr>
            <a:r>
              <a:rPr lang="en-US" sz="1300" dirty="0">
                <a:solidFill>
                  <a:schemeClr val="tx2"/>
                </a:solidFill>
              </a:rPr>
              <a:t>Calibrated to a 0 to 1 match probability</a:t>
            </a:r>
            <a:endParaRPr lang="en-US" sz="1300" dirty="0"/>
          </a:p>
        </p:txBody>
      </p:sp>
      <p:sp>
        <p:nvSpPr>
          <p:cNvPr id="22" name="Shape 20"/>
          <p:cNvSpPr/>
          <p:nvPr/>
        </p:nvSpPr>
        <p:spPr>
          <a:xfrm>
            <a:off x="548640" y="3017520"/>
            <a:ext cx="3931920" cy="1417320"/>
          </a:xfrm>
          <a:prstGeom prst="roundRect">
            <a:avLst>
              <a:gd name="adj" fmla="val 5161"/>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3" name="Text 21"/>
          <p:cNvSpPr txBox="1"/>
          <p:nvPr/>
        </p:nvSpPr>
        <p:spPr>
          <a:xfrm>
            <a:off x="777240" y="3154680"/>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What is stored</a:t>
            </a:r>
            <a:endParaRPr lang="en-US" sz="1600" dirty="0"/>
          </a:p>
        </p:txBody>
      </p:sp>
      <p:sp>
        <p:nvSpPr>
          <p:cNvPr id="24" name="Text 22"/>
          <p:cNvSpPr txBox="1"/>
          <p:nvPr/>
        </p:nvSpPr>
        <p:spPr>
          <a:xfrm>
            <a:off x="777240" y="3474720"/>
            <a:ext cx="3474720" cy="914400"/>
          </a:xfrm>
          <a:prstGeom prst="rect">
            <a:avLst/>
          </a:prstGeom>
          <a:noFill/>
          <a:ln/>
        </p:spPr>
        <p:txBody>
          <a:bodyPr wrap="square" lIns="0" tIns="0" rIns="0" bIns="0" rtlCol="0" anchor="t"/>
          <a:lstStyle/>
          <a:p>
            <a:pPr indent="0" marL="0">
              <a:buNone/>
            </a:pPr>
            <a:r>
              <a:rPr lang="en-US" sz="1400" dirty="0">
                <a:solidFill>
                  <a:schemeClr val="tx2"/>
                </a:solidFill>
              </a:rPr>
              <a:t>Only the numbers, encrypted. Photos and recordings are processed in memory and never saved.</a:t>
            </a:r>
            <a:endParaRPr lang="en-US" sz="1400" dirty="0"/>
          </a:p>
        </p:txBody>
      </p:sp>
      <p:sp>
        <p:nvSpPr>
          <p:cNvPr id="25" name="Shape 23"/>
          <p:cNvSpPr/>
          <p:nvPr/>
        </p:nvSpPr>
        <p:spPr>
          <a:xfrm>
            <a:off x="4663440" y="3017520"/>
            <a:ext cx="3931920" cy="1417320"/>
          </a:xfrm>
          <a:prstGeom prst="roundRect">
            <a:avLst>
              <a:gd name="adj" fmla="val 5161"/>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6" name="Text 24"/>
          <p:cNvSpPr txBox="1"/>
          <p:nvPr/>
        </p:nvSpPr>
        <p:spPr>
          <a:xfrm>
            <a:off x="4892040" y="3154680"/>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Why calibrate</a:t>
            </a:r>
            <a:endParaRPr lang="en-US" sz="1600" dirty="0"/>
          </a:p>
        </p:txBody>
      </p:sp>
      <p:sp>
        <p:nvSpPr>
          <p:cNvPr id="27" name="Text 25"/>
          <p:cNvSpPr txBox="1"/>
          <p:nvPr/>
        </p:nvSpPr>
        <p:spPr>
          <a:xfrm>
            <a:off x="4892040" y="3474720"/>
            <a:ext cx="3474720" cy="914400"/>
          </a:xfrm>
          <a:prstGeom prst="rect">
            <a:avLst/>
          </a:prstGeom>
          <a:noFill/>
          <a:ln/>
        </p:spPr>
        <p:txBody>
          <a:bodyPr wrap="square" lIns="0" tIns="0" rIns="0" bIns="0" rtlCol="0" anchor="t"/>
          <a:lstStyle/>
          <a:p>
            <a:pPr indent="0" marL="0">
              <a:buNone/>
            </a:pPr>
            <a:r>
              <a:rPr lang="en-US" sz="1400" dirty="0">
                <a:solidFill>
                  <a:schemeClr val="tx2"/>
                </a:solidFill>
              </a:rPr>
              <a:t>Face and voice scores mean different things, so each model is mapped to a match probability before we combine them.</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Scoring how risky a payment is</a:t>
            </a:r>
            <a:endParaRPr lang="en-US" sz="2800" dirty="0"/>
          </a:p>
        </p:txBody>
      </p:sp>
      <p:sp>
        <p:nvSpPr>
          <p:cNvPr id="3" name="Shape 1"/>
          <p:cNvSpPr/>
          <p:nvPr/>
        </p:nvSpPr>
        <p:spPr>
          <a:xfrm>
            <a:off x="548640" y="1143000"/>
            <a:ext cx="4206240" cy="3337560"/>
          </a:xfrm>
          <a:prstGeom prst="roundRect">
            <a:avLst>
              <a:gd name="adj" fmla="val 2192"/>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 name="Text 2"/>
          <p:cNvSpPr txBox="1"/>
          <p:nvPr/>
        </p:nvSpPr>
        <p:spPr>
          <a:xfrm>
            <a:off x="777240" y="1261872"/>
            <a:ext cx="3749040" cy="274320"/>
          </a:xfrm>
          <a:prstGeom prst="rect">
            <a:avLst/>
          </a:prstGeom>
          <a:noFill/>
          <a:ln/>
        </p:spPr>
        <p:txBody>
          <a:bodyPr wrap="square" lIns="0" tIns="0" rIns="0" bIns="0" rtlCol="0" anchor="ctr"/>
          <a:lstStyle/>
          <a:p>
            <a:pPr indent="0" marL="0">
              <a:buNone/>
            </a:pPr>
            <a:r>
              <a:rPr lang="en-US" sz="1600" b="1" dirty="0">
                <a:solidFill>
                  <a:schemeClr val="tx1"/>
                </a:solidFill>
              </a:rPr>
              <a:t>What adds risk (points)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645920"/>
          <a:ext cx="3749040" cy="914400"/>
        </p:xfrm>
        <a:graphic>
          <a:graphicData uri="http://schemas.openxmlformats.org/drawingml/2006/table">
            <a:tbl>
              <a:tblPr/>
              <a:tblGrid>
                <a:gridCol w="2651760"/>
                <a:gridCol w="1097280"/>
              </a:tblGrid>
              <a:tr h="283464">
                <a:tc>
                  <a:txBody>
                    <a:bodyPr/>
                    <a:lstStyle/>
                    <a:p>
                      <a:pPr indent="0" marL="0">
                        <a:buNone/>
                      </a:pPr>
                      <a:r>
                        <a:rPr lang="en-US" sz="1200" dirty="0">
                          <a:solidFill>
                            <a:schemeClr val="tx2"/>
                          </a:solidFill>
                        </a:rPr>
                        <a:t>Amount</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0 to 40</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283464">
                <a:tc>
                  <a:txBody>
                    <a:bodyPr/>
                    <a:lstStyle/>
                    <a:p>
                      <a:pPr indent="0" marL="0">
                        <a:buNone/>
                      </a:pPr>
                      <a:r>
                        <a:rPr lang="en-US" sz="1200" dirty="0">
                          <a:solidFill>
                            <a:schemeClr val="tx2"/>
                          </a:solidFill>
                        </a:rPr>
                        <a:t>New recipient</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+20</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283464">
                <a:tc>
                  <a:txBody>
                    <a:bodyPr/>
                    <a:lstStyle/>
                    <a:p>
                      <a:pPr indent="0" marL="0">
                        <a:buNone/>
                      </a:pPr>
                      <a:r>
                        <a:rPr lang="en-US" sz="1200" dirty="0">
                          <a:solidFill>
                            <a:schemeClr val="tx2"/>
                          </a:solidFill>
                        </a:rPr>
                        <a:t>International</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+12</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283464">
                <a:tc>
                  <a:txBody>
                    <a:bodyPr/>
                    <a:lstStyle/>
                    <a:p>
                      <a:pPr indent="0" marL="0">
                        <a:buNone/>
                      </a:pPr>
                      <a:r>
                        <a:rPr lang="en-US" sz="1200" dirty="0">
                          <a:solidFill>
                            <a:schemeClr val="tx2"/>
                          </a:solidFill>
                        </a:rPr>
                        <a:t>New device</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+10</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283464">
                <a:tc>
                  <a:txBody>
                    <a:bodyPr/>
                    <a:lstStyle/>
                    <a:p>
                      <a:pPr indent="0" marL="0">
                        <a:buNone/>
                      </a:pPr>
                      <a:r>
                        <a:rPr lang="en-US" sz="1200" dirty="0">
                          <a:solidFill>
                            <a:schemeClr val="tx2"/>
                          </a:solidFill>
                        </a:rPr>
                        <a:t>Unusual amount for this user</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+12</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283464">
                <a:tc>
                  <a:txBody>
                    <a:bodyPr/>
                    <a:lstStyle/>
                    <a:p>
                      <a:pPr indent="0" marL="0">
                        <a:buNone/>
                      </a:pPr>
                      <a:r>
                        <a:rPr lang="en-US" sz="1200" dirty="0">
                          <a:solidFill>
                            <a:schemeClr val="tx2"/>
                          </a:solidFill>
                        </a:rPr>
                        <a:t>Several payments in minutes</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+10 / +20</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283464">
                <a:tc>
                  <a:txBody>
                    <a:bodyPr/>
                    <a:lstStyle/>
                    <a:p>
                      <a:pPr indent="0" marL="0">
                        <a:buNone/>
                      </a:pPr>
                      <a:r>
                        <a:rPr lang="en-US" sz="1200" dirty="0">
                          <a:solidFill>
                            <a:schemeClr val="tx2"/>
                          </a:solidFill>
                        </a:rPr>
                        <a:t>Unusual hour for this user</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+8</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283464">
                <a:tc>
                  <a:txBody>
                    <a:bodyPr/>
                    <a:lstStyle/>
                    <a:p>
                      <a:pPr indent="0" marL="0">
                        <a:buNone/>
                      </a:pPr>
                      <a:r>
                        <a:rPr lang="en-US" sz="1200" dirty="0">
                          <a:solidFill>
                            <a:schemeClr val="tx2"/>
                          </a:solidFill>
                        </a:rPr>
                        <a:t>New account, large amount</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+10</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283464">
                <a:tc>
                  <a:txBody>
                    <a:bodyPr/>
                    <a:lstStyle/>
                    <a:p>
                      <a:pPr indent="0" marL="0">
                        <a:buNone/>
                      </a:pPr>
                      <a:r>
                        <a:rPr lang="en-US" sz="1200" dirty="0">
                          <a:solidFill>
                            <a:schemeClr val="tx2"/>
                          </a:solidFill>
                        </a:rPr>
                        <a:t>Biometrics changed recently</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+12</a:t>
                      </a:r>
                      <a:endParaRPr lang="en-US" sz="1200" dirty="0"/>
                    </a:p>
                  </a:txBody>
                  <a:tcPr marL="0" marR="0" marT="0" marB="0">
                    <a:lnL w="0" cap="flat" cmpd="sng" algn="ctr">
                      <a:noFill/>
                    </a:lnL>
                    <a:lnR w="0" cap="flat" cmpd="sng" algn="ctr">
                      <a:noFill/>
                    </a:lnR>
                    <a:lnT w="0" cap="flat" cmpd="sng" algn="ctr">
                      <a:noFill/>
                    </a:lnT>
                    <a:lnB w="0" cap="flat" cmpd="sng" algn="ctr">
                      <a:noFill/>
                    </a:lnB>
                  </a:tcPr>
                </a:tc>
              </a:tr>
            </a:tbl>
          </a:graphicData>
        </a:graphic>
      </p:graphicFrame>
      <p:sp>
        <p:nvSpPr>
          <p:cNvPr id="6" name="Text 3"/>
          <p:cNvSpPr txBox="1"/>
          <p:nvPr/>
        </p:nvSpPr>
        <p:spPr>
          <a:xfrm>
            <a:off x="5029200" y="1261872"/>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Four risk levels</a:t>
            </a:r>
            <a:endParaRPr lang="en-US" sz="1600" dirty="0"/>
          </a:p>
        </p:txBody>
      </p:sp>
      <p:sp>
        <p:nvSpPr>
          <p:cNvPr id="7" name="Shape 4"/>
          <p:cNvSpPr/>
          <p:nvPr/>
        </p:nvSpPr>
        <p:spPr>
          <a:xfrm>
            <a:off x="5029200" y="1691640"/>
            <a:ext cx="841248" cy="457200"/>
          </a:xfrm>
          <a:prstGeom prst="roundRect">
            <a:avLst>
              <a:gd name="adj" fmla="val 10000"/>
            </a:avLst>
          </a:prstGeom>
          <a:solidFill>
            <a:schemeClr val="accent3"/>
          </a:solidFill>
          <a:ln w="12700">
            <a:solidFill>
              <a:schemeClr val="accent3"/>
            </a:solidFill>
            <a:prstDash val="solid"/>
          </a:ln>
        </p:spPr>
      </p:sp>
      <p:sp>
        <p:nvSpPr>
          <p:cNvPr id="8" name="Text 5"/>
          <p:cNvSpPr txBox="1"/>
          <p:nvPr/>
        </p:nvSpPr>
        <p:spPr>
          <a:xfrm>
            <a:off x="5029200" y="1691640"/>
            <a:ext cx="841248" cy="457200"/>
          </a:xfrm>
          <a:prstGeom prst="rect">
            <a:avLst/>
          </a:prstGeom>
          <a:noFill/>
          <a:ln/>
        </p:spPr>
        <p:txBody>
          <a:bodyPr wrap="square" lIns="0" tIns="0" rIns="0" bIns="0" rtlCol="0" anchor="ctr"/>
          <a:lstStyle/>
          <a:p>
            <a:pPr algn="ctr" indent="0" marL="0">
              <a:buNone/>
            </a:pPr>
            <a:r>
              <a:rPr lang="en-US" sz="1200" b="1" dirty="0">
                <a:solidFill>
                  <a:schemeClr val="bg1"/>
                </a:solidFill>
              </a:rPr>
              <a:t>Low</a:t>
            </a:r>
            <a:endParaRPr lang="en-US" sz="1200" dirty="0"/>
          </a:p>
        </p:txBody>
      </p:sp>
      <p:sp>
        <p:nvSpPr>
          <p:cNvPr id="9" name="Text 6"/>
          <p:cNvSpPr txBox="1"/>
          <p:nvPr/>
        </p:nvSpPr>
        <p:spPr>
          <a:xfrm>
            <a:off x="5029200" y="2212848"/>
            <a:ext cx="841248" cy="228600"/>
          </a:xfrm>
          <a:prstGeom prst="rect">
            <a:avLst/>
          </a:prstGeom>
          <a:noFill/>
          <a:ln/>
        </p:spPr>
        <p:txBody>
          <a:bodyPr wrap="square" lIns="0" tIns="0" rIns="0" bIns="0" rtlCol="0" anchor="ctr"/>
          <a:lstStyle/>
          <a:p>
            <a:pPr algn="ctr" indent="0" marL="0">
              <a:buNone/>
            </a:pPr>
            <a:r>
              <a:rPr lang="en-US" sz="1100" dirty="0">
                <a:solidFill>
                  <a:schemeClr val="tx2"/>
                </a:solidFill>
              </a:rPr>
              <a:t>under 25</a:t>
            </a:r>
            <a:endParaRPr lang="en-US" sz="1100" dirty="0"/>
          </a:p>
        </p:txBody>
      </p:sp>
      <p:sp>
        <p:nvSpPr>
          <p:cNvPr id="10" name="Shape 7"/>
          <p:cNvSpPr/>
          <p:nvPr/>
        </p:nvSpPr>
        <p:spPr>
          <a:xfrm>
            <a:off x="5925312" y="1691640"/>
            <a:ext cx="841248" cy="457200"/>
          </a:xfrm>
          <a:prstGeom prst="roundRect">
            <a:avLst>
              <a:gd name="adj" fmla="val 10000"/>
            </a:avLst>
          </a:prstGeom>
          <a:solidFill>
            <a:schemeClr val="accent1"/>
          </a:solidFill>
          <a:ln w="12700">
            <a:solidFill>
              <a:schemeClr val="accent1"/>
            </a:solidFill>
            <a:prstDash val="solid"/>
          </a:ln>
        </p:spPr>
      </p:sp>
      <p:sp>
        <p:nvSpPr>
          <p:cNvPr id="11" name="Text 8"/>
          <p:cNvSpPr txBox="1"/>
          <p:nvPr/>
        </p:nvSpPr>
        <p:spPr>
          <a:xfrm>
            <a:off x="5925312" y="1691640"/>
            <a:ext cx="841248" cy="457200"/>
          </a:xfrm>
          <a:prstGeom prst="rect">
            <a:avLst/>
          </a:prstGeom>
          <a:noFill/>
          <a:ln/>
        </p:spPr>
        <p:txBody>
          <a:bodyPr wrap="square" lIns="0" tIns="0" rIns="0" bIns="0" rtlCol="0" anchor="ctr"/>
          <a:lstStyle/>
          <a:p>
            <a:pPr algn="ctr" indent="0" marL="0">
              <a:buNone/>
            </a:pPr>
            <a:r>
              <a:rPr lang="en-US" sz="1200" b="1" dirty="0">
                <a:solidFill>
                  <a:schemeClr val="bg1"/>
                </a:solidFill>
              </a:rPr>
              <a:t>Medium</a:t>
            </a:r>
            <a:endParaRPr lang="en-US" sz="1200" dirty="0"/>
          </a:p>
        </p:txBody>
      </p:sp>
      <p:sp>
        <p:nvSpPr>
          <p:cNvPr id="12" name="Text 9"/>
          <p:cNvSpPr txBox="1"/>
          <p:nvPr/>
        </p:nvSpPr>
        <p:spPr>
          <a:xfrm>
            <a:off x="5925312" y="2212848"/>
            <a:ext cx="841248" cy="228600"/>
          </a:xfrm>
          <a:prstGeom prst="rect">
            <a:avLst/>
          </a:prstGeom>
          <a:noFill/>
          <a:ln/>
        </p:spPr>
        <p:txBody>
          <a:bodyPr wrap="square" lIns="0" tIns="0" rIns="0" bIns="0" rtlCol="0" anchor="ctr"/>
          <a:lstStyle/>
          <a:p>
            <a:pPr algn="ctr" indent="0" marL="0">
              <a:buNone/>
            </a:pPr>
            <a:r>
              <a:rPr lang="en-US" sz="1100" dirty="0">
                <a:solidFill>
                  <a:schemeClr val="tx2"/>
                </a:solidFill>
              </a:rPr>
              <a:t>25 to 49</a:t>
            </a:r>
            <a:endParaRPr lang="en-US" sz="1100" dirty="0"/>
          </a:p>
        </p:txBody>
      </p:sp>
      <p:sp>
        <p:nvSpPr>
          <p:cNvPr id="13" name="Shape 10"/>
          <p:cNvSpPr/>
          <p:nvPr/>
        </p:nvSpPr>
        <p:spPr>
          <a:xfrm>
            <a:off x="6821424" y="1691640"/>
            <a:ext cx="841248" cy="457200"/>
          </a:xfrm>
          <a:prstGeom prst="roundRect">
            <a:avLst>
              <a:gd name="adj" fmla="val 10000"/>
            </a:avLst>
          </a:prstGeom>
          <a:solidFill>
            <a:schemeClr val="accent2"/>
          </a:solidFill>
          <a:ln w="12700">
            <a:solidFill>
              <a:schemeClr val="accent2"/>
            </a:solidFill>
            <a:prstDash val="solid"/>
          </a:ln>
        </p:spPr>
      </p:sp>
      <p:sp>
        <p:nvSpPr>
          <p:cNvPr id="14" name="Text 11"/>
          <p:cNvSpPr txBox="1"/>
          <p:nvPr/>
        </p:nvSpPr>
        <p:spPr>
          <a:xfrm>
            <a:off x="6821424" y="1691640"/>
            <a:ext cx="841248" cy="457200"/>
          </a:xfrm>
          <a:prstGeom prst="rect">
            <a:avLst/>
          </a:prstGeom>
          <a:no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15" name="Text 12"/>
          <p:cNvSpPr txBox="1"/>
          <p:nvPr/>
        </p:nvSpPr>
        <p:spPr>
          <a:xfrm>
            <a:off x="6821424" y="2212848"/>
            <a:ext cx="841248" cy="228600"/>
          </a:xfrm>
          <a:prstGeom prst="rect">
            <a:avLst/>
          </a:prstGeom>
          <a:noFill/>
          <a:ln/>
        </p:spPr>
        <p:txBody>
          <a:bodyPr wrap="square" lIns="0" tIns="0" rIns="0" bIns="0" rtlCol="0" anchor="ctr"/>
          <a:lstStyle/>
          <a:p>
            <a:pPr algn="ctr" indent="0" marL="0">
              <a:buNone/>
            </a:pPr>
            <a:r>
              <a:rPr lang="en-US" sz="1100" dirty="0">
                <a:solidFill>
                  <a:schemeClr val="tx2"/>
                </a:solidFill>
              </a:rPr>
              <a:t>50 to 74</a:t>
            </a:r>
            <a:endParaRPr lang="en-US" sz="1100" dirty="0"/>
          </a:p>
        </p:txBody>
      </p:sp>
      <p:sp>
        <p:nvSpPr>
          <p:cNvPr id="16" name="Shape 13"/>
          <p:cNvSpPr/>
          <p:nvPr/>
        </p:nvSpPr>
        <p:spPr>
          <a:xfrm>
            <a:off x="7717536" y="1691640"/>
            <a:ext cx="841248" cy="457200"/>
          </a:xfrm>
          <a:prstGeom prst="roundRect">
            <a:avLst>
              <a:gd name="adj" fmla="val 10000"/>
            </a:avLst>
          </a:prstGeom>
          <a:solidFill>
            <a:schemeClr val="accent4"/>
          </a:solidFill>
          <a:ln w="12700">
            <a:solidFill>
              <a:schemeClr val="accent4"/>
            </a:solidFill>
            <a:prstDash val="solid"/>
          </a:ln>
        </p:spPr>
      </p:sp>
      <p:sp>
        <p:nvSpPr>
          <p:cNvPr id="17" name="Text 14"/>
          <p:cNvSpPr txBox="1"/>
          <p:nvPr/>
        </p:nvSpPr>
        <p:spPr>
          <a:xfrm>
            <a:off x="7717536" y="1691640"/>
            <a:ext cx="841248" cy="457200"/>
          </a:xfrm>
          <a:prstGeom prst="rect">
            <a:avLst/>
          </a:prstGeom>
          <a:noFill/>
          <a:ln/>
        </p:spPr>
        <p:txBody>
          <a:bodyPr wrap="square" lIns="0" tIns="0" rIns="0" bIns="0" rtlCol="0" anchor="ctr"/>
          <a:lstStyle/>
          <a:p>
            <a:pPr algn="ctr" indent="0" marL="0">
              <a:buNone/>
            </a:pPr>
            <a:r>
              <a:rPr lang="en-US" sz="1200" b="1" dirty="0">
                <a:solidFill>
                  <a:schemeClr val="bg1"/>
                </a:solidFill>
              </a:rPr>
              <a:t>Critical</a:t>
            </a:r>
            <a:endParaRPr lang="en-US" sz="1200" dirty="0"/>
          </a:p>
        </p:txBody>
      </p:sp>
      <p:sp>
        <p:nvSpPr>
          <p:cNvPr id="18" name="Text 15"/>
          <p:cNvSpPr txBox="1"/>
          <p:nvPr/>
        </p:nvSpPr>
        <p:spPr>
          <a:xfrm>
            <a:off x="7717536" y="2212848"/>
            <a:ext cx="841248" cy="228600"/>
          </a:xfrm>
          <a:prstGeom prst="rect">
            <a:avLst/>
          </a:prstGeom>
          <a:noFill/>
          <a:ln/>
        </p:spPr>
        <p:txBody>
          <a:bodyPr wrap="square" lIns="0" tIns="0" rIns="0" bIns="0" rtlCol="0" anchor="ctr"/>
          <a:lstStyle/>
          <a:p>
            <a:pPr algn="ctr" indent="0" marL="0">
              <a:buNone/>
            </a:pPr>
            <a:r>
              <a:rPr lang="en-US" sz="1100" dirty="0">
                <a:solidFill>
                  <a:schemeClr val="tx2"/>
                </a:solidFill>
              </a:rPr>
              <a:t>75 and up</a:t>
            </a:r>
            <a:endParaRPr lang="en-US" sz="1100" dirty="0"/>
          </a:p>
        </p:txBody>
      </p:sp>
      <p:sp>
        <p:nvSpPr>
          <p:cNvPr id="19" name="Text 16"/>
          <p:cNvSpPr txBox="1"/>
          <p:nvPr/>
        </p:nvSpPr>
        <p:spPr>
          <a:xfrm>
            <a:off x="5029200" y="2834640"/>
            <a:ext cx="3566160" cy="822960"/>
          </a:xfrm>
          <a:prstGeom prst="rect">
            <a:avLst/>
          </a:prstGeom>
          <a:noFill/>
          <a:ln/>
        </p:spPr>
        <p:txBody>
          <a:bodyPr wrap="square" lIns="0" tIns="0" rIns="0" bIns="0" rtlCol="0" anchor="t"/>
          <a:lstStyle/>
          <a:p>
            <a:pPr indent="0" marL="0">
              <a:buNone/>
            </a:pPr>
            <a:r>
              <a:rPr lang="en-US" sz="1400" dirty="0">
                <a:solidFill>
                  <a:schemeClr val="tx2"/>
                </a:solidFill>
              </a:rPr>
              <a:t>Rule based and explainable: every point is shown to the user. It is not a trained fraud model.</a:t>
            </a:r>
            <a:endParaRPr lang="en-US" sz="1400" dirty="0"/>
          </a:p>
        </p:txBody>
      </p:sp>
      <p:sp>
        <p:nvSpPr>
          <p:cNvPr id="20" name="Text 17"/>
          <p:cNvSpPr txBox="1"/>
          <p:nvPr/>
        </p:nvSpPr>
        <p:spPr>
          <a:xfrm>
            <a:off x="5029200" y="3749040"/>
            <a:ext cx="3566160" cy="640080"/>
          </a:xfrm>
          <a:prstGeom prst="rect">
            <a:avLst/>
          </a:prstGeom>
          <a:noFill/>
          <a:ln/>
        </p:spPr>
        <p:txBody>
          <a:bodyPr wrap="square" lIns="0" tIns="0" rIns="0" bIns="0" rtlCol="0" anchor="t"/>
          <a:lstStyle/>
          <a:p>
            <a:pPr indent="0" marL="0">
              <a:buNone/>
            </a:pPr>
            <a:r>
              <a:rPr lang="en-US" sz="1400" i="1" dirty="0">
                <a:solidFill>
                  <a:schemeClr val="tx1"/>
                </a:solidFill>
              </a:rPr>
              <a:t>The time factors learn your usual hours from your approved payments.</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Combining the evidence into a decision</a:t>
            </a:r>
            <a:endParaRPr lang="en-US" sz="2800" dirty="0"/>
          </a:p>
        </p:txBody>
      </p:sp>
      <p:sp>
        <p:nvSpPr>
          <p:cNvPr id="3" name="Shape 1"/>
          <p:cNvSpPr/>
          <p:nvPr/>
        </p:nvSpPr>
        <p:spPr>
          <a:xfrm>
            <a:off x="548640" y="1143000"/>
            <a:ext cx="1783080" cy="868680"/>
          </a:xfrm>
          <a:prstGeom prst="roundRect">
            <a:avLst>
              <a:gd name="adj" fmla="val 8421"/>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 name="Text 2"/>
          <p:cNvSpPr txBox="1"/>
          <p:nvPr/>
        </p:nvSpPr>
        <p:spPr>
          <a:xfrm>
            <a:off x="640080" y="1261872"/>
            <a:ext cx="1600200" cy="274320"/>
          </a:xfrm>
          <a:prstGeom prst="rect">
            <a:avLst/>
          </a:prstGeom>
          <a:noFill/>
          <a:ln/>
        </p:spPr>
        <p:txBody>
          <a:bodyPr wrap="square" lIns="0" tIns="0" rIns="0" bIns="0" rtlCol="0" anchor="ctr"/>
          <a:lstStyle/>
          <a:p>
            <a:pPr algn="ctr" indent="0" marL="0">
              <a:buNone/>
            </a:pPr>
            <a:r>
              <a:rPr lang="en-US" sz="1500" b="1" dirty="0">
                <a:solidFill>
                  <a:schemeClr val="tx1"/>
                </a:solidFill>
              </a:rPr>
              <a:t>Evidence</a:t>
            </a:r>
            <a:endParaRPr lang="en-US" sz="1500" dirty="0"/>
          </a:p>
        </p:txBody>
      </p:sp>
      <p:sp>
        <p:nvSpPr>
          <p:cNvPr id="5" name="Text 3"/>
          <p:cNvSpPr txBox="1"/>
          <p:nvPr/>
        </p:nvSpPr>
        <p:spPr>
          <a:xfrm>
            <a:off x="640080" y="1554480"/>
            <a:ext cx="1600200" cy="274320"/>
          </a:xfrm>
          <a:prstGeom prst="rect">
            <a:avLst/>
          </a:prstGeom>
          <a:noFill/>
          <a:ln/>
        </p:spPr>
        <p:txBody>
          <a:bodyPr wrap="square" lIns="0" tIns="0" rIns="0" bIns="0" rtlCol="0" anchor="ctr"/>
          <a:lstStyle/>
          <a:p>
            <a:pPr algn="ctr" indent="0" marL="0">
              <a:buNone/>
            </a:pPr>
            <a:r>
              <a:rPr lang="en-US" sz="1200" dirty="0">
                <a:solidFill>
                  <a:schemeClr val="tx2"/>
                </a:solidFill>
              </a:rPr>
              <a:t>per modality</a:t>
            </a:r>
            <a:endParaRPr lang="en-US" sz="1200" dirty="0"/>
          </a:p>
        </p:txBody>
      </p:sp>
      <p:sp>
        <p:nvSpPr>
          <p:cNvPr id="6" name="Shape 4"/>
          <p:cNvSpPr/>
          <p:nvPr/>
        </p:nvSpPr>
        <p:spPr>
          <a:xfrm>
            <a:off x="2359152" y="1572768"/>
            <a:ext cx="246888" cy="0"/>
          </a:xfrm>
          <a:prstGeom prst="line">
            <a:avLst/>
          </a:prstGeom>
          <a:noFill/>
          <a:ln w="19050">
            <a:solidFill>
              <a:schemeClr val="accent5"/>
            </a:solidFill>
            <a:prstDash val="solid"/>
            <a:tailEnd type="triangle"/>
          </a:ln>
        </p:spPr>
      </p:sp>
      <p:sp>
        <p:nvSpPr>
          <p:cNvPr id="7" name="Shape 5"/>
          <p:cNvSpPr/>
          <p:nvPr/>
        </p:nvSpPr>
        <p:spPr>
          <a:xfrm>
            <a:off x="2633472" y="1143000"/>
            <a:ext cx="1783080" cy="868680"/>
          </a:xfrm>
          <a:prstGeom prst="roundRect">
            <a:avLst>
              <a:gd name="adj" fmla="val 8421"/>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8" name="Text 6"/>
          <p:cNvSpPr txBox="1"/>
          <p:nvPr/>
        </p:nvSpPr>
        <p:spPr>
          <a:xfrm>
            <a:off x="2724912" y="1261872"/>
            <a:ext cx="1600200" cy="274320"/>
          </a:xfrm>
          <a:prstGeom prst="rect">
            <a:avLst/>
          </a:prstGeom>
          <a:noFill/>
          <a:ln/>
        </p:spPr>
        <p:txBody>
          <a:bodyPr wrap="square" lIns="0" tIns="0" rIns="0" bIns="0" rtlCol="0" anchor="ctr"/>
          <a:lstStyle/>
          <a:p>
            <a:pPr algn="ctr" indent="0" marL="0">
              <a:buNone/>
            </a:pPr>
            <a:r>
              <a:rPr lang="en-US" sz="1500" b="1" dirty="0">
                <a:solidFill>
                  <a:schemeClr val="tx1"/>
                </a:solidFill>
              </a:rPr>
              <a:t>Weigh by quality</a:t>
            </a:r>
            <a:endParaRPr lang="en-US" sz="1500" dirty="0"/>
          </a:p>
        </p:txBody>
      </p:sp>
      <p:sp>
        <p:nvSpPr>
          <p:cNvPr id="9" name="Text 7"/>
          <p:cNvSpPr txBox="1"/>
          <p:nvPr/>
        </p:nvSpPr>
        <p:spPr>
          <a:xfrm>
            <a:off x="2724912" y="1554480"/>
            <a:ext cx="1600200" cy="274320"/>
          </a:xfrm>
          <a:prstGeom prst="rect">
            <a:avLst/>
          </a:prstGeom>
          <a:noFill/>
          <a:ln/>
        </p:spPr>
        <p:txBody>
          <a:bodyPr wrap="square" lIns="0" tIns="0" rIns="0" bIns="0" rtlCol="0" anchor="ctr"/>
          <a:lstStyle/>
          <a:p>
            <a:pPr algn="ctr" indent="0" marL="0">
              <a:buNone/>
            </a:pPr>
            <a:r>
              <a:rPr lang="en-US" sz="1200" dirty="0">
                <a:solidFill>
                  <a:schemeClr val="tx2"/>
                </a:solidFill>
              </a:rPr>
              <a:t>poor input counts less</a:t>
            </a:r>
            <a:endParaRPr lang="en-US" sz="1200" dirty="0"/>
          </a:p>
        </p:txBody>
      </p:sp>
      <p:sp>
        <p:nvSpPr>
          <p:cNvPr id="10" name="Shape 8"/>
          <p:cNvSpPr/>
          <p:nvPr/>
        </p:nvSpPr>
        <p:spPr>
          <a:xfrm>
            <a:off x="4443984" y="1572768"/>
            <a:ext cx="246888" cy="0"/>
          </a:xfrm>
          <a:prstGeom prst="line">
            <a:avLst/>
          </a:prstGeom>
          <a:noFill/>
          <a:ln w="19050">
            <a:solidFill>
              <a:schemeClr val="accent5"/>
            </a:solidFill>
            <a:prstDash val="solid"/>
            <a:tailEnd type="triangle"/>
          </a:ln>
        </p:spPr>
      </p:sp>
      <p:sp>
        <p:nvSpPr>
          <p:cNvPr id="11" name="Shape 9"/>
          <p:cNvSpPr/>
          <p:nvPr/>
        </p:nvSpPr>
        <p:spPr>
          <a:xfrm>
            <a:off x="4718304" y="1143000"/>
            <a:ext cx="1783080" cy="868680"/>
          </a:xfrm>
          <a:prstGeom prst="roundRect">
            <a:avLst>
              <a:gd name="adj" fmla="val 8421"/>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2" name="Text 10"/>
          <p:cNvSpPr txBox="1"/>
          <p:nvPr/>
        </p:nvSpPr>
        <p:spPr>
          <a:xfrm>
            <a:off x="4809744" y="1261872"/>
            <a:ext cx="1600200" cy="274320"/>
          </a:xfrm>
          <a:prstGeom prst="rect">
            <a:avLst/>
          </a:prstGeom>
          <a:noFill/>
          <a:ln/>
        </p:spPr>
        <p:txBody>
          <a:bodyPr wrap="square" lIns="0" tIns="0" rIns="0" bIns="0" rtlCol="0" anchor="ctr"/>
          <a:lstStyle/>
          <a:p>
            <a:pPr algn="ctr" indent="0" marL="0">
              <a:buNone/>
            </a:pPr>
            <a:r>
              <a:rPr lang="en-US" sz="1500" b="1" dirty="0">
                <a:solidFill>
                  <a:schemeClr val="tx1"/>
                </a:solidFill>
              </a:rPr>
              <a:t>Fused score</a:t>
            </a:r>
            <a:endParaRPr lang="en-US" sz="1500" dirty="0"/>
          </a:p>
        </p:txBody>
      </p:sp>
      <p:sp>
        <p:nvSpPr>
          <p:cNvPr id="13" name="Text 11"/>
          <p:cNvSpPr txBox="1"/>
          <p:nvPr/>
        </p:nvSpPr>
        <p:spPr>
          <a:xfrm>
            <a:off x="4809744" y="1554480"/>
            <a:ext cx="1600200" cy="274320"/>
          </a:xfrm>
          <a:prstGeom prst="rect">
            <a:avLst/>
          </a:prstGeom>
          <a:noFill/>
          <a:ln/>
        </p:spPr>
        <p:txBody>
          <a:bodyPr wrap="square" lIns="0" tIns="0" rIns="0" bIns="0" rtlCol="0" anchor="ctr"/>
          <a:lstStyle/>
          <a:p>
            <a:pPr algn="ctr" indent="0" marL="0">
              <a:buNone/>
            </a:pPr>
            <a:r>
              <a:rPr lang="en-US" sz="1200" dirty="0">
                <a:solidFill>
                  <a:schemeClr val="tx2"/>
                </a:solidFill>
              </a:rPr>
              <a:t>plus coverage</a:t>
            </a:r>
            <a:endParaRPr lang="en-US" sz="1200" dirty="0"/>
          </a:p>
        </p:txBody>
      </p:sp>
      <p:sp>
        <p:nvSpPr>
          <p:cNvPr id="14" name="Shape 12"/>
          <p:cNvSpPr/>
          <p:nvPr/>
        </p:nvSpPr>
        <p:spPr>
          <a:xfrm>
            <a:off x="6528816" y="1572768"/>
            <a:ext cx="246888" cy="0"/>
          </a:xfrm>
          <a:prstGeom prst="line">
            <a:avLst/>
          </a:prstGeom>
          <a:noFill/>
          <a:ln w="19050">
            <a:solidFill>
              <a:schemeClr val="accent5"/>
            </a:solidFill>
            <a:prstDash val="solid"/>
            <a:tailEnd type="triangle"/>
          </a:ln>
        </p:spPr>
      </p:sp>
      <p:sp>
        <p:nvSpPr>
          <p:cNvPr id="15" name="Shape 13"/>
          <p:cNvSpPr/>
          <p:nvPr/>
        </p:nvSpPr>
        <p:spPr>
          <a:xfrm>
            <a:off x="6803136" y="1143000"/>
            <a:ext cx="1783080" cy="868680"/>
          </a:xfrm>
          <a:prstGeom prst="roundRect">
            <a:avLst>
              <a:gd name="adj" fmla="val 8421"/>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6" name="Text 14"/>
          <p:cNvSpPr txBox="1"/>
          <p:nvPr/>
        </p:nvSpPr>
        <p:spPr>
          <a:xfrm>
            <a:off x="6894576" y="1261872"/>
            <a:ext cx="1600200" cy="274320"/>
          </a:xfrm>
          <a:prstGeom prst="rect">
            <a:avLst/>
          </a:prstGeom>
          <a:noFill/>
          <a:ln/>
        </p:spPr>
        <p:txBody>
          <a:bodyPr wrap="square" lIns="0" tIns="0" rIns="0" bIns="0" rtlCol="0" anchor="ctr"/>
          <a:lstStyle/>
          <a:p>
            <a:pPr algn="ctr" indent="0" marL="0">
              <a:buNone/>
            </a:pPr>
            <a:r>
              <a:rPr lang="en-US" sz="1500" b="1" dirty="0">
                <a:solidFill>
                  <a:schemeClr val="tx1"/>
                </a:solidFill>
              </a:rPr>
              <a:t>Risk sets the bar</a:t>
            </a:r>
            <a:endParaRPr lang="en-US" sz="1500" dirty="0"/>
          </a:p>
        </p:txBody>
      </p:sp>
      <p:sp>
        <p:nvSpPr>
          <p:cNvPr id="17" name="Text 15"/>
          <p:cNvSpPr txBox="1"/>
          <p:nvPr/>
        </p:nvSpPr>
        <p:spPr>
          <a:xfrm>
            <a:off x="6894576" y="1554480"/>
            <a:ext cx="1600200" cy="274320"/>
          </a:xfrm>
          <a:prstGeom prst="rect">
            <a:avLst/>
          </a:prstGeom>
          <a:noFill/>
          <a:ln/>
        </p:spPr>
        <p:txBody>
          <a:bodyPr wrap="square" lIns="0" tIns="0" rIns="0" bIns="0" rtlCol="0" anchor="ctr"/>
          <a:lstStyle/>
          <a:p>
            <a:pPr algn="ctr" indent="0" marL="0">
              <a:buNone/>
            </a:pPr>
            <a:r>
              <a:rPr lang="en-US" sz="1200" dirty="0">
                <a:solidFill>
                  <a:schemeClr val="tx2"/>
                </a:solidFill>
              </a:rPr>
              <a:t>thresholds per level</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4297680" cy="914400"/>
        </p:xfrm>
        <a:graphic>
          <a:graphicData uri="http://schemas.openxmlformats.org/drawingml/2006/table">
            <a:tbl>
              <a:tblPr/>
              <a:tblGrid>
                <a:gridCol w="1097280"/>
                <a:gridCol w="1188720"/>
                <a:gridCol w="2011680"/>
              </a:tblGrid>
              <a:tr h="347472">
                <a:tc>
                  <a:txBody>
                    <a:bodyPr/>
                    <a:lstStyle/>
                    <a:p>
                      <a:pPr indent="0" marL="0">
                        <a:buNone/>
                      </a:pPr>
                      <a:r>
                        <a:rPr lang="en-US" sz="1200" b="1" dirty="0">
                          <a:solidFill>
                            <a:schemeClr val="tx2"/>
                          </a:solidFill>
                        </a:rPr>
                        <a:t>Risk</a:t>
                      </a:r>
                      <a:endParaRPr lang="en-US" sz="12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Approve at</a:t>
                      </a:r>
                      <a:endParaRPr lang="en-US" sz="12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Evidence needed</a:t>
                      </a:r>
                      <a:endParaRPr lang="en-US" sz="12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accent3"/>
                          </a:solidFill>
                        </a:rPr>
                        <a:t>Low</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0.60</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any 1 biometric</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accent1"/>
                          </a:solidFill>
                        </a:rPr>
                        <a:t>Medium</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0.70</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any 2 biometrics</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accent2"/>
                          </a:solidFill>
                        </a:rPr>
                        <a:t>High</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0.80</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face and voice</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accent4"/>
                          </a:solidFill>
                        </a:rPr>
                        <a:t>Critical</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0.88</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face and voice</a:t>
                      </a:r>
                      <a:endParaRPr lang="en-US" sz="1300" dirty="0"/>
                    </a:p>
                  </a:txBody>
                  <a:tcPr marL="91440" marR="91440"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r>
            </a:tbl>
          </a:graphicData>
        </a:graphic>
      </p:graphicFrame>
      <p:sp>
        <p:nvSpPr>
          <p:cNvPr id="19" name="Shape 16"/>
          <p:cNvSpPr/>
          <p:nvPr/>
        </p:nvSpPr>
        <p:spPr>
          <a:xfrm>
            <a:off x="5212080" y="2286000"/>
            <a:ext cx="1325880" cy="457200"/>
          </a:xfrm>
          <a:prstGeom prst="roundRect">
            <a:avLst>
              <a:gd name="adj" fmla="val 12000"/>
            </a:avLst>
          </a:prstGeom>
          <a:solidFill>
            <a:schemeClr val="accent3"/>
          </a:solidFill>
          <a:ln w="12700">
            <a:solidFill>
              <a:schemeClr val="accent3"/>
            </a:solidFill>
            <a:prstDash val="solid"/>
          </a:ln>
        </p:spPr>
      </p:sp>
      <p:sp>
        <p:nvSpPr>
          <p:cNvPr id="20" name="Text 17"/>
          <p:cNvSpPr txBox="1"/>
          <p:nvPr/>
        </p:nvSpPr>
        <p:spPr>
          <a:xfrm>
            <a:off x="5212080" y="228600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Approved</a:t>
            </a:r>
            <a:endParaRPr lang="en-US" sz="1300" dirty="0"/>
          </a:p>
        </p:txBody>
      </p:sp>
      <p:sp>
        <p:nvSpPr>
          <p:cNvPr id="21" name="Text 18"/>
          <p:cNvSpPr txBox="1"/>
          <p:nvPr/>
        </p:nvSpPr>
        <p:spPr>
          <a:xfrm>
            <a:off x="6675120" y="2286000"/>
            <a:ext cx="1920240" cy="457200"/>
          </a:xfrm>
          <a:prstGeom prst="rect">
            <a:avLst/>
          </a:prstGeom>
          <a:noFill/>
          <a:ln/>
        </p:spPr>
        <p:txBody>
          <a:bodyPr wrap="square" lIns="0" tIns="0" rIns="0" bIns="0" rtlCol="0" anchor="ctr"/>
          <a:lstStyle/>
          <a:p>
            <a:pPr indent="0" marL="0">
              <a:buNone/>
            </a:pPr>
            <a:r>
              <a:rPr lang="en-US" sz="1300" dirty="0">
                <a:solidFill>
                  <a:schemeClr val="tx2"/>
                </a:solidFill>
              </a:rPr>
              <a:t>evidence is strong enough</a:t>
            </a:r>
            <a:endParaRPr lang="en-US" sz="1300" dirty="0"/>
          </a:p>
        </p:txBody>
      </p:sp>
      <p:sp>
        <p:nvSpPr>
          <p:cNvPr id="22" name="Shape 19"/>
          <p:cNvSpPr/>
          <p:nvPr/>
        </p:nvSpPr>
        <p:spPr>
          <a:xfrm>
            <a:off x="5212080" y="2926080"/>
            <a:ext cx="1325880" cy="457200"/>
          </a:xfrm>
          <a:prstGeom prst="roundRect">
            <a:avLst>
              <a:gd name="adj" fmla="val 12000"/>
            </a:avLst>
          </a:prstGeom>
          <a:solidFill>
            <a:schemeClr val="accent4"/>
          </a:solidFill>
          <a:ln w="12700">
            <a:solidFill>
              <a:schemeClr val="accent4"/>
            </a:solidFill>
            <a:prstDash val="solid"/>
          </a:ln>
        </p:spPr>
      </p:sp>
      <p:sp>
        <p:nvSpPr>
          <p:cNvPr id="23" name="Text 20"/>
          <p:cNvSpPr txBox="1"/>
          <p:nvPr/>
        </p:nvSpPr>
        <p:spPr>
          <a:xfrm>
            <a:off x="5212080" y="292608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Rejected</a:t>
            </a:r>
            <a:endParaRPr lang="en-US" sz="1300" dirty="0"/>
          </a:p>
        </p:txBody>
      </p:sp>
      <p:sp>
        <p:nvSpPr>
          <p:cNvPr id="24" name="Text 21"/>
          <p:cNvSpPr txBox="1"/>
          <p:nvPr/>
        </p:nvSpPr>
        <p:spPr>
          <a:xfrm>
            <a:off x="6675120" y="2926080"/>
            <a:ext cx="1920240" cy="457200"/>
          </a:xfrm>
          <a:prstGeom prst="rect">
            <a:avLst/>
          </a:prstGeom>
          <a:noFill/>
          <a:ln/>
        </p:spPr>
        <p:txBody>
          <a:bodyPr wrap="square" lIns="0" tIns="0" rIns="0" bIns="0" rtlCol="0" anchor="ctr"/>
          <a:lstStyle/>
          <a:p>
            <a:pPr indent="0" marL="0">
              <a:buNone/>
            </a:pPr>
            <a:r>
              <a:rPr lang="en-US" sz="1300" dirty="0">
                <a:solidFill>
                  <a:schemeClr val="tx2"/>
                </a:solidFill>
              </a:rPr>
              <a:t>evidence clearly does not match</a:t>
            </a:r>
            <a:endParaRPr lang="en-US" sz="1300" dirty="0"/>
          </a:p>
        </p:txBody>
      </p:sp>
      <p:sp>
        <p:nvSpPr>
          <p:cNvPr id="25" name="Shape 22"/>
          <p:cNvSpPr/>
          <p:nvPr/>
        </p:nvSpPr>
        <p:spPr>
          <a:xfrm>
            <a:off x="5212080" y="3566160"/>
            <a:ext cx="1325880" cy="457200"/>
          </a:xfrm>
          <a:prstGeom prst="roundRect">
            <a:avLst>
              <a:gd name="adj" fmla="val 12000"/>
            </a:avLst>
          </a:prstGeom>
          <a:solidFill>
            <a:schemeClr val="accent2"/>
          </a:solidFill>
          <a:ln w="12700">
            <a:solidFill>
              <a:schemeClr val="accent2"/>
            </a:solidFill>
            <a:prstDash val="solid"/>
          </a:ln>
        </p:spPr>
      </p:sp>
      <p:sp>
        <p:nvSpPr>
          <p:cNvPr id="26" name="Text 23"/>
          <p:cNvSpPr txBox="1"/>
          <p:nvPr/>
        </p:nvSpPr>
        <p:spPr>
          <a:xfrm>
            <a:off x="5212080" y="356616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Ask for more</a:t>
            </a:r>
            <a:endParaRPr lang="en-US" sz="1300" dirty="0"/>
          </a:p>
        </p:txBody>
      </p:sp>
      <p:sp>
        <p:nvSpPr>
          <p:cNvPr id="27" name="Text 24"/>
          <p:cNvSpPr txBox="1"/>
          <p:nvPr/>
        </p:nvSpPr>
        <p:spPr>
          <a:xfrm>
            <a:off x="6675120" y="3566160"/>
            <a:ext cx="1920240" cy="457200"/>
          </a:xfrm>
          <a:prstGeom prst="rect">
            <a:avLst/>
          </a:prstGeom>
          <a:noFill/>
          <a:ln/>
        </p:spPr>
        <p:txBody>
          <a:bodyPr wrap="square" lIns="0" tIns="0" rIns="0" bIns="0" rtlCol="0" anchor="ctr"/>
          <a:lstStyle/>
          <a:p>
            <a:pPr indent="0" marL="0">
              <a:buNone/>
            </a:pPr>
            <a:r>
              <a:rPr lang="en-US" sz="1300" dirty="0">
                <a:solidFill>
                  <a:schemeClr val="tx2"/>
                </a:solidFill>
              </a:rPr>
              <a:t>not enough evidence yet</a:t>
            </a:r>
            <a:endParaRPr lang="en-US" sz="1300" dirty="0"/>
          </a:p>
        </p:txBody>
      </p:sp>
      <p:sp>
        <p:nvSpPr>
          <p:cNvPr id="28" name="Text 25"/>
          <p:cNvSpPr txBox="1"/>
          <p:nvPr/>
        </p:nvSpPr>
        <p:spPr>
          <a:xfrm>
            <a:off x="548640" y="4315968"/>
            <a:ext cx="8046720" cy="457200"/>
          </a:xfrm>
          <a:prstGeom prst="rect">
            <a:avLst/>
          </a:prstGeom>
          <a:noFill/>
          <a:ln/>
        </p:spPr>
        <p:txBody>
          <a:bodyPr wrap="square" lIns="0" tIns="0" rIns="0" bIns="0" rtlCol="0" anchor="ctr"/>
          <a:lstStyle/>
          <a:p>
            <a:pPr indent="0" marL="0">
              <a:buNone/>
            </a:pPr>
            <a:r>
              <a:rPr lang="en-US" sz="1400" i="1" dirty="0">
                <a:solidFill>
                  <a:schemeClr val="tx1"/>
                </a:solidFill>
                <a:latin typeface="Cambria" pitchFamily="34" charset="0"/>
                <a:ea typeface="Cambria" pitchFamily="34" charset="-122"/>
                <a:cs typeface="Cambria" pitchFamily="34" charset="-120"/>
              </a:rPr>
              <a:t>A missing or failed input is never counted as a match. Fingerprint only adds evidence when present.</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Security and privacy built in</a:t>
            </a:r>
            <a:endParaRPr lang="en-US" sz="2800" dirty="0"/>
          </a:p>
        </p:txBody>
      </p:sp>
      <p:sp>
        <p:nvSpPr>
          <p:cNvPr id="3" name="Shape 1"/>
          <p:cNvSpPr/>
          <p:nvPr/>
        </p:nvSpPr>
        <p:spPr>
          <a:xfrm>
            <a:off x="548640" y="1188720"/>
            <a:ext cx="2560320" cy="1508760"/>
          </a:xfrm>
          <a:prstGeom prst="roundRect">
            <a:avLst>
              <a:gd name="adj" fmla="val 4848"/>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 name="Strong sign-in circle"/>
          <p:cNvSpPr/>
          <p:nvPr/>
        </p:nvSpPr>
        <p:spPr>
          <a:xfrm>
            <a:off x="731520" y="1371600"/>
            <a:ext cx="512064" cy="512064"/>
          </a:xfrm>
          <a:prstGeom prst="ellipse">
            <a:avLst/>
          </a:prstGeom>
          <a:solidFill>
            <a:schemeClr val="accent1">
              <a:alpha val="14000"/>
            </a:schemeClr>
          </a:solidFill>
          <a:ln w="12700">
            <a:solidFill>
              <a:schemeClr val="accent1">
                <a:alpha val="0"/>
              </a:schemeClr>
            </a:solidFill>
            <a:prstDash val="solid"/>
          </a:ln>
        </p:spPr>
      </p:sp>
      <p:pic>
        <p:nvPicPr>
          <p:cNvPr id="5" name="Strong sign-in" descr="Strong sign-in">    </p:cNvPr>
          <p:cNvPicPr>
            <a:picLocks noChangeAspect="1"/>
          </p:cNvPicPr>
          <p:nvPr/>
        </p:nvPicPr>
        <p:blipFill>
          <a:blip r:embed="rId1"/>
          <a:stretch>
            <a:fillRect/>
          </a:stretch>
        </p:blipFill>
        <p:spPr>
          <a:xfrm>
            <a:off x="864657" y="1504737"/>
            <a:ext cx="245791" cy="245791"/>
          </a:xfrm>
          <a:prstGeom prst="rect">
            <a:avLst/>
          </a:prstGeom>
        </p:spPr>
      </p:pic>
      <p:sp>
        <p:nvSpPr>
          <p:cNvPr id="6" name="Text 3"/>
          <p:cNvSpPr txBox="1"/>
          <p:nvPr/>
        </p:nvSpPr>
        <p:spPr>
          <a:xfrm>
            <a:off x="1371600" y="1444752"/>
            <a:ext cx="1645920" cy="365760"/>
          </a:xfrm>
          <a:prstGeom prst="rect">
            <a:avLst/>
          </a:prstGeom>
          <a:noFill/>
          <a:ln/>
        </p:spPr>
        <p:txBody>
          <a:bodyPr wrap="square" lIns="0" tIns="0" rIns="0" bIns="0" rtlCol="0" anchor="ctr"/>
          <a:lstStyle/>
          <a:p>
            <a:pPr indent="0" marL="0">
              <a:buNone/>
            </a:pPr>
            <a:r>
              <a:rPr lang="en-US" sz="1500" b="1" dirty="0">
                <a:solidFill>
                  <a:schemeClr val="tx1"/>
                </a:solidFill>
              </a:rPr>
              <a:t>Strong sign-in</a:t>
            </a:r>
            <a:endParaRPr lang="en-US" sz="1500" dirty="0"/>
          </a:p>
        </p:txBody>
      </p:sp>
      <p:sp>
        <p:nvSpPr>
          <p:cNvPr id="7" name="Text 4"/>
          <p:cNvSpPr txBox="1"/>
          <p:nvPr/>
        </p:nvSpPr>
        <p:spPr>
          <a:xfrm>
            <a:off x="731520" y="2011680"/>
            <a:ext cx="2240280" cy="640080"/>
          </a:xfrm>
          <a:prstGeom prst="rect">
            <a:avLst/>
          </a:prstGeom>
          <a:noFill/>
          <a:ln/>
        </p:spPr>
        <p:txBody>
          <a:bodyPr wrap="square" lIns="0" tIns="0" rIns="0" bIns="0" rtlCol="0" anchor="t"/>
          <a:lstStyle/>
          <a:p>
            <a:pPr indent="0" marL="0">
              <a:buNone/>
            </a:pPr>
            <a:r>
              <a:rPr lang="en-US" sz="1300" dirty="0">
                <a:solidFill>
                  <a:schemeClr val="tx2"/>
                </a:solidFill>
              </a:rPr>
              <a:t>Password, then live face and voice.</a:t>
            </a:r>
            <a:endParaRPr lang="en-US" sz="1300" dirty="0"/>
          </a:p>
        </p:txBody>
      </p:sp>
      <p:sp>
        <p:nvSpPr>
          <p:cNvPr id="8" name="Shape 5"/>
          <p:cNvSpPr/>
          <p:nvPr/>
        </p:nvSpPr>
        <p:spPr>
          <a:xfrm>
            <a:off x="3291840" y="1188720"/>
            <a:ext cx="2560320" cy="1508760"/>
          </a:xfrm>
          <a:prstGeom prst="roundRect">
            <a:avLst>
              <a:gd name="adj" fmla="val 4848"/>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9" name="Liveness checks circle"/>
          <p:cNvSpPr/>
          <p:nvPr/>
        </p:nvSpPr>
        <p:spPr>
          <a:xfrm>
            <a:off x="3474720" y="1371600"/>
            <a:ext cx="512064" cy="512064"/>
          </a:xfrm>
          <a:prstGeom prst="ellipse">
            <a:avLst/>
          </a:prstGeom>
          <a:solidFill>
            <a:schemeClr val="accent1">
              <a:alpha val="14000"/>
            </a:schemeClr>
          </a:solidFill>
          <a:ln w="12700">
            <a:solidFill>
              <a:schemeClr val="accent1">
                <a:alpha val="0"/>
              </a:schemeClr>
            </a:solidFill>
            <a:prstDash val="solid"/>
          </a:ln>
        </p:spPr>
      </p:sp>
      <p:pic>
        <p:nvPicPr>
          <p:cNvPr id="10" name="Liveness checks" descr="Liveness checks">    </p:cNvPr>
          <p:cNvPicPr>
            <a:picLocks noChangeAspect="1"/>
          </p:cNvPicPr>
          <p:nvPr/>
        </p:nvPicPr>
        <p:blipFill>
          <a:blip r:embed="rId2"/>
          <a:stretch>
            <a:fillRect/>
          </a:stretch>
        </p:blipFill>
        <p:spPr>
          <a:xfrm>
            <a:off x="3607857" y="1504737"/>
            <a:ext cx="245791" cy="245791"/>
          </a:xfrm>
          <a:prstGeom prst="rect">
            <a:avLst/>
          </a:prstGeom>
        </p:spPr>
      </p:pic>
      <p:sp>
        <p:nvSpPr>
          <p:cNvPr id="11" name="Text 7"/>
          <p:cNvSpPr txBox="1"/>
          <p:nvPr/>
        </p:nvSpPr>
        <p:spPr>
          <a:xfrm>
            <a:off x="4114800" y="1444752"/>
            <a:ext cx="1645920" cy="365760"/>
          </a:xfrm>
          <a:prstGeom prst="rect">
            <a:avLst/>
          </a:prstGeom>
          <a:noFill/>
          <a:ln/>
        </p:spPr>
        <p:txBody>
          <a:bodyPr wrap="square" lIns="0" tIns="0" rIns="0" bIns="0" rtlCol="0" anchor="ctr"/>
          <a:lstStyle/>
          <a:p>
            <a:pPr indent="0" marL="0">
              <a:buNone/>
            </a:pPr>
            <a:r>
              <a:rPr lang="en-US" sz="1500" b="1" dirty="0">
                <a:solidFill>
                  <a:schemeClr val="tx1"/>
                </a:solidFill>
              </a:rPr>
              <a:t>Liveness checks</a:t>
            </a:r>
            <a:endParaRPr lang="en-US" sz="1500" dirty="0"/>
          </a:p>
        </p:txBody>
      </p:sp>
      <p:sp>
        <p:nvSpPr>
          <p:cNvPr id="12" name="Text 8"/>
          <p:cNvSpPr txBox="1"/>
          <p:nvPr/>
        </p:nvSpPr>
        <p:spPr>
          <a:xfrm>
            <a:off x="3474720" y="2011680"/>
            <a:ext cx="2240280" cy="640080"/>
          </a:xfrm>
          <a:prstGeom prst="rect">
            <a:avLst/>
          </a:prstGeom>
          <a:noFill/>
          <a:ln/>
        </p:spPr>
        <p:txBody>
          <a:bodyPr wrap="square" lIns="0" tIns="0" rIns="0" bIns="0" rtlCol="0" anchor="t"/>
          <a:lstStyle/>
          <a:p>
            <a:pPr indent="0" marL="0">
              <a:buNone/>
            </a:pPr>
            <a:r>
              <a:rPr lang="en-US" sz="1300" dirty="0">
                <a:solidFill>
                  <a:schemeClr val="tx2"/>
                </a:solidFill>
              </a:rPr>
              <a:t>Head turn and three random spoken words.</a:t>
            </a:r>
            <a:endParaRPr lang="en-US" sz="1300" dirty="0"/>
          </a:p>
        </p:txBody>
      </p:sp>
      <p:sp>
        <p:nvSpPr>
          <p:cNvPr id="13" name="Shape 9"/>
          <p:cNvSpPr/>
          <p:nvPr/>
        </p:nvSpPr>
        <p:spPr>
          <a:xfrm>
            <a:off x="6035040" y="1188720"/>
            <a:ext cx="2560320" cy="1508760"/>
          </a:xfrm>
          <a:prstGeom prst="roundRect">
            <a:avLst>
              <a:gd name="adj" fmla="val 4848"/>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4" name="Smart lockouts circle"/>
          <p:cNvSpPr/>
          <p:nvPr/>
        </p:nvSpPr>
        <p:spPr>
          <a:xfrm>
            <a:off x="6217920" y="1371600"/>
            <a:ext cx="512064" cy="512064"/>
          </a:xfrm>
          <a:prstGeom prst="ellipse">
            <a:avLst/>
          </a:prstGeom>
          <a:solidFill>
            <a:schemeClr val="accent1">
              <a:alpha val="14000"/>
            </a:schemeClr>
          </a:solidFill>
          <a:ln w="12700">
            <a:solidFill>
              <a:schemeClr val="accent1">
                <a:alpha val="0"/>
              </a:schemeClr>
            </a:solidFill>
            <a:prstDash val="solid"/>
          </a:ln>
        </p:spPr>
      </p:sp>
      <p:pic>
        <p:nvPicPr>
          <p:cNvPr id="15" name="Smart lockouts" descr="Smart lockouts">    </p:cNvPr>
          <p:cNvPicPr>
            <a:picLocks noChangeAspect="1"/>
          </p:cNvPicPr>
          <p:nvPr/>
        </p:nvPicPr>
        <p:blipFill>
          <a:blip r:embed="rId3"/>
          <a:stretch>
            <a:fillRect/>
          </a:stretch>
        </p:blipFill>
        <p:spPr>
          <a:xfrm>
            <a:off x="6351057" y="1504737"/>
            <a:ext cx="245791" cy="245791"/>
          </a:xfrm>
          <a:prstGeom prst="rect">
            <a:avLst/>
          </a:prstGeom>
        </p:spPr>
      </p:pic>
      <p:sp>
        <p:nvSpPr>
          <p:cNvPr id="16" name="Text 11"/>
          <p:cNvSpPr txBox="1"/>
          <p:nvPr/>
        </p:nvSpPr>
        <p:spPr>
          <a:xfrm>
            <a:off x="6858000" y="1444752"/>
            <a:ext cx="1645920" cy="365760"/>
          </a:xfrm>
          <a:prstGeom prst="rect">
            <a:avLst/>
          </a:prstGeom>
          <a:noFill/>
          <a:ln/>
        </p:spPr>
        <p:txBody>
          <a:bodyPr wrap="square" lIns="0" tIns="0" rIns="0" bIns="0" rtlCol="0" anchor="ctr"/>
          <a:lstStyle/>
          <a:p>
            <a:pPr indent="0" marL="0">
              <a:buNone/>
            </a:pPr>
            <a:r>
              <a:rPr lang="en-US" sz="1500" b="1" dirty="0">
                <a:solidFill>
                  <a:schemeClr val="tx1"/>
                </a:solidFill>
              </a:rPr>
              <a:t>Smart lockouts</a:t>
            </a:r>
            <a:endParaRPr lang="en-US" sz="1500" dirty="0"/>
          </a:p>
        </p:txBody>
      </p:sp>
      <p:sp>
        <p:nvSpPr>
          <p:cNvPr id="17" name="Text 12"/>
          <p:cNvSpPr txBox="1"/>
          <p:nvPr/>
        </p:nvSpPr>
        <p:spPr>
          <a:xfrm>
            <a:off x="6217920" y="2011680"/>
            <a:ext cx="2240280" cy="640080"/>
          </a:xfrm>
          <a:prstGeom prst="rect">
            <a:avLst/>
          </a:prstGeom>
          <a:noFill/>
          <a:ln/>
        </p:spPr>
        <p:txBody>
          <a:bodyPr wrap="square" lIns="0" tIns="0" rIns="0" bIns="0" rtlCol="0" anchor="t"/>
          <a:lstStyle/>
          <a:p>
            <a:pPr indent="0" marL="0">
              <a:buNone/>
            </a:pPr>
            <a:r>
              <a:rPr lang="en-US" sz="1300" dirty="0">
                <a:solidFill>
                  <a:schemeClr val="tx2"/>
                </a:solidFill>
              </a:rPr>
              <a:t>An attacker's failures cannot lock you out.</a:t>
            </a:r>
            <a:endParaRPr lang="en-US" sz="1300" dirty="0"/>
          </a:p>
        </p:txBody>
      </p:sp>
      <p:sp>
        <p:nvSpPr>
          <p:cNvPr id="18" name="Shape 13"/>
          <p:cNvSpPr/>
          <p:nvPr/>
        </p:nvSpPr>
        <p:spPr>
          <a:xfrm>
            <a:off x="548640" y="2880360"/>
            <a:ext cx="2560320" cy="1508760"/>
          </a:xfrm>
          <a:prstGeom prst="roundRect">
            <a:avLst>
              <a:gd name="adj" fmla="val 4848"/>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9" name="Protected enrollment circle"/>
          <p:cNvSpPr/>
          <p:nvPr/>
        </p:nvSpPr>
        <p:spPr>
          <a:xfrm>
            <a:off x="731520" y="3063240"/>
            <a:ext cx="512064" cy="512064"/>
          </a:xfrm>
          <a:prstGeom prst="ellipse">
            <a:avLst/>
          </a:prstGeom>
          <a:solidFill>
            <a:schemeClr val="accent1">
              <a:alpha val="14000"/>
            </a:schemeClr>
          </a:solidFill>
          <a:ln w="12700">
            <a:solidFill>
              <a:schemeClr val="accent1">
                <a:alpha val="0"/>
              </a:schemeClr>
            </a:solidFill>
            <a:prstDash val="solid"/>
          </a:ln>
        </p:spPr>
      </p:sp>
      <p:pic>
        <p:nvPicPr>
          <p:cNvPr id="20" name="Protected enrollment" descr="Protected enrollment">    </p:cNvPr>
          <p:cNvPicPr>
            <a:picLocks noChangeAspect="1"/>
          </p:cNvPicPr>
          <p:nvPr/>
        </p:nvPicPr>
        <p:blipFill>
          <a:blip r:embed="rId4"/>
          <a:stretch>
            <a:fillRect/>
          </a:stretch>
        </p:blipFill>
        <p:spPr>
          <a:xfrm>
            <a:off x="864657" y="3196377"/>
            <a:ext cx="245791" cy="245791"/>
          </a:xfrm>
          <a:prstGeom prst="rect">
            <a:avLst/>
          </a:prstGeom>
        </p:spPr>
      </p:pic>
      <p:sp>
        <p:nvSpPr>
          <p:cNvPr id="21" name="Text 15"/>
          <p:cNvSpPr txBox="1"/>
          <p:nvPr/>
        </p:nvSpPr>
        <p:spPr>
          <a:xfrm>
            <a:off x="1371600" y="3136392"/>
            <a:ext cx="1645920" cy="365760"/>
          </a:xfrm>
          <a:prstGeom prst="rect">
            <a:avLst/>
          </a:prstGeom>
          <a:noFill/>
          <a:ln/>
        </p:spPr>
        <p:txBody>
          <a:bodyPr wrap="square" lIns="0" tIns="0" rIns="0" bIns="0" rtlCol="0" anchor="ctr"/>
          <a:lstStyle/>
          <a:p>
            <a:pPr indent="0" marL="0">
              <a:buNone/>
            </a:pPr>
            <a:r>
              <a:rPr lang="en-US" sz="1500" b="1" dirty="0">
                <a:solidFill>
                  <a:schemeClr val="tx1"/>
                </a:solidFill>
              </a:rPr>
              <a:t>Protected enrollment</a:t>
            </a:r>
            <a:endParaRPr lang="en-US" sz="1500" dirty="0"/>
          </a:p>
        </p:txBody>
      </p:sp>
      <p:sp>
        <p:nvSpPr>
          <p:cNvPr id="22" name="Text 16"/>
          <p:cNvSpPr txBox="1"/>
          <p:nvPr/>
        </p:nvSpPr>
        <p:spPr>
          <a:xfrm>
            <a:off x="731520" y="3703320"/>
            <a:ext cx="2240280" cy="640080"/>
          </a:xfrm>
          <a:prstGeom prst="rect">
            <a:avLst/>
          </a:prstGeom>
          <a:noFill/>
          <a:ln/>
        </p:spPr>
        <p:txBody>
          <a:bodyPr wrap="square" lIns="0" tIns="0" rIns="0" bIns="0" rtlCol="0" anchor="t"/>
          <a:lstStyle/>
          <a:p>
            <a:pPr indent="0" marL="0">
              <a:buNone/>
            </a:pPr>
            <a:r>
              <a:rPr lang="en-US" sz="1300" dirty="0">
                <a:solidFill>
                  <a:schemeClr val="tx2"/>
                </a:solidFill>
              </a:rPr>
              <a:t>Changing biometrics needs the password and a matching sample.</a:t>
            </a:r>
            <a:endParaRPr lang="en-US" sz="1300" dirty="0"/>
          </a:p>
        </p:txBody>
      </p:sp>
      <p:sp>
        <p:nvSpPr>
          <p:cNvPr id="23" name="Shape 17"/>
          <p:cNvSpPr/>
          <p:nvPr/>
        </p:nvSpPr>
        <p:spPr>
          <a:xfrm>
            <a:off x="3291840" y="2880360"/>
            <a:ext cx="2560320" cy="1508760"/>
          </a:xfrm>
          <a:prstGeom prst="roundRect">
            <a:avLst>
              <a:gd name="adj" fmla="val 4848"/>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4" name="Careful recovery circle"/>
          <p:cNvSpPr/>
          <p:nvPr/>
        </p:nvSpPr>
        <p:spPr>
          <a:xfrm>
            <a:off x="3474720" y="3063240"/>
            <a:ext cx="512064" cy="512064"/>
          </a:xfrm>
          <a:prstGeom prst="ellipse">
            <a:avLst/>
          </a:prstGeom>
          <a:solidFill>
            <a:schemeClr val="accent1">
              <a:alpha val="14000"/>
            </a:schemeClr>
          </a:solidFill>
          <a:ln w="12700">
            <a:solidFill>
              <a:schemeClr val="accent1">
                <a:alpha val="0"/>
              </a:schemeClr>
            </a:solidFill>
            <a:prstDash val="solid"/>
          </a:ln>
        </p:spPr>
      </p:sp>
      <p:pic>
        <p:nvPicPr>
          <p:cNvPr id="25" name="Careful recovery" descr="Careful recovery">    </p:cNvPr>
          <p:cNvPicPr>
            <a:picLocks noChangeAspect="1"/>
          </p:cNvPicPr>
          <p:nvPr/>
        </p:nvPicPr>
        <p:blipFill>
          <a:blip r:embed="rId5"/>
          <a:stretch>
            <a:fillRect/>
          </a:stretch>
        </p:blipFill>
        <p:spPr>
          <a:xfrm>
            <a:off x="3607857" y="3196377"/>
            <a:ext cx="245791" cy="245791"/>
          </a:xfrm>
          <a:prstGeom prst="rect">
            <a:avLst/>
          </a:prstGeom>
        </p:spPr>
      </p:pic>
      <p:sp>
        <p:nvSpPr>
          <p:cNvPr id="26" name="Text 19"/>
          <p:cNvSpPr txBox="1"/>
          <p:nvPr/>
        </p:nvSpPr>
        <p:spPr>
          <a:xfrm>
            <a:off x="4114800" y="3136392"/>
            <a:ext cx="1645920" cy="365760"/>
          </a:xfrm>
          <a:prstGeom prst="rect">
            <a:avLst/>
          </a:prstGeom>
          <a:noFill/>
          <a:ln/>
        </p:spPr>
        <p:txBody>
          <a:bodyPr wrap="square" lIns="0" tIns="0" rIns="0" bIns="0" rtlCol="0" anchor="ctr"/>
          <a:lstStyle/>
          <a:p>
            <a:pPr indent="0" marL="0">
              <a:buNone/>
            </a:pPr>
            <a:r>
              <a:rPr lang="en-US" sz="1500" b="1" dirty="0">
                <a:solidFill>
                  <a:schemeClr val="tx1"/>
                </a:solidFill>
              </a:rPr>
              <a:t>Careful recovery</a:t>
            </a:r>
            <a:endParaRPr lang="en-US" sz="1500" dirty="0"/>
          </a:p>
        </p:txBody>
      </p:sp>
      <p:sp>
        <p:nvSpPr>
          <p:cNvPr id="27" name="Text 20"/>
          <p:cNvSpPr txBox="1"/>
          <p:nvPr/>
        </p:nvSpPr>
        <p:spPr>
          <a:xfrm>
            <a:off x="3474720" y="3703320"/>
            <a:ext cx="2240280" cy="640080"/>
          </a:xfrm>
          <a:prstGeom prst="rect">
            <a:avLst/>
          </a:prstGeom>
          <a:noFill/>
          <a:ln/>
        </p:spPr>
        <p:txBody>
          <a:bodyPr wrap="square" lIns="0" tIns="0" rIns="0" bIns="0" rtlCol="0" anchor="t"/>
          <a:lstStyle/>
          <a:p>
            <a:pPr indent="0" marL="0">
              <a:buNone/>
            </a:pPr>
            <a:r>
              <a:rPr lang="en-US" sz="1300" dirty="0">
                <a:solidFill>
                  <a:schemeClr val="tx2"/>
                </a:solidFill>
              </a:rPr>
              <a:t>Waiting period, admin approval, then probation.</a:t>
            </a:r>
            <a:endParaRPr lang="en-US" sz="1300" dirty="0"/>
          </a:p>
        </p:txBody>
      </p:sp>
      <p:sp>
        <p:nvSpPr>
          <p:cNvPr id="28" name="Shape 21"/>
          <p:cNvSpPr/>
          <p:nvPr/>
        </p:nvSpPr>
        <p:spPr>
          <a:xfrm>
            <a:off x="6035040" y="2880360"/>
            <a:ext cx="2560320" cy="1508760"/>
          </a:xfrm>
          <a:prstGeom prst="roundRect">
            <a:avLst>
              <a:gd name="adj" fmla="val 4848"/>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9" name="Privacy by default circle"/>
          <p:cNvSpPr/>
          <p:nvPr/>
        </p:nvSpPr>
        <p:spPr>
          <a:xfrm>
            <a:off x="6217920" y="3063240"/>
            <a:ext cx="512064" cy="512064"/>
          </a:xfrm>
          <a:prstGeom prst="ellipse">
            <a:avLst/>
          </a:prstGeom>
          <a:solidFill>
            <a:schemeClr val="accent1">
              <a:alpha val="14000"/>
            </a:schemeClr>
          </a:solidFill>
          <a:ln w="12700">
            <a:solidFill>
              <a:schemeClr val="accent1">
                <a:alpha val="0"/>
              </a:schemeClr>
            </a:solidFill>
            <a:prstDash val="solid"/>
          </a:ln>
        </p:spPr>
      </p:sp>
      <p:pic>
        <p:nvPicPr>
          <p:cNvPr id="30" name="Privacy by default" descr="Privacy by default">    </p:cNvPr>
          <p:cNvPicPr>
            <a:picLocks noChangeAspect="1"/>
          </p:cNvPicPr>
          <p:nvPr/>
        </p:nvPicPr>
        <p:blipFill>
          <a:blip r:embed="rId6"/>
          <a:stretch>
            <a:fillRect/>
          </a:stretch>
        </p:blipFill>
        <p:spPr>
          <a:xfrm>
            <a:off x="6351057" y="3196377"/>
            <a:ext cx="245791" cy="245791"/>
          </a:xfrm>
          <a:prstGeom prst="rect">
            <a:avLst/>
          </a:prstGeom>
        </p:spPr>
      </p:pic>
      <p:sp>
        <p:nvSpPr>
          <p:cNvPr id="31" name="Text 23"/>
          <p:cNvSpPr txBox="1"/>
          <p:nvPr/>
        </p:nvSpPr>
        <p:spPr>
          <a:xfrm>
            <a:off x="6858000" y="3136392"/>
            <a:ext cx="1645920" cy="365760"/>
          </a:xfrm>
          <a:prstGeom prst="rect">
            <a:avLst/>
          </a:prstGeom>
          <a:noFill/>
          <a:ln/>
        </p:spPr>
        <p:txBody>
          <a:bodyPr wrap="square" lIns="0" tIns="0" rIns="0" bIns="0" rtlCol="0" anchor="ctr"/>
          <a:lstStyle/>
          <a:p>
            <a:pPr indent="0" marL="0">
              <a:buNone/>
            </a:pPr>
            <a:r>
              <a:rPr lang="en-US" sz="1500" b="1" dirty="0">
                <a:solidFill>
                  <a:schemeClr val="tx1"/>
                </a:solidFill>
              </a:rPr>
              <a:t>Privacy by default</a:t>
            </a:r>
            <a:endParaRPr lang="en-US" sz="1500" dirty="0"/>
          </a:p>
        </p:txBody>
      </p:sp>
      <p:sp>
        <p:nvSpPr>
          <p:cNvPr id="32" name="Text 24"/>
          <p:cNvSpPr txBox="1"/>
          <p:nvPr/>
        </p:nvSpPr>
        <p:spPr>
          <a:xfrm>
            <a:off x="6217920" y="3703320"/>
            <a:ext cx="2240280" cy="640080"/>
          </a:xfrm>
          <a:prstGeom prst="rect">
            <a:avLst/>
          </a:prstGeom>
          <a:noFill/>
          <a:ln/>
        </p:spPr>
        <p:txBody>
          <a:bodyPr wrap="square" lIns="0" tIns="0" rIns="0" bIns="0" rtlCol="0" anchor="t"/>
          <a:lstStyle/>
          <a:p>
            <a:pPr indent="0" marL="0">
              <a:buNone/>
            </a:pPr>
            <a:r>
              <a:rPr lang="en-US" sz="1300" dirty="0">
                <a:solidFill>
                  <a:schemeClr val="tx2"/>
                </a:solidFill>
              </a:rPr>
              <a:t>No raw photos or recordings stored. Templates encrypted.</a:t>
            </a:r>
            <a:endParaRPr lang="en-US" sz="13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Setting up and signing in</a:t>
            </a:r>
            <a:endParaRPr lang="en-US" sz="2800" dirty="0"/>
          </a:p>
        </p:txBody>
      </p:sp>
      <p:sp>
        <p:nvSpPr>
          <p:cNvPr id="3" name="Shape 1"/>
          <p:cNvSpPr/>
          <p:nvPr/>
        </p:nvSpPr>
        <p:spPr>
          <a:xfrm>
            <a:off x="512064" y="1152144"/>
            <a:ext cx="4005072" cy="1928871"/>
          </a:xfrm>
          <a:prstGeom prst="roundRect">
            <a:avLst>
              <a:gd name="adj" fmla="val 2370"/>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pic>
        <p:nvPicPr>
          <p:cNvPr id="4" name="Screenshot: Enrollment" descr="Enrollment">    </p:cNvPr>
          <p:cNvPicPr>
            <a:picLocks noChangeAspect="1"/>
          </p:cNvPicPr>
          <p:nvPr/>
        </p:nvPicPr>
        <p:blipFill>
          <a:blip r:embed="rId1"/>
          <a:stretch>
            <a:fillRect/>
          </a:stretch>
        </p:blipFill>
        <p:spPr>
          <a:xfrm>
            <a:off x="548640" y="1188720"/>
            <a:ext cx="3931920" cy="1855719"/>
          </a:xfrm>
          <a:prstGeom prst="rect">
            <a:avLst/>
          </a:prstGeom>
        </p:spPr>
      </p:pic>
      <p:sp>
        <p:nvSpPr>
          <p:cNvPr id="5" name="Text 2"/>
          <p:cNvSpPr txBox="1"/>
          <p:nvPr/>
        </p:nvSpPr>
        <p:spPr>
          <a:xfrm>
            <a:off x="512064" y="3246120"/>
            <a:ext cx="4005072" cy="274320"/>
          </a:xfrm>
          <a:prstGeom prst="rect">
            <a:avLst/>
          </a:prstGeom>
          <a:noFill/>
          <a:ln/>
        </p:spPr>
        <p:txBody>
          <a:bodyPr wrap="square" lIns="0" tIns="0" rIns="0" bIns="0" rtlCol="0" anchor="ctr"/>
          <a:lstStyle/>
          <a:p>
            <a:pPr indent="0" marL="0">
              <a:buNone/>
            </a:pPr>
            <a:r>
              <a:rPr lang="en-US" sz="1400" b="1" dirty="0">
                <a:solidFill>
                  <a:schemeClr val="tx1"/>
                </a:solidFill>
              </a:rPr>
              <a:t>Enrollment</a:t>
            </a:r>
            <a:endParaRPr lang="en-US" sz="1400" dirty="0"/>
          </a:p>
        </p:txBody>
      </p:sp>
      <p:sp>
        <p:nvSpPr>
          <p:cNvPr id="6" name="Text 3"/>
          <p:cNvSpPr txBox="1"/>
          <p:nvPr/>
        </p:nvSpPr>
        <p:spPr>
          <a:xfrm>
            <a:off x="512064" y="3538728"/>
            <a:ext cx="4005072" cy="548640"/>
          </a:xfrm>
          <a:prstGeom prst="rect">
            <a:avLst/>
          </a:prstGeom>
          <a:noFill/>
          <a:ln/>
        </p:spPr>
        <p:txBody>
          <a:bodyPr wrap="square" lIns="0" tIns="0" rIns="0" bIns="0" rtlCol="0" anchor="t"/>
          <a:lstStyle/>
          <a:p>
            <a:pPr indent="0" marL="0">
              <a:buNone/>
            </a:pPr>
            <a:r>
              <a:rPr lang="en-US" sz="1200" dirty="0">
                <a:solidFill>
                  <a:schemeClr val="tx2"/>
                </a:solidFill>
              </a:rPr>
              <a:t>Face and voice are required, fingerprint is optional. A reference only counts once the server has built it.</a:t>
            </a:r>
            <a:endParaRPr lang="en-US" sz="1200" dirty="0"/>
          </a:p>
        </p:txBody>
      </p:sp>
      <p:sp>
        <p:nvSpPr>
          <p:cNvPr id="7" name="Shape 4"/>
          <p:cNvSpPr/>
          <p:nvPr/>
        </p:nvSpPr>
        <p:spPr>
          <a:xfrm>
            <a:off x="4626864" y="1152144"/>
            <a:ext cx="4005072" cy="2107692"/>
          </a:xfrm>
          <a:prstGeom prst="roundRect">
            <a:avLst>
              <a:gd name="adj" fmla="val 2169"/>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pic>
        <p:nvPicPr>
          <p:cNvPr id="8" name="Screenshot: Sign-in" descr="Sign-in">    </p:cNvPr>
          <p:cNvPicPr>
            <a:picLocks noChangeAspect="1"/>
          </p:cNvPicPr>
          <p:nvPr/>
        </p:nvPicPr>
        <p:blipFill>
          <a:blip r:embed="rId2"/>
          <a:stretch>
            <a:fillRect/>
          </a:stretch>
        </p:blipFill>
        <p:spPr>
          <a:xfrm>
            <a:off x="4663440" y="1188720"/>
            <a:ext cx="3931920" cy="2034540"/>
          </a:xfrm>
          <a:prstGeom prst="rect">
            <a:avLst/>
          </a:prstGeom>
        </p:spPr>
      </p:pic>
      <p:sp>
        <p:nvSpPr>
          <p:cNvPr id="9" name="Text 5"/>
          <p:cNvSpPr txBox="1"/>
          <p:nvPr/>
        </p:nvSpPr>
        <p:spPr>
          <a:xfrm>
            <a:off x="4626864" y="3246120"/>
            <a:ext cx="4005072" cy="274320"/>
          </a:xfrm>
          <a:prstGeom prst="rect">
            <a:avLst/>
          </a:prstGeom>
          <a:noFill/>
          <a:ln/>
        </p:spPr>
        <p:txBody>
          <a:bodyPr wrap="square" lIns="0" tIns="0" rIns="0" bIns="0" rtlCol="0" anchor="ctr"/>
          <a:lstStyle/>
          <a:p>
            <a:pPr indent="0" marL="0">
              <a:buNone/>
            </a:pPr>
            <a:r>
              <a:rPr lang="en-US" sz="1400" b="1" dirty="0">
                <a:solidFill>
                  <a:schemeClr val="tx1"/>
                </a:solidFill>
              </a:rPr>
              <a:t>Sign-in</a:t>
            </a:r>
            <a:endParaRPr lang="en-US" sz="1400" dirty="0"/>
          </a:p>
        </p:txBody>
      </p:sp>
      <p:sp>
        <p:nvSpPr>
          <p:cNvPr id="10" name="Text 6"/>
          <p:cNvSpPr txBox="1"/>
          <p:nvPr/>
        </p:nvSpPr>
        <p:spPr>
          <a:xfrm>
            <a:off x="4626864" y="3538728"/>
            <a:ext cx="4005072" cy="548640"/>
          </a:xfrm>
          <a:prstGeom prst="rect">
            <a:avLst/>
          </a:prstGeom>
          <a:noFill/>
          <a:ln/>
        </p:spPr>
        <p:txBody>
          <a:bodyPr wrap="square" lIns="0" tIns="0" rIns="0" bIns="0" rtlCol="0" anchor="t"/>
          <a:lstStyle/>
          <a:p>
            <a:pPr indent="0" marL="0">
              <a:buNone/>
            </a:pPr>
            <a:r>
              <a:rPr lang="en-US" sz="1200" dirty="0">
                <a:solidFill>
                  <a:schemeClr val="tx2"/>
                </a:solidFill>
              </a:rPr>
              <a:t>Password first. Then a live face and voice check, with a recovery option if it cannot be passed.</a:t>
            </a:r>
            <a:endParaRPr lang="en-US" sz="12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A small payment, start to finish</a:t>
            </a:r>
            <a:endParaRPr lang="en-US" sz="2800" dirty="0"/>
          </a:p>
        </p:txBody>
      </p:sp>
      <p:sp>
        <p:nvSpPr>
          <p:cNvPr id="3" name="Shape 1"/>
          <p:cNvSpPr/>
          <p:nvPr/>
        </p:nvSpPr>
        <p:spPr>
          <a:xfrm>
            <a:off x="512064" y="1152144"/>
            <a:ext cx="4005072" cy="2277967"/>
          </a:xfrm>
          <a:prstGeom prst="roundRect">
            <a:avLst>
              <a:gd name="adj" fmla="val 2007"/>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pic>
        <p:nvPicPr>
          <p:cNvPr id="4" name="Screenshot: Risk assessment" descr="Risk assessment">    </p:cNvPr>
          <p:cNvPicPr>
            <a:picLocks noChangeAspect="1"/>
          </p:cNvPicPr>
          <p:nvPr/>
        </p:nvPicPr>
        <p:blipFill>
          <a:blip r:embed="rId1"/>
          <a:stretch>
            <a:fillRect/>
          </a:stretch>
        </p:blipFill>
        <p:spPr>
          <a:xfrm>
            <a:off x="548640" y="1188720"/>
            <a:ext cx="3931920" cy="2204815"/>
          </a:xfrm>
          <a:prstGeom prst="rect">
            <a:avLst/>
          </a:prstGeom>
        </p:spPr>
      </p:pic>
      <p:sp>
        <p:nvSpPr>
          <p:cNvPr id="5" name="Text 2"/>
          <p:cNvSpPr txBox="1"/>
          <p:nvPr/>
        </p:nvSpPr>
        <p:spPr>
          <a:xfrm>
            <a:off x="512064" y="3566160"/>
            <a:ext cx="4005072" cy="274320"/>
          </a:xfrm>
          <a:prstGeom prst="rect">
            <a:avLst/>
          </a:prstGeom>
          <a:noFill/>
          <a:ln/>
        </p:spPr>
        <p:txBody>
          <a:bodyPr wrap="square" lIns="0" tIns="0" rIns="0" bIns="0" rtlCol="0" anchor="ctr"/>
          <a:lstStyle/>
          <a:p>
            <a:pPr indent="0" marL="0">
              <a:buNone/>
            </a:pPr>
            <a:r>
              <a:rPr lang="en-US" sz="1400" b="1" dirty="0">
                <a:solidFill>
                  <a:schemeClr val="tx1"/>
                </a:solidFill>
              </a:rPr>
              <a:t>Risk assessment</a:t>
            </a:r>
            <a:endParaRPr lang="en-US" sz="1400" dirty="0"/>
          </a:p>
        </p:txBody>
      </p:sp>
      <p:sp>
        <p:nvSpPr>
          <p:cNvPr id="6" name="Text 3"/>
          <p:cNvSpPr txBox="1"/>
          <p:nvPr/>
        </p:nvSpPr>
        <p:spPr>
          <a:xfrm>
            <a:off x="512064" y="3858768"/>
            <a:ext cx="4005072" cy="548640"/>
          </a:xfrm>
          <a:prstGeom prst="rect">
            <a:avLst/>
          </a:prstGeom>
          <a:noFill/>
          <a:ln/>
        </p:spPr>
        <p:txBody>
          <a:bodyPr wrap="square" lIns="0" tIns="0" rIns="0" bIns="0" rtlCol="0" anchor="t"/>
          <a:lstStyle/>
          <a:p>
            <a:pPr indent="0" marL="0">
              <a:buNone/>
            </a:pPr>
            <a:r>
              <a:rPr lang="en-US" sz="1200" dirty="0">
                <a:solidFill>
                  <a:schemeClr val="tx2"/>
                </a:solidFill>
              </a:rPr>
              <a:t>The server scores the payment, lists every factor, and says what this level requires.</a:t>
            </a:r>
            <a:endParaRPr lang="en-US" sz="1200" dirty="0"/>
          </a:p>
        </p:txBody>
      </p:sp>
      <p:sp>
        <p:nvSpPr>
          <p:cNvPr id="7" name="Shape 4"/>
          <p:cNvSpPr/>
          <p:nvPr/>
        </p:nvSpPr>
        <p:spPr>
          <a:xfrm>
            <a:off x="4626864" y="1152144"/>
            <a:ext cx="4005072" cy="2259593"/>
          </a:xfrm>
          <a:prstGeom prst="roundRect">
            <a:avLst>
              <a:gd name="adj" fmla="val 202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pic>
        <p:nvPicPr>
          <p:cNvPr id="8" name="Screenshot: Decision with evidence" descr="Decision with evidence">    </p:cNvPr>
          <p:cNvPicPr>
            <a:picLocks noChangeAspect="1"/>
          </p:cNvPicPr>
          <p:nvPr/>
        </p:nvPicPr>
        <p:blipFill>
          <a:blip r:embed="rId2"/>
          <a:stretch>
            <a:fillRect/>
          </a:stretch>
        </p:blipFill>
        <p:spPr>
          <a:xfrm>
            <a:off x="4663440" y="1188720"/>
            <a:ext cx="3931920" cy="2186441"/>
          </a:xfrm>
          <a:prstGeom prst="rect">
            <a:avLst/>
          </a:prstGeom>
        </p:spPr>
      </p:pic>
      <p:sp>
        <p:nvSpPr>
          <p:cNvPr id="9" name="Text 5"/>
          <p:cNvSpPr txBox="1"/>
          <p:nvPr/>
        </p:nvSpPr>
        <p:spPr>
          <a:xfrm>
            <a:off x="4626864" y="3566160"/>
            <a:ext cx="4005072" cy="274320"/>
          </a:xfrm>
          <a:prstGeom prst="rect">
            <a:avLst/>
          </a:prstGeom>
          <a:noFill/>
          <a:ln/>
        </p:spPr>
        <p:txBody>
          <a:bodyPr wrap="square" lIns="0" tIns="0" rIns="0" bIns="0" rtlCol="0" anchor="ctr"/>
          <a:lstStyle/>
          <a:p>
            <a:pPr indent="0" marL="0">
              <a:buNone/>
            </a:pPr>
            <a:r>
              <a:rPr lang="en-US" sz="1400" b="1" dirty="0">
                <a:solidFill>
                  <a:schemeClr val="tx1"/>
                </a:solidFill>
              </a:rPr>
              <a:t>Decision with evidence</a:t>
            </a:r>
            <a:endParaRPr lang="en-US" sz="1400" dirty="0"/>
          </a:p>
        </p:txBody>
      </p:sp>
      <p:sp>
        <p:nvSpPr>
          <p:cNvPr id="10" name="Text 6"/>
          <p:cNvSpPr txBox="1"/>
          <p:nvPr/>
        </p:nvSpPr>
        <p:spPr>
          <a:xfrm>
            <a:off x="4626864" y="3858768"/>
            <a:ext cx="4005072" cy="548640"/>
          </a:xfrm>
          <a:prstGeom prst="rect">
            <a:avLst/>
          </a:prstGeom>
          <a:noFill/>
          <a:ln/>
        </p:spPr>
        <p:txBody>
          <a:bodyPr wrap="square" lIns="0" tIns="0" rIns="0" bIns="0" rtlCol="0" anchor="t"/>
          <a:lstStyle/>
          <a:p>
            <a:pPr indent="0" marL="0">
              <a:buNone/>
            </a:pPr>
            <a:r>
              <a:rPr lang="en-US" sz="1200" dirty="0">
                <a:solidFill>
                  <a:schemeClr val="tx2"/>
                </a:solidFill>
              </a:rPr>
              <a:t>Match confidence, input quality and a plain reason. A blank sample is no evidence, never a match.</a:t>
            </a:r>
            <a:endParaRPr lang="en-US" sz="12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A large payment asks for more</a:t>
            </a:r>
            <a:endParaRPr lang="en-US" sz="2800" dirty="0"/>
          </a:p>
        </p:txBody>
      </p:sp>
      <p:sp>
        <p:nvSpPr>
          <p:cNvPr id="3" name="Shape 1"/>
          <p:cNvSpPr/>
          <p:nvPr/>
        </p:nvSpPr>
        <p:spPr>
          <a:xfrm>
            <a:off x="512064" y="1152144"/>
            <a:ext cx="4005072" cy="2461702"/>
          </a:xfrm>
          <a:prstGeom prst="roundRect">
            <a:avLst>
              <a:gd name="adj" fmla="val 1857"/>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pic>
        <p:nvPicPr>
          <p:cNvPr id="4" name="Screenshot: Critical risk" descr="Critical risk">    </p:cNvPr>
          <p:cNvPicPr>
            <a:picLocks noChangeAspect="1"/>
          </p:cNvPicPr>
          <p:nvPr/>
        </p:nvPicPr>
        <p:blipFill>
          <a:blip r:embed="rId1"/>
          <a:stretch>
            <a:fillRect/>
          </a:stretch>
        </p:blipFill>
        <p:spPr>
          <a:xfrm>
            <a:off x="548640" y="1188720"/>
            <a:ext cx="3931920" cy="2388550"/>
          </a:xfrm>
          <a:prstGeom prst="rect">
            <a:avLst/>
          </a:prstGeom>
        </p:spPr>
      </p:pic>
      <p:sp>
        <p:nvSpPr>
          <p:cNvPr id="5" name="Text 2"/>
          <p:cNvSpPr txBox="1"/>
          <p:nvPr/>
        </p:nvSpPr>
        <p:spPr>
          <a:xfrm>
            <a:off x="512064" y="3749040"/>
            <a:ext cx="4005072" cy="274320"/>
          </a:xfrm>
          <a:prstGeom prst="rect">
            <a:avLst/>
          </a:prstGeom>
          <a:noFill/>
          <a:ln/>
        </p:spPr>
        <p:txBody>
          <a:bodyPr wrap="square" lIns="0" tIns="0" rIns="0" bIns="0" rtlCol="0" anchor="ctr"/>
          <a:lstStyle/>
          <a:p>
            <a:pPr indent="0" marL="0">
              <a:buNone/>
            </a:pPr>
            <a:r>
              <a:rPr lang="en-US" sz="1400" b="1" dirty="0">
                <a:solidFill>
                  <a:schemeClr val="tx1"/>
                </a:solidFill>
              </a:rPr>
              <a:t>Critical risk</a:t>
            </a:r>
            <a:endParaRPr lang="en-US" sz="1400" dirty="0"/>
          </a:p>
        </p:txBody>
      </p:sp>
      <p:sp>
        <p:nvSpPr>
          <p:cNvPr id="6" name="Text 3"/>
          <p:cNvSpPr txBox="1"/>
          <p:nvPr/>
        </p:nvSpPr>
        <p:spPr>
          <a:xfrm>
            <a:off x="512064" y="4041648"/>
            <a:ext cx="4005072" cy="548640"/>
          </a:xfrm>
          <a:prstGeom prst="rect">
            <a:avLst/>
          </a:prstGeom>
          <a:noFill/>
          <a:ln/>
        </p:spPr>
        <p:txBody>
          <a:bodyPr wrap="square" lIns="0" tIns="0" rIns="0" bIns="0" rtlCol="0" anchor="t"/>
          <a:lstStyle/>
          <a:p>
            <a:pPr indent="0" marL="0">
              <a:buNone/>
            </a:pPr>
            <a:r>
              <a:rPr lang="en-US" sz="1200" dirty="0">
                <a:solidFill>
                  <a:schemeClr val="tx2"/>
                </a:solidFill>
              </a:rPr>
              <a:t>Face and voice are both required, and both must be live. Fingerprint cannot replace either.</a:t>
            </a:r>
            <a:endParaRPr lang="en-US" sz="1200" dirty="0"/>
          </a:p>
        </p:txBody>
      </p:sp>
      <p:sp>
        <p:nvSpPr>
          <p:cNvPr id="7" name="Shape 4"/>
          <p:cNvSpPr/>
          <p:nvPr/>
        </p:nvSpPr>
        <p:spPr>
          <a:xfrm>
            <a:off x="4626864" y="1152144"/>
            <a:ext cx="4005072" cy="2535195"/>
          </a:xfrm>
          <a:prstGeom prst="roundRect">
            <a:avLst>
              <a:gd name="adj" fmla="val 180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pic>
        <p:nvPicPr>
          <p:cNvPr id="8" name="Screenshot: A still camera is refused" descr="A still camera is refused">    </p:cNvPr>
          <p:cNvPicPr>
            <a:picLocks noChangeAspect="1"/>
          </p:cNvPicPr>
          <p:nvPr/>
        </p:nvPicPr>
        <p:blipFill>
          <a:blip r:embed="rId2"/>
          <a:stretch>
            <a:fillRect/>
          </a:stretch>
        </p:blipFill>
        <p:spPr>
          <a:xfrm>
            <a:off x="4663440" y="1188720"/>
            <a:ext cx="3931920" cy="2462043"/>
          </a:xfrm>
          <a:prstGeom prst="rect">
            <a:avLst/>
          </a:prstGeom>
        </p:spPr>
      </p:pic>
      <p:sp>
        <p:nvSpPr>
          <p:cNvPr id="9" name="Text 5"/>
          <p:cNvSpPr txBox="1"/>
          <p:nvPr/>
        </p:nvSpPr>
        <p:spPr>
          <a:xfrm>
            <a:off x="4626864" y="3749040"/>
            <a:ext cx="4005072" cy="274320"/>
          </a:xfrm>
          <a:prstGeom prst="rect">
            <a:avLst/>
          </a:prstGeom>
          <a:noFill/>
          <a:ln/>
        </p:spPr>
        <p:txBody>
          <a:bodyPr wrap="square" lIns="0" tIns="0" rIns="0" bIns="0" rtlCol="0" anchor="ctr"/>
          <a:lstStyle/>
          <a:p>
            <a:pPr indent="0" marL="0">
              <a:buNone/>
            </a:pPr>
            <a:r>
              <a:rPr lang="en-US" sz="1400" b="1" dirty="0">
                <a:solidFill>
                  <a:schemeClr val="tx1"/>
                </a:solidFill>
              </a:rPr>
              <a:t>A still camera is refused</a:t>
            </a:r>
            <a:endParaRPr lang="en-US" sz="1400" dirty="0"/>
          </a:p>
        </p:txBody>
      </p:sp>
      <p:sp>
        <p:nvSpPr>
          <p:cNvPr id="10" name="Text 6"/>
          <p:cNvSpPr txBox="1"/>
          <p:nvPr/>
        </p:nvSpPr>
        <p:spPr>
          <a:xfrm>
            <a:off x="4626864" y="4041648"/>
            <a:ext cx="4005072" cy="548640"/>
          </a:xfrm>
          <a:prstGeom prst="rect">
            <a:avLst/>
          </a:prstGeom>
          <a:noFill/>
          <a:ln/>
        </p:spPr>
        <p:txBody>
          <a:bodyPr wrap="square" lIns="0" tIns="0" rIns="0" bIns="0" rtlCol="0" anchor="t"/>
          <a:lstStyle/>
          <a:p>
            <a:pPr indent="0" marL="0">
              <a:buNone/>
            </a:pPr>
            <a:r>
              <a:rPr lang="en-US" sz="1200" dirty="0">
                <a:solidFill>
                  <a:schemeClr val="tx2"/>
                </a:solidFill>
              </a:rPr>
              <a:t>No head turn was seen, so it asks for more evidence and lists exactly what to do. Three attempts.</a:t>
            </a:r>
            <a:endParaRPr lang="en-US" sz="12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Seeing what happened</a:t>
            </a:r>
            <a:endParaRPr lang="en-US" sz="2800" dirty="0"/>
          </a:p>
        </p:txBody>
      </p:sp>
      <p:sp>
        <p:nvSpPr>
          <p:cNvPr id="3" name="Shape 1"/>
          <p:cNvSpPr/>
          <p:nvPr/>
        </p:nvSpPr>
        <p:spPr>
          <a:xfrm>
            <a:off x="512064" y="1152144"/>
            <a:ext cx="4005072" cy="2810797"/>
          </a:xfrm>
          <a:prstGeom prst="roundRect">
            <a:avLst>
              <a:gd name="adj" fmla="val 1627"/>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pic>
        <p:nvPicPr>
          <p:cNvPr id="4" name="Screenshot: Dashboard and history" descr="Dashboard and history">    </p:cNvPr>
          <p:cNvPicPr>
            <a:picLocks noChangeAspect="1"/>
          </p:cNvPicPr>
          <p:nvPr/>
        </p:nvPicPr>
        <p:blipFill>
          <a:blip r:embed="rId1"/>
          <a:stretch>
            <a:fillRect/>
          </a:stretch>
        </p:blipFill>
        <p:spPr>
          <a:xfrm>
            <a:off x="548640" y="1188720"/>
            <a:ext cx="3931920" cy="2737645"/>
          </a:xfrm>
          <a:prstGeom prst="rect">
            <a:avLst/>
          </a:prstGeom>
        </p:spPr>
      </p:pic>
      <p:sp>
        <p:nvSpPr>
          <p:cNvPr id="5" name="Text 2"/>
          <p:cNvSpPr txBox="1"/>
          <p:nvPr/>
        </p:nvSpPr>
        <p:spPr>
          <a:xfrm>
            <a:off x="512064" y="4114800"/>
            <a:ext cx="4005072" cy="274320"/>
          </a:xfrm>
          <a:prstGeom prst="rect">
            <a:avLst/>
          </a:prstGeom>
          <a:noFill/>
          <a:ln/>
        </p:spPr>
        <p:txBody>
          <a:bodyPr wrap="square" lIns="0" tIns="0" rIns="0" bIns="0" rtlCol="0" anchor="ctr"/>
          <a:lstStyle/>
          <a:p>
            <a:pPr indent="0" marL="0">
              <a:buNone/>
            </a:pPr>
            <a:r>
              <a:rPr lang="en-US" sz="1400" b="1" dirty="0">
                <a:solidFill>
                  <a:schemeClr val="tx1"/>
                </a:solidFill>
              </a:rPr>
              <a:t>Dashboard and history</a:t>
            </a:r>
            <a:endParaRPr lang="en-US" sz="1400" dirty="0"/>
          </a:p>
        </p:txBody>
      </p:sp>
      <p:sp>
        <p:nvSpPr>
          <p:cNvPr id="6" name="Text 3"/>
          <p:cNvSpPr txBox="1"/>
          <p:nvPr/>
        </p:nvSpPr>
        <p:spPr>
          <a:xfrm>
            <a:off x="512064" y="4407408"/>
            <a:ext cx="4005072" cy="548640"/>
          </a:xfrm>
          <a:prstGeom prst="rect">
            <a:avLst/>
          </a:prstGeom>
          <a:noFill/>
          <a:ln/>
        </p:spPr>
        <p:txBody>
          <a:bodyPr wrap="square" lIns="0" tIns="0" rIns="0" bIns="0" rtlCol="0" anchor="t"/>
          <a:lstStyle/>
          <a:p>
            <a:pPr indent="0" marL="0">
              <a:buNone/>
            </a:pPr>
            <a:r>
              <a:rPr lang="en-US" sz="1200" dirty="0">
                <a:solidFill>
                  <a:schemeClr val="tx2"/>
                </a:solidFill>
              </a:rPr>
              <a:t>Totals, risk and outcomes from stored data, plus history.</a:t>
            </a:r>
            <a:endParaRPr lang="en-US" sz="1200" dirty="0"/>
          </a:p>
        </p:txBody>
      </p:sp>
      <p:sp>
        <p:nvSpPr>
          <p:cNvPr id="7" name="Shape 4"/>
          <p:cNvSpPr/>
          <p:nvPr/>
        </p:nvSpPr>
        <p:spPr>
          <a:xfrm>
            <a:off x="4626864" y="1152144"/>
            <a:ext cx="4005072" cy="2810797"/>
          </a:xfrm>
          <a:prstGeom prst="roundRect">
            <a:avLst>
              <a:gd name="adj" fmla="val 1627"/>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pic>
        <p:nvPicPr>
          <p:cNvPr id="8" name="Screenshot: Analytics" descr="Analytics">    </p:cNvPr>
          <p:cNvPicPr>
            <a:picLocks noChangeAspect="1"/>
          </p:cNvPicPr>
          <p:nvPr/>
        </p:nvPicPr>
        <p:blipFill>
          <a:blip r:embed="rId2"/>
          <a:stretch>
            <a:fillRect/>
          </a:stretch>
        </p:blipFill>
        <p:spPr>
          <a:xfrm>
            <a:off x="4663440" y="1188720"/>
            <a:ext cx="3931920" cy="2737645"/>
          </a:xfrm>
          <a:prstGeom prst="rect">
            <a:avLst/>
          </a:prstGeom>
        </p:spPr>
      </p:pic>
      <p:sp>
        <p:nvSpPr>
          <p:cNvPr id="9" name="Text 5"/>
          <p:cNvSpPr txBox="1"/>
          <p:nvPr/>
        </p:nvSpPr>
        <p:spPr>
          <a:xfrm>
            <a:off x="4626864" y="4114800"/>
            <a:ext cx="4005072" cy="274320"/>
          </a:xfrm>
          <a:prstGeom prst="rect">
            <a:avLst/>
          </a:prstGeom>
          <a:noFill/>
          <a:ln/>
        </p:spPr>
        <p:txBody>
          <a:bodyPr wrap="square" lIns="0" tIns="0" rIns="0" bIns="0" rtlCol="0" anchor="ctr"/>
          <a:lstStyle/>
          <a:p>
            <a:pPr indent="0" marL="0">
              <a:buNone/>
            </a:pPr>
            <a:r>
              <a:rPr lang="en-US" sz="1400" b="1" dirty="0">
                <a:solidFill>
                  <a:schemeClr val="tx1"/>
                </a:solidFill>
              </a:rPr>
              <a:t>Analytics</a:t>
            </a:r>
            <a:endParaRPr lang="en-US" sz="1400" dirty="0"/>
          </a:p>
        </p:txBody>
      </p:sp>
      <p:sp>
        <p:nvSpPr>
          <p:cNvPr id="10" name="Text 6"/>
          <p:cNvSpPr txBox="1"/>
          <p:nvPr/>
        </p:nvSpPr>
        <p:spPr>
          <a:xfrm>
            <a:off x="4626864" y="4407408"/>
            <a:ext cx="4005072" cy="548640"/>
          </a:xfrm>
          <a:prstGeom prst="rect">
            <a:avLst/>
          </a:prstGeom>
          <a:noFill/>
          <a:ln/>
        </p:spPr>
        <p:txBody>
          <a:bodyPr wrap="square" lIns="0" tIns="0" rIns="0" bIns="0" rtlCol="0" anchor="t"/>
          <a:lstStyle/>
          <a:p>
            <a:pPr indent="0" marL="0">
              <a:buNone/>
            </a:pPr>
            <a:r>
              <a:rPr lang="en-US" sz="1200" dirty="0">
                <a:solidFill>
                  <a:schemeClr val="tx2"/>
                </a:solidFill>
              </a:rPr>
              <a:t>Every figure is labelled real, synthetic or simulated.</a:t>
            </a:r>
            <a:endParaRPr lang="en-US" sz="12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How it is built and tested</a:t>
            </a:r>
            <a:endParaRPr lang="en-US" sz="2800" dirty="0"/>
          </a:p>
        </p:txBody>
      </p:sp>
      <p:sp>
        <p:nvSpPr>
          <p:cNvPr id="3" name="Text 1"/>
          <p:cNvSpPr txBox="1"/>
          <p:nvPr/>
        </p:nvSpPr>
        <p:spPr>
          <a:xfrm>
            <a:off x="548640" y="1188720"/>
            <a:ext cx="1371600" cy="365760"/>
          </a:xfrm>
          <a:prstGeom prst="rect">
            <a:avLst/>
          </a:prstGeom>
          <a:noFill/>
          <a:ln/>
        </p:spPr>
        <p:txBody>
          <a:bodyPr wrap="square" lIns="0" tIns="0" rIns="0" bIns="0" rtlCol="0" anchor="ctr"/>
          <a:lstStyle/>
          <a:p>
            <a:pPr indent="0" marL="0">
              <a:buNone/>
            </a:pPr>
            <a:r>
              <a:rPr lang="en-US" sz="1400" b="1" dirty="0">
                <a:solidFill>
                  <a:schemeClr val="accent1"/>
                </a:solidFill>
              </a:rPr>
              <a:t>Frontend</a:t>
            </a:r>
            <a:endParaRPr lang="en-US" sz="1400" dirty="0"/>
          </a:p>
        </p:txBody>
      </p:sp>
      <p:sp>
        <p:nvSpPr>
          <p:cNvPr id="4" name="Text 2"/>
          <p:cNvSpPr txBox="1"/>
          <p:nvPr/>
        </p:nvSpPr>
        <p:spPr>
          <a:xfrm>
            <a:off x="1920240" y="1188720"/>
            <a:ext cx="2743200" cy="365760"/>
          </a:xfrm>
          <a:prstGeom prst="rect">
            <a:avLst/>
          </a:prstGeom>
          <a:noFill/>
          <a:ln/>
        </p:spPr>
        <p:txBody>
          <a:bodyPr wrap="square" lIns="0" tIns="0" rIns="0" bIns="0" rtlCol="0" anchor="ctr"/>
          <a:lstStyle/>
          <a:p>
            <a:pPr indent="0" marL="0">
              <a:buNone/>
            </a:pPr>
            <a:r>
              <a:rPr lang="en-US" sz="1400" dirty="0">
                <a:solidFill>
                  <a:schemeClr val="tx1"/>
                </a:solidFill>
              </a:rPr>
              <a:t>React, Vite, Recharts</a:t>
            </a:r>
            <a:endParaRPr lang="en-US" sz="1400" dirty="0"/>
          </a:p>
        </p:txBody>
      </p:sp>
      <p:sp>
        <p:nvSpPr>
          <p:cNvPr id="5" name="Text 3"/>
          <p:cNvSpPr txBox="1"/>
          <p:nvPr/>
        </p:nvSpPr>
        <p:spPr>
          <a:xfrm>
            <a:off x="548640" y="1719072"/>
            <a:ext cx="1371600" cy="365760"/>
          </a:xfrm>
          <a:prstGeom prst="rect">
            <a:avLst/>
          </a:prstGeom>
          <a:noFill/>
          <a:ln/>
        </p:spPr>
        <p:txBody>
          <a:bodyPr wrap="square" lIns="0" tIns="0" rIns="0" bIns="0" rtlCol="0" anchor="ctr"/>
          <a:lstStyle/>
          <a:p>
            <a:pPr indent="0" marL="0">
              <a:buNone/>
            </a:pPr>
            <a:r>
              <a:rPr lang="en-US" sz="1400" b="1" dirty="0">
                <a:solidFill>
                  <a:schemeClr val="accent1"/>
                </a:solidFill>
              </a:rPr>
              <a:t>Backend</a:t>
            </a:r>
            <a:endParaRPr lang="en-US" sz="1400" dirty="0"/>
          </a:p>
        </p:txBody>
      </p:sp>
      <p:sp>
        <p:nvSpPr>
          <p:cNvPr id="6" name="Text 4"/>
          <p:cNvSpPr txBox="1"/>
          <p:nvPr/>
        </p:nvSpPr>
        <p:spPr>
          <a:xfrm>
            <a:off x="1920240" y="1719072"/>
            <a:ext cx="2743200" cy="365760"/>
          </a:xfrm>
          <a:prstGeom prst="rect">
            <a:avLst/>
          </a:prstGeom>
          <a:noFill/>
          <a:ln/>
        </p:spPr>
        <p:txBody>
          <a:bodyPr wrap="square" lIns="0" tIns="0" rIns="0" bIns="0" rtlCol="0" anchor="ctr"/>
          <a:lstStyle/>
          <a:p>
            <a:pPr indent="0" marL="0">
              <a:buNone/>
            </a:pPr>
            <a:r>
              <a:rPr lang="en-US" sz="1400" dirty="0">
                <a:solidFill>
                  <a:schemeClr val="tx1"/>
                </a:solidFill>
              </a:rPr>
              <a:t>FastAPI, SQLAlchemy, SQLite</a:t>
            </a:r>
            <a:endParaRPr lang="en-US" sz="1400" dirty="0"/>
          </a:p>
        </p:txBody>
      </p:sp>
      <p:sp>
        <p:nvSpPr>
          <p:cNvPr id="7" name="Text 5"/>
          <p:cNvSpPr txBox="1"/>
          <p:nvPr/>
        </p:nvSpPr>
        <p:spPr>
          <a:xfrm>
            <a:off x="548640" y="2249424"/>
            <a:ext cx="1371600" cy="365760"/>
          </a:xfrm>
          <a:prstGeom prst="rect">
            <a:avLst/>
          </a:prstGeom>
          <a:noFill/>
          <a:ln/>
        </p:spPr>
        <p:txBody>
          <a:bodyPr wrap="square" lIns="0" tIns="0" rIns="0" bIns="0" rtlCol="0" anchor="ctr"/>
          <a:lstStyle/>
          <a:p>
            <a:pPr indent="0" marL="0">
              <a:buNone/>
            </a:pPr>
            <a:r>
              <a:rPr lang="en-US" sz="1400" b="1" dirty="0">
                <a:solidFill>
                  <a:schemeClr val="accent1"/>
                </a:solidFill>
              </a:rPr>
              <a:t>Face</a:t>
            </a:r>
            <a:endParaRPr lang="en-US" sz="1400" dirty="0"/>
          </a:p>
        </p:txBody>
      </p:sp>
      <p:sp>
        <p:nvSpPr>
          <p:cNvPr id="8" name="Text 6"/>
          <p:cNvSpPr txBox="1"/>
          <p:nvPr/>
        </p:nvSpPr>
        <p:spPr>
          <a:xfrm>
            <a:off x="1920240" y="2249424"/>
            <a:ext cx="2743200" cy="365760"/>
          </a:xfrm>
          <a:prstGeom prst="rect">
            <a:avLst/>
          </a:prstGeom>
          <a:noFill/>
          <a:ln/>
        </p:spPr>
        <p:txBody>
          <a:bodyPr wrap="square" lIns="0" tIns="0" rIns="0" bIns="0" rtlCol="0" anchor="ctr"/>
          <a:lstStyle/>
          <a:p>
            <a:pPr indent="0" marL="0">
              <a:buNone/>
            </a:pPr>
            <a:r>
              <a:rPr lang="en-US" sz="1400" dirty="0">
                <a:solidFill>
                  <a:schemeClr val="tx1"/>
                </a:solidFill>
              </a:rPr>
              <a:t>OpenCV: YuNet + SFace</a:t>
            </a:r>
            <a:endParaRPr lang="en-US" sz="1400" dirty="0"/>
          </a:p>
        </p:txBody>
      </p:sp>
      <p:sp>
        <p:nvSpPr>
          <p:cNvPr id="9" name="Text 7"/>
          <p:cNvSpPr txBox="1"/>
          <p:nvPr/>
        </p:nvSpPr>
        <p:spPr>
          <a:xfrm>
            <a:off x="548640" y="2779776"/>
            <a:ext cx="1371600" cy="365760"/>
          </a:xfrm>
          <a:prstGeom prst="rect">
            <a:avLst/>
          </a:prstGeom>
          <a:noFill/>
          <a:ln/>
        </p:spPr>
        <p:txBody>
          <a:bodyPr wrap="square" lIns="0" tIns="0" rIns="0" bIns="0" rtlCol="0" anchor="ctr"/>
          <a:lstStyle/>
          <a:p>
            <a:pPr indent="0" marL="0">
              <a:buNone/>
            </a:pPr>
            <a:r>
              <a:rPr lang="en-US" sz="1400" b="1" dirty="0">
                <a:solidFill>
                  <a:schemeClr val="accent1"/>
                </a:solidFill>
              </a:rPr>
              <a:t>Voice</a:t>
            </a:r>
            <a:endParaRPr lang="en-US" sz="1400" dirty="0"/>
          </a:p>
        </p:txBody>
      </p:sp>
      <p:sp>
        <p:nvSpPr>
          <p:cNvPr id="10" name="Text 8"/>
          <p:cNvSpPr txBox="1"/>
          <p:nvPr/>
        </p:nvSpPr>
        <p:spPr>
          <a:xfrm>
            <a:off x="1920240" y="2779776"/>
            <a:ext cx="2743200" cy="365760"/>
          </a:xfrm>
          <a:prstGeom prst="rect">
            <a:avLst/>
          </a:prstGeom>
          <a:noFill/>
          <a:ln/>
        </p:spPr>
        <p:txBody>
          <a:bodyPr wrap="square" lIns="0" tIns="0" rIns="0" bIns="0" rtlCol="0" anchor="ctr"/>
          <a:lstStyle/>
          <a:p>
            <a:pPr indent="0" marL="0">
              <a:buNone/>
            </a:pPr>
            <a:r>
              <a:rPr lang="en-US" sz="1400" dirty="0">
                <a:solidFill>
                  <a:schemeClr val="tx1"/>
                </a:solidFill>
              </a:rPr>
              <a:t>SpeechBrain ECAPA-TDNN</a:t>
            </a:r>
            <a:endParaRPr lang="en-US" sz="1400" dirty="0"/>
          </a:p>
        </p:txBody>
      </p:sp>
      <p:sp>
        <p:nvSpPr>
          <p:cNvPr id="11" name="Text 9"/>
          <p:cNvSpPr txBox="1"/>
          <p:nvPr/>
        </p:nvSpPr>
        <p:spPr>
          <a:xfrm>
            <a:off x="548640" y="3310128"/>
            <a:ext cx="1371600" cy="365760"/>
          </a:xfrm>
          <a:prstGeom prst="rect">
            <a:avLst/>
          </a:prstGeom>
          <a:noFill/>
          <a:ln/>
        </p:spPr>
        <p:txBody>
          <a:bodyPr wrap="square" lIns="0" tIns="0" rIns="0" bIns="0" rtlCol="0" anchor="ctr"/>
          <a:lstStyle/>
          <a:p>
            <a:pPr indent="0" marL="0">
              <a:buNone/>
            </a:pPr>
            <a:r>
              <a:rPr lang="en-US" sz="1400" b="1" dirty="0">
                <a:solidFill>
                  <a:schemeClr val="accent1"/>
                </a:solidFill>
              </a:rPr>
              <a:t>Spoken words</a:t>
            </a:r>
            <a:endParaRPr lang="en-US" sz="1400" dirty="0"/>
          </a:p>
        </p:txBody>
      </p:sp>
      <p:sp>
        <p:nvSpPr>
          <p:cNvPr id="12" name="Text 10"/>
          <p:cNvSpPr txBox="1"/>
          <p:nvPr/>
        </p:nvSpPr>
        <p:spPr>
          <a:xfrm>
            <a:off x="1920240" y="3310128"/>
            <a:ext cx="2743200" cy="365760"/>
          </a:xfrm>
          <a:prstGeom prst="rect">
            <a:avLst/>
          </a:prstGeom>
          <a:noFill/>
          <a:ln/>
        </p:spPr>
        <p:txBody>
          <a:bodyPr wrap="square" lIns="0" tIns="0" rIns="0" bIns="0" rtlCol="0" anchor="ctr"/>
          <a:lstStyle/>
          <a:p>
            <a:pPr indent="0" marL="0">
              <a:buNone/>
            </a:pPr>
            <a:r>
              <a:rPr lang="en-US" sz="1400" dirty="0">
                <a:solidFill>
                  <a:schemeClr val="tx1"/>
                </a:solidFill>
              </a:rPr>
              <a:t>faster-whisper (tiny.en)</a:t>
            </a:r>
            <a:endParaRPr lang="en-US" sz="1400" dirty="0"/>
          </a:p>
        </p:txBody>
      </p:sp>
      <p:sp>
        <p:nvSpPr>
          <p:cNvPr id="13" name="Text 11"/>
          <p:cNvSpPr txBox="1"/>
          <p:nvPr/>
        </p:nvSpPr>
        <p:spPr>
          <a:xfrm>
            <a:off x="548640" y="3840480"/>
            <a:ext cx="1371600" cy="365760"/>
          </a:xfrm>
          <a:prstGeom prst="rect">
            <a:avLst/>
          </a:prstGeom>
          <a:noFill/>
          <a:ln/>
        </p:spPr>
        <p:txBody>
          <a:bodyPr wrap="square" lIns="0" tIns="0" rIns="0" bIns="0" rtlCol="0" anchor="ctr"/>
          <a:lstStyle/>
          <a:p>
            <a:pPr indent="0" marL="0">
              <a:buNone/>
            </a:pPr>
            <a:r>
              <a:rPr lang="en-US" sz="1400" b="1" dirty="0">
                <a:solidFill>
                  <a:schemeClr val="accent1"/>
                </a:solidFill>
              </a:rPr>
              <a:t>Fingerprint</a:t>
            </a:r>
            <a:endParaRPr lang="en-US" sz="1400" dirty="0"/>
          </a:p>
        </p:txBody>
      </p:sp>
      <p:sp>
        <p:nvSpPr>
          <p:cNvPr id="14" name="Text 12"/>
          <p:cNvSpPr txBox="1"/>
          <p:nvPr/>
        </p:nvSpPr>
        <p:spPr>
          <a:xfrm>
            <a:off x="1920240" y="3840480"/>
            <a:ext cx="2743200" cy="365760"/>
          </a:xfrm>
          <a:prstGeom prst="rect">
            <a:avLst/>
          </a:prstGeom>
          <a:noFill/>
          <a:ln/>
        </p:spPr>
        <p:txBody>
          <a:bodyPr wrap="square" lIns="0" tIns="0" rIns="0" bIns="0" rtlCol="0" anchor="ctr"/>
          <a:lstStyle/>
          <a:p>
            <a:pPr indent="0" marL="0">
              <a:buNone/>
            </a:pPr>
            <a:r>
              <a:rPr lang="en-US" sz="1400" dirty="0">
                <a:solidFill>
                  <a:schemeClr val="tx1"/>
                </a:solidFill>
              </a:rPr>
              <a:t>SIFT keypoints + RANSAC</a:t>
            </a:r>
            <a:endParaRPr lang="en-US" sz="1400" dirty="0"/>
          </a:p>
        </p:txBody>
      </p:sp>
      <p:sp>
        <p:nvSpPr>
          <p:cNvPr id="15" name="Shape 13"/>
          <p:cNvSpPr/>
          <p:nvPr/>
        </p:nvSpPr>
        <p:spPr>
          <a:xfrm>
            <a:off x="5029200" y="1143000"/>
            <a:ext cx="3566160" cy="960120"/>
          </a:xfrm>
          <a:prstGeom prst="roundRect">
            <a:avLst>
              <a:gd name="adj" fmla="val 7619"/>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6" name="Text 14"/>
          <p:cNvSpPr txBox="1"/>
          <p:nvPr/>
        </p:nvSpPr>
        <p:spPr>
          <a:xfrm>
            <a:off x="5212080" y="1143000"/>
            <a:ext cx="1188720" cy="96012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323</a:t>
            </a:r>
            <a:endParaRPr lang="en-US" sz="3800" dirty="0"/>
          </a:p>
        </p:txBody>
      </p:sp>
      <p:sp>
        <p:nvSpPr>
          <p:cNvPr id="17" name="Text 15"/>
          <p:cNvSpPr txBox="1"/>
          <p:nvPr/>
        </p:nvSpPr>
        <p:spPr>
          <a:xfrm>
            <a:off x="6400800" y="1143000"/>
            <a:ext cx="2103120" cy="960120"/>
          </a:xfrm>
          <a:prstGeom prst="rect">
            <a:avLst/>
          </a:prstGeom>
          <a:noFill/>
          <a:ln/>
        </p:spPr>
        <p:txBody>
          <a:bodyPr wrap="square" lIns="0" tIns="0" rIns="0" bIns="0" rtlCol="0" anchor="ctr"/>
          <a:lstStyle/>
          <a:p>
            <a:pPr indent="0" marL="0">
              <a:buNone/>
            </a:pPr>
            <a:r>
              <a:rPr lang="en-US" sz="1400" dirty="0">
                <a:solidFill>
                  <a:schemeClr val="tx2"/>
                </a:solidFill>
              </a:rPr>
              <a:t>automated tests passing</a:t>
            </a:r>
            <a:endParaRPr lang="en-US" sz="1400" dirty="0"/>
          </a:p>
        </p:txBody>
      </p:sp>
      <p:sp>
        <p:nvSpPr>
          <p:cNvPr id="18" name="Shape 16"/>
          <p:cNvSpPr/>
          <p:nvPr/>
        </p:nvSpPr>
        <p:spPr>
          <a:xfrm>
            <a:off x="5029200" y="2240280"/>
            <a:ext cx="3566160" cy="960120"/>
          </a:xfrm>
          <a:prstGeom prst="roundRect">
            <a:avLst>
              <a:gd name="adj" fmla="val 7619"/>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9" name="Text 17"/>
          <p:cNvSpPr txBox="1"/>
          <p:nvPr/>
        </p:nvSpPr>
        <p:spPr>
          <a:xfrm>
            <a:off x="5212080" y="2240280"/>
            <a:ext cx="1188720" cy="96012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1</a:t>
            </a:r>
            <a:endParaRPr lang="en-US" sz="3800" dirty="0"/>
          </a:p>
        </p:txBody>
      </p:sp>
      <p:sp>
        <p:nvSpPr>
          <p:cNvPr id="20" name="Text 18"/>
          <p:cNvSpPr txBox="1"/>
          <p:nvPr/>
        </p:nvSpPr>
        <p:spPr>
          <a:xfrm>
            <a:off x="6400800" y="2240280"/>
            <a:ext cx="2103120" cy="960120"/>
          </a:xfrm>
          <a:prstGeom prst="rect">
            <a:avLst/>
          </a:prstGeom>
          <a:noFill/>
          <a:ln/>
        </p:spPr>
        <p:txBody>
          <a:bodyPr wrap="square" lIns="0" tIns="0" rIns="0" bIns="0" rtlCol="0" anchor="ctr"/>
          <a:lstStyle/>
          <a:p>
            <a:pPr indent="0" marL="0">
              <a:buNone/>
            </a:pPr>
            <a:r>
              <a:rPr lang="en-US" sz="1400" dirty="0">
                <a:solidFill>
                  <a:schemeClr val="tx2"/>
                </a:solidFill>
              </a:rPr>
              <a:t>browser test of the whole flow in real Chrome</a:t>
            </a:r>
            <a:endParaRPr lang="en-US" sz="1400" dirty="0"/>
          </a:p>
        </p:txBody>
      </p:sp>
      <p:sp>
        <p:nvSpPr>
          <p:cNvPr id="21" name="Shape 19"/>
          <p:cNvSpPr/>
          <p:nvPr/>
        </p:nvSpPr>
        <p:spPr>
          <a:xfrm>
            <a:off x="5029200" y="3337560"/>
            <a:ext cx="3566160" cy="960120"/>
          </a:xfrm>
          <a:prstGeom prst="roundRect">
            <a:avLst>
              <a:gd name="adj" fmla="val 7619"/>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2" name="Text 20"/>
          <p:cNvSpPr txBox="1"/>
          <p:nvPr/>
        </p:nvSpPr>
        <p:spPr>
          <a:xfrm>
            <a:off x="5212080" y="3337560"/>
            <a:ext cx="1188720" cy="96012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10</a:t>
            </a:r>
            <a:endParaRPr lang="en-US" sz="3800" dirty="0"/>
          </a:p>
        </p:txBody>
      </p:sp>
      <p:sp>
        <p:nvSpPr>
          <p:cNvPr id="23" name="Text 21"/>
          <p:cNvSpPr txBox="1"/>
          <p:nvPr/>
        </p:nvSpPr>
        <p:spPr>
          <a:xfrm>
            <a:off x="6400800" y="3337560"/>
            <a:ext cx="2103120" cy="960120"/>
          </a:xfrm>
          <a:prstGeom prst="rect">
            <a:avLst/>
          </a:prstGeom>
          <a:noFill/>
          <a:ln/>
        </p:spPr>
        <p:txBody>
          <a:bodyPr wrap="square" lIns="0" tIns="0" rIns="0" bIns="0" rtlCol="0" anchor="ctr"/>
          <a:lstStyle/>
          <a:p>
            <a:pPr indent="0" marL="0">
              <a:buNone/>
            </a:pPr>
            <a:r>
              <a:rPr lang="en-US" sz="1400" dirty="0">
                <a:solidFill>
                  <a:schemeClr val="tx2"/>
                </a:solidFill>
              </a:rPr>
              <a:t>random splits per evaluation</a:t>
            </a:r>
            <a:endParaRPr lang="en-US" sz="1400" dirty="0"/>
          </a:p>
        </p:txBody>
      </p:sp>
      <p:sp>
        <p:nvSpPr>
          <p:cNvPr id="24" name="Text 22"/>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200" dirty="0">
                <a:solidFill>
                  <a:schemeClr val="tx2"/>
                </a:solidFill>
              </a:rPr>
              <a:t>Models are open source and run on a normal CPU. No paid services.</a:t>
            </a:r>
            <a:endParaRPr lang="en-US" sz="12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How we evaluated it</a:t>
            </a:r>
            <a:endParaRPr lang="en-US" sz="2800" dirty="0"/>
          </a:p>
        </p:txBody>
      </p:sp>
      <p:sp>
        <p:nvSpPr>
          <p:cNvPr id="3" name="Shape 1"/>
          <p:cNvSpPr/>
          <p:nvPr/>
        </p:nvSpPr>
        <p:spPr>
          <a:xfrm>
            <a:off x="548640" y="1188720"/>
            <a:ext cx="1207008" cy="1188720"/>
          </a:xfrm>
          <a:prstGeom prst="roundRect">
            <a:avLst>
              <a:gd name="adj" fmla="val 6154"/>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 name="Text 2"/>
          <p:cNvSpPr txBox="1"/>
          <p:nvPr/>
        </p:nvSpPr>
        <p:spPr>
          <a:xfrm>
            <a:off x="603504" y="1298448"/>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Public datasets</a:t>
            </a:r>
            <a:endParaRPr lang="en-US" sz="1300" dirty="0"/>
          </a:p>
        </p:txBody>
      </p:sp>
      <p:sp>
        <p:nvSpPr>
          <p:cNvPr id="5" name="Text 3"/>
          <p:cNvSpPr txBox="1"/>
          <p:nvPr/>
        </p:nvSpPr>
        <p:spPr>
          <a:xfrm>
            <a:off x="621792" y="1783080"/>
            <a:ext cx="1060704" cy="548640"/>
          </a:xfrm>
          <a:prstGeom prst="rect">
            <a:avLst/>
          </a:prstGeom>
          <a:noFill/>
          <a:ln/>
        </p:spPr>
        <p:txBody>
          <a:bodyPr wrap="square" lIns="0" tIns="0" rIns="0" bIns="0" rtlCol="0" anchor="t"/>
          <a:lstStyle/>
          <a:p>
            <a:pPr algn="ctr" indent="0" marL="0">
              <a:buNone/>
            </a:pPr>
            <a:r>
              <a:rPr lang="en-US" sz="1100" dirty="0">
                <a:solidFill>
                  <a:schemeClr val="tx2"/>
                </a:solidFill>
              </a:rPr>
              <a:t>LFW faces, LibriSpeech voices</a:t>
            </a:r>
            <a:endParaRPr lang="en-US" sz="1100" dirty="0"/>
          </a:p>
        </p:txBody>
      </p:sp>
      <p:sp>
        <p:nvSpPr>
          <p:cNvPr id="6" name="Shape 4"/>
          <p:cNvSpPr/>
          <p:nvPr/>
        </p:nvSpPr>
        <p:spPr>
          <a:xfrm>
            <a:off x="1764792" y="1783080"/>
            <a:ext cx="142646" cy="0"/>
          </a:xfrm>
          <a:prstGeom prst="line">
            <a:avLst/>
          </a:prstGeom>
          <a:noFill/>
          <a:ln w="19050">
            <a:solidFill>
              <a:schemeClr val="accent5"/>
            </a:solidFill>
            <a:prstDash val="solid"/>
            <a:tailEnd type="triangle"/>
          </a:ln>
        </p:spPr>
      </p:sp>
      <p:sp>
        <p:nvSpPr>
          <p:cNvPr id="7" name="Shape 5"/>
          <p:cNvSpPr/>
          <p:nvPr/>
        </p:nvSpPr>
        <p:spPr>
          <a:xfrm>
            <a:off x="1916582" y="1188720"/>
            <a:ext cx="1207008" cy="1188720"/>
          </a:xfrm>
          <a:prstGeom prst="roundRect">
            <a:avLst>
              <a:gd name="adj" fmla="val 6154"/>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8" name="Text 6"/>
          <p:cNvSpPr txBox="1"/>
          <p:nvPr/>
        </p:nvSpPr>
        <p:spPr>
          <a:xfrm>
            <a:off x="1971446" y="1298448"/>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Trials</a:t>
            </a:r>
            <a:endParaRPr lang="en-US" sz="1300" dirty="0"/>
          </a:p>
        </p:txBody>
      </p:sp>
      <p:sp>
        <p:nvSpPr>
          <p:cNvPr id="9" name="Text 7"/>
          <p:cNvSpPr txBox="1"/>
          <p:nvPr/>
        </p:nvSpPr>
        <p:spPr>
          <a:xfrm>
            <a:off x="1989734" y="1783080"/>
            <a:ext cx="1060704" cy="548640"/>
          </a:xfrm>
          <a:prstGeom prst="rect">
            <a:avLst/>
          </a:prstGeom>
          <a:noFill/>
          <a:ln/>
        </p:spPr>
        <p:txBody>
          <a:bodyPr wrap="square" lIns="0" tIns="0" rIns="0" bIns="0" rtlCol="0" anchor="t"/>
          <a:lstStyle/>
          <a:p>
            <a:pPr algn="ctr" indent="0" marL="0">
              <a:buNone/>
            </a:pPr>
            <a:r>
              <a:rPr lang="en-US" sz="1100" dirty="0">
                <a:solidFill>
                  <a:schemeClr val="tx2"/>
                </a:solidFill>
              </a:rPr>
              <a:t>genuine and impostor</a:t>
            </a:r>
            <a:endParaRPr lang="en-US" sz="1100" dirty="0"/>
          </a:p>
        </p:txBody>
      </p:sp>
      <p:sp>
        <p:nvSpPr>
          <p:cNvPr id="10" name="Shape 8"/>
          <p:cNvSpPr/>
          <p:nvPr/>
        </p:nvSpPr>
        <p:spPr>
          <a:xfrm>
            <a:off x="3132734" y="1783080"/>
            <a:ext cx="142646" cy="0"/>
          </a:xfrm>
          <a:prstGeom prst="line">
            <a:avLst/>
          </a:prstGeom>
          <a:noFill/>
          <a:ln w="19050">
            <a:solidFill>
              <a:schemeClr val="accent5"/>
            </a:solidFill>
            <a:prstDash val="solid"/>
            <a:tailEnd type="triangle"/>
          </a:ln>
        </p:spPr>
      </p:sp>
      <p:sp>
        <p:nvSpPr>
          <p:cNvPr id="11" name="Shape 9"/>
          <p:cNvSpPr/>
          <p:nvPr/>
        </p:nvSpPr>
        <p:spPr>
          <a:xfrm>
            <a:off x="3284525" y="1188720"/>
            <a:ext cx="1207008" cy="1188720"/>
          </a:xfrm>
          <a:prstGeom prst="roundRect">
            <a:avLst>
              <a:gd name="adj" fmla="val 6154"/>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2" name="Text 10"/>
          <p:cNvSpPr txBox="1"/>
          <p:nvPr/>
        </p:nvSpPr>
        <p:spPr>
          <a:xfrm>
            <a:off x="3339389" y="1298448"/>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Split people</a:t>
            </a:r>
            <a:endParaRPr lang="en-US" sz="1300" dirty="0"/>
          </a:p>
        </p:txBody>
      </p:sp>
      <p:sp>
        <p:nvSpPr>
          <p:cNvPr id="13" name="Text 11"/>
          <p:cNvSpPr txBox="1"/>
          <p:nvPr/>
        </p:nvSpPr>
        <p:spPr>
          <a:xfrm>
            <a:off x="3357677" y="1783080"/>
            <a:ext cx="1060704" cy="548640"/>
          </a:xfrm>
          <a:prstGeom prst="rect">
            <a:avLst/>
          </a:prstGeom>
          <a:noFill/>
          <a:ln/>
        </p:spPr>
        <p:txBody>
          <a:bodyPr wrap="square" lIns="0" tIns="0" rIns="0" bIns="0" rtlCol="0" anchor="t"/>
          <a:lstStyle/>
          <a:p>
            <a:pPr algn="ctr" indent="0" marL="0">
              <a:buNone/>
            </a:pPr>
            <a:r>
              <a:rPr lang="en-US" sz="1100" dirty="0">
                <a:solidFill>
                  <a:schemeClr val="tx2"/>
                </a:solidFill>
              </a:rPr>
              <a:t>two halves, never mixed</a:t>
            </a:r>
            <a:endParaRPr lang="en-US" sz="1100" dirty="0"/>
          </a:p>
        </p:txBody>
      </p:sp>
      <p:sp>
        <p:nvSpPr>
          <p:cNvPr id="14" name="Shape 12"/>
          <p:cNvSpPr/>
          <p:nvPr/>
        </p:nvSpPr>
        <p:spPr>
          <a:xfrm>
            <a:off x="4500677" y="1783080"/>
            <a:ext cx="142646" cy="0"/>
          </a:xfrm>
          <a:prstGeom prst="line">
            <a:avLst/>
          </a:prstGeom>
          <a:noFill/>
          <a:ln w="19050">
            <a:solidFill>
              <a:schemeClr val="accent5"/>
            </a:solidFill>
            <a:prstDash val="solid"/>
            <a:tailEnd type="triangle"/>
          </a:ln>
        </p:spPr>
      </p:sp>
      <p:sp>
        <p:nvSpPr>
          <p:cNvPr id="15" name="Shape 13"/>
          <p:cNvSpPr/>
          <p:nvPr/>
        </p:nvSpPr>
        <p:spPr>
          <a:xfrm>
            <a:off x="4652467" y="1188720"/>
            <a:ext cx="1207008" cy="1188720"/>
          </a:xfrm>
          <a:prstGeom prst="roundRect">
            <a:avLst>
              <a:gd name="adj" fmla="val 6154"/>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6" name="Text 14"/>
          <p:cNvSpPr txBox="1"/>
          <p:nvPr/>
        </p:nvSpPr>
        <p:spPr>
          <a:xfrm>
            <a:off x="4707331" y="1298448"/>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Fit on half A</a:t>
            </a:r>
            <a:endParaRPr lang="en-US" sz="1300" dirty="0"/>
          </a:p>
        </p:txBody>
      </p:sp>
      <p:sp>
        <p:nvSpPr>
          <p:cNvPr id="17" name="Text 15"/>
          <p:cNvSpPr txBox="1"/>
          <p:nvPr/>
        </p:nvSpPr>
        <p:spPr>
          <a:xfrm>
            <a:off x="4725619" y="1783080"/>
            <a:ext cx="1060704" cy="548640"/>
          </a:xfrm>
          <a:prstGeom prst="rect">
            <a:avLst/>
          </a:prstGeom>
          <a:noFill/>
          <a:ln/>
        </p:spPr>
        <p:txBody>
          <a:bodyPr wrap="square" lIns="0" tIns="0" rIns="0" bIns="0" rtlCol="0" anchor="t"/>
          <a:lstStyle/>
          <a:p>
            <a:pPr algn="ctr" indent="0" marL="0">
              <a:buNone/>
            </a:pPr>
            <a:r>
              <a:rPr lang="en-US" sz="1100" dirty="0">
                <a:solidFill>
                  <a:schemeClr val="tx2"/>
                </a:solidFill>
              </a:rPr>
              <a:t>thresholds</a:t>
            </a:r>
            <a:endParaRPr lang="en-US" sz="1100" dirty="0"/>
          </a:p>
        </p:txBody>
      </p:sp>
      <p:sp>
        <p:nvSpPr>
          <p:cNvPr id="18" name="Shape 16"/>
          <p:cNvSpPr/>
          <p:nvPr/>
        </p:nvSpPr>
        <p:spPr>
          <a:xfrm>
            <a:off x="5868619" y="1783080"/>
            <a:ext cx="142646" cy="0"/>
          </a:xfrm>
          <a:prstGeom prst="line">
            <a:avLst/>
          </a:prstGeom>
          <a:noFill/>
          <a:ln w="19050">
            <a:solidFill>
              <a:schemeClr val="accent5"/>
            </a:solidFill>
            <a:prstDash val="solid"/>
            <a:tailEnd type="triangle"/>
          </a:ln>
        </p:spPr>
      </p:sp>
      <p:sp>
        <p:nvSpPr>
          <p:cNvPr id="19" name="Shape 17"/>
          <p:cNvSpPr/>
          <p:nvPr/>
        </p:nvSpPr>
        <p:spPr>
          <a:xfrm>
            <a:off x="6020410" y="1188720"/>
            <a:ext cx="1207008" cy="1188720"/>
          </a:xfrm>
          <a:prstGeom prst="roundRect">
            <a:avLst>
              <a:gd name="adj" fmla="val 6154"/>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0" name="Text 18"/>
          <p:cNvSpPr txBox="1"/>
          <p:nvPr/>
        </p:nvSpPr>
        <p:spPr>
          <a:xfrm>
            <a:off x="6075274" y="1298448"/>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Measure on half B</a:t>
            </a:r>
            <a:endParaRPr lang="en-US" sz="1300" dirty="0"/>
          </a:p>
        </p:txBody>
      </p:sp>
      <p:sp>
        <p:nvSpPr>
          <p:cNvPr id="21" name="Text 19"/>
          <p:cNvSpPr txBox="1"/>
          <p:nvPr/>
        </p:nvSpPr>
        <p:spPr>
          <a:xfrm>
            <a:off x="6093562" y="1783080"/>
            <a:ext cx="1060704" cy="548640"/>
          </a:xfrm>
          <a:prstGeom prst="rect">
            <a:avLst/>
          </a:prstGeom>
          <a:noFill/>
          <a:ln/>
        </p:spPr>
        <p:txBody>
          <a:bodyPr wrap="square" lIns="0" tIns="0" rIns="0" bIns="0" rtlCol="0" anchor="t"/>
          <a:lstStyle/>
          <a:p>
            <a:pPr algn="ctr" indent="0" marL="0">
              <a:buNone/>
            </a:pPr>
            <a:r>
              <a:rPr lang="en-US" sz="1100" dirty="0">
                <a:solidFill>
                  <a:schemeClr val="tx2"/>
                </a:solidFill>
              </a:rPr>
              <a:t>FAR, FRR, EER</a:t>
            </a:r>
            <a:endParaRPr lang="en-US" sz="1100" dirty="0"/>
          </a:p>
        </p:txBody>
      </p:sp>
      <p:sp>
        <p:nvSpPr>
          <p:cNvPr id="22" name="Shape 20"/>
          <p:cNvSpPr/>
          <p:nvPr/>
        </p:nvSpPr>
        <p:spPr>
          <a:xfrm>
            <a:off x="7236562" y="1783080"/>
            <a:ext cx="142646" cy="0"/>
          </a:xfrm>
          <a:prstGeom prst="line">
            <a:avLst/>
          </a:prstGeom>
          <a:noFill/>
          <a:ln w="19050">
            <a:solidFill>
              <a:schemeClr val="accent5"/>
            </a:solidFill>
            <a:prstDash val="solid"/>
            <a:tailEnd type="triangle"/>
          </a:ln>
        </p:spPr>
      </p:sp>
      <p:sp>
        <p:nvSpPr>
          <p:cNvPr id="23" name="Shape 21"/>
          <p:cNvSpPr/>
          <p:nvPr/>
        </p:nvSpPr>
        <p:spPr>
          <a:xfrm>
            <a:off x="7388352" y="1188720"/>
            <a:ext cx="1207008" cy="1188720"/>
          </a:xfrm>
          <a:prstGeom prst="roundRect">
            <a:avLst>
              <a:gd name="adj" fmla="val 6154"/>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4" name="Text 22"/>
          <p:cNvSpPr txBox="1"/>
          <p:nvPr/>
        </p:nvSpPr>
        <p:spPr>
          <a:xfrm>
            <a:off x="7443216" y="1298448"/>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Repeat</a:t>
            </a:r>
            <a:endParaRPr lang="en-US" sz="1300" dirty="0"/>
          </a:p>
        </p:txBody>
      </p:sp>
      <p:sp>
        <p:nvSpPr>
          <p:cNvPr id="25" name="Text 23"/>
          <p:cNvSpPr txBox="1"/>
          <p:nvPr/>
        </p:nvSpPr>
        <p:spPr>
          <a:xfrm>
            <a:off x="7461504" y="1783080"/>
            <a:ext cx="1060704" cy="548640"/>
          </a:xfrm>
          <a:prstGeom prst="rect">
            <a:avLst/>
          </a:prstGeom>
          <a:noFill/>
          <a:ln/>
        </p:spPr>
        <p:txBody>
          <a:bodyPr wrap="square" lIns="0" tIns="0" rIns="0" bIns="0" rtlCol="0" anchor="t"/>
          <a:lstStyle/>
          <a:p>
            <a:pPr algn="ctr" indent="0" marL="0">
              <a:buNone/>
            </a:pPr>
            <a:r>
              <a:rPr lang="en-US" sz="1100" dirty="0">
                <a:solidFill>
                  <a:schemeClr val="tx2"/>
                </a:solidFill>
              </a:rPr>
              <a:t>10 random splits</a:t>
            </a:r>
            <a:endParaRPr lang="en-US" sz="1100" dirty="0"/>
          </a:p>
        </p:txBody>
      </p:sp>
      <p:sp>
        <p:nvSpPr>
          <p:cNvPr id="26" name="Shape 24"/>
          <p:cNvSpPr/>
          <p:nvPr/>
        </p:nvSpPr>
        <p:spPr>
          <a:xfrm>
            <a:off x="548640" y="2697480"/>
            <a:ext cx="2560320" cy="1783080"/>
          </a:xfrm>
          <a:prstGeom prst="roundRect">
            <a:avLst>
              <a:gd name="adj" fmla="val 410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27" name="Shape 25"/>
          <p:cNvSpPr/>
          <p:nvPr/>
        </p:nvSpPr>
        <p:spPr>
          <a:xfrm>
            <a:off x="731520" y="2852928"/>
            <a:ext cx="1234440" cy="274320"/>
          </a:xfrm>
          <a:prstGeom prst="roundRect">
            <a:avLst>
              <a:gd name="adj" fmla="val 50000"/>
            </a:avLst>
          </a:prstGeom>
          <a:solidFill>
            <a:schemeClr val="accent3">
              <a:alpha val="20000"/>
            </a:schemeClr>
          </a:solidFill>
          <a:ln w="12700">
            <a:solidFill>
              <a:schemeClr val="accent3">
                <a:alpha val="0"/>
              </a:schemeClr>
            </a:solidFill>
            <a:prstDash val="solid"/>
          </a:ln>
        </p:spPr>
      </p:sp>
      <p:sp>
        <p:nvSpPr>
          <p:cNvPr id="28" name="Text 26"/>
          <p:cNvSpPr txBox="1"/>
          <p:nvPr/>
        </p:nvSpPr>
        <p:spPr>
          <a:xfrm>
            <a:off x="731520" y="2852928"/>
            <a:ext cx="1234440" cy="274320"/>
          </a:xfrm>
          <a:prstGeom prst="rect">
            <a:avLst/>
          </a:prstGeom>
          <a:noFill/>
          <a:ln/>
        </p:spPr>
        <p:txBody>
          <a:bodyPr wrap="square" lIns="0" tIns="0" rIns="0" bIns="0" rtlCol="0" anchor="ctr"/>
          <a:lstStyle/>
          <a:p>
            <a:pPr algn="ctr" indent="0" marL="0">
              <a:buNone/>
            </a:pPr>
            <a:r>
              <a:rPr lang="en-US" sz="1200" b="1" dirty="0">
                <a:solidFill>
                  <a:schemeClr val="tx1"/>
                </a:solidFill>
              </a:rPr>
              <a:t>Real data</a:t>
            </a:r>
            <a:endParaRPr lang="en-US" sz="1200" dirty="0"/>
          </a:p>
        </p:txBody>
      </p:sp>
      <p:sp>
        <p:nvSpPr>
          <p:cNvPr id="29" name="Text 27"/>
          <p:cNvSpPr txBox="1"/>
          <p:nvPr/>
        </p:nvSpPr>
        <p:spPr>
          <a:xfrm>
            <a:off x="731520" y="3273552"/>
            <a:ext cx="2194560" cy="1143000"/>
          </a:xfrm>
          <a:prstGeom prst="rect">
            <a:avLst/>
          </a:prstGeom>
          <a:noFill/>
          <a:ln/>
        </p:spPr>
        <p:txBody>
          <a:bodyPr wrap="square" lIns="0" tIns="0" rIns="0" bIns="0" rtlCol="0" anchor="t"/>
          <a:lstStyle/>
          <a:p>
            <a:pPr indent="0" marL="0">
              <a:buNone/>
            </a:pPr>
            <a:r>
              <a:rPr lang="en-US" sz="1300" dirty="0">
                <a:solidFill>
                  <a:schemeClr val="tx2"/>
                </a:solidFill>
              </a:rPr>
              <a:t>Faces from LFW and voices from Mini LibriSpeech, public datasets of real people.</a:t>
            </a:r>
            <a:endParaRPr lang="en-US" sz="1300" dirty="0"/>
          </a:p>
        </p:txBody>
      </p:sp>
      <p:sp>
        <p:nvSpPr>
          <p:cNvPr id="30" name="Shape 28"/>
          <p:cNvSpPr/>
          <p:nvPr/>
        </p:nvSpPr>
        <p:spPr>
          <a:xfrm>
            <a:off x="3291840" y="2697480"/>
            <a:ext cx="2560320" cy="1783080"/>
          </a:xfrm>
          <a:prstGeom prst="roundRect">
            <a:avLst>
              <a:gd name="adj" fmla="val 410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31" name="Shape 29"/>
          <p:cNvSpPr/>
          <p:nvPr/>
        </p:nvSpPr>
        <p:spPr>
          <a:xfrm>
            <a:off x="3474720" y="2852928"/>
            <a:ext cx="1234440" cy="274320"/>
          </a:xfrm>
          <a:prstGeom prst="roundRect">
            <a:avLst>
              <a:gd name="adj" fmla="val 50000"/>
            </a:avLst>
          </a:prstGeom>
          <a:solidFill>
            <a:schemeClr val="accent2">
              <a:alpha val="20000"/>
            </a:schemeClr>
          </a:solidFill>
          <a:ln w="12700">
            <a:solidFill>
              <a:schemeClr val="accent2">
                <a:alpha val="0"/>
              </a:schemeClr>
            </a:solidFill>
            <a:prstDash val="solid"/>
          </a:ln>
        </p:spPr>
      </p:sp>
      <p:sp>
        <p:nvSpPr>
          <p:cNvPr id="32" name="Text 30"/>
          <p:cNvSpPr txBox="1"/>
          <p:nvPr/>
        </p:nvSpPr>
        <p:spPr>
          <a:xfrm>
            <a:off x="3474720" y="2852928"/>
            <a:ext cx="1234440" cy="274320"/>
          </a:xfrm>
          <a:prstGeom prst="rect">
            <a:avLst/>
          </a:prstGeom>
          <a:noFill/>
          <a:ln/>
        </p:spPr>
        <p:txBody>
          <a:bodyPr wrap="square" lIns="0" tIns="0" rIns="0" bIns="0" rtlCol="0" anchor="ctr"/>
          <a:lstStyle/>
          <a:p>
            <a:pPr algn="ctr" indent="0" marL="0">
              <a:buNone/>
            </a:pPr>
            <a:r>
              <a:rPr lang="en-US" sz="1200" b="1" dirty="0">
                <a:solidFill>
                  <a:schemeClr val="tx1"/>
                </a:solidFill>
              </a:rPr>
              <a:t>Synthetic data</a:t>
            </a:r>
            <a:endParaRPr lang="en-US" sz="1200" dirty="0"/>
          </a:p>
        </p:txBody>
      </p:sp>
      <p:sp>
        <p:nvSpPr>
          <p:cNvPr id="33" name="Text 31"/>
          <p:cNvSpPr txBox="1"/>
          <p:nvPr/>
        </p:nvSpPr>
        <p:spPr>
          <a:xfrm>
            <a:off x="3474720" y="3273552"/>
            <a:ext cx="2194560" cy="1143000"/>
          </a:xfrm>
          <a:prstGeom prst="rect">
            <a:avLst/>
          </a:prstGeom>
          <a:noFill/>
          <a:ln/>
        </p:spPr>
        <p:txBody>
          <a:bodyPr wrap="square" lIns="0" tIns="0" rIns="0" bIns="0" rtlCol="0" anchor="t"/>
          <a:lstStyle/>
          <a:p>
            <a:pPr indent="0" marL="0">
              <a:buNone/>
            </a:pPr>
            <a:r>
              <a:rPr lang="en-US" sz="1300" dirty="0">
                <a:solidFill>
                  <a:schemeClr val="tx2"/>
                </a:solidFill>
              </a:rPr>
              <a:t>Fingerprints are generated. We found no real fingerprint dataset we could download.</a:t>
            </a:r>
            <a:endParaRPr lang="en-US" sz="1300" dirty="0"/>
          </a:p>
        </p:txBody>
      </p:sp>
      <p:sp>
        <p:nvSpPr>
          <p:cNvPr id="34" name="Shape 32"/>
          <p:cNvSpPr/>
          <p:nvPr/>
        </p:nvSpPr>
        <p:spPr>
          <a:xfrm>
            <a:off x="6035040" y="2697480"/>
            <a:ext cx="2560320" cy="1783080"/>
          </a:xfrm>
          <a:prstGeom prst="roundRect">
            <a:avLst>
              <a:gd name="adj" fmla="val 4103"/>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35" name="Shape 33"/>
          <p:cNvSpPr/>
          <p:nvPr/>
        </p:nvSpPr>
        <p:spPr>
          <a:xfrm>
            <a:off x="6217920" y="2852928"/>
            <a:ext cx="1234440" cy="274320"/>
          </a:xfrm>
          <a:prstGeom prst="roundRect">
            <a:avLst>
              <a:gd name="adj" fmla="val 50000"/>
            </a:avLst>
          </a:prstGeom>
          <a:solidFill>
            <a:schemeClr val="accent1">
              <a:alpha val="20000"/>
            </a:schemeClr>
          </a:solidFill>
          <a:ln w="12700">
            <a:solidFill>
              <a:schemeClr val="accent1">
                <a:alpha val="0"/>
              </a:schemeClr>
            </a:solidFill>
            <a:prstDash val="solid"/>
          </a:ln>
        </p:spPr>
      </p:sp>
      <p:sp>
        <p:nvSpPr>
          <p:cNvPr id="36" name="Text 34"/>
          <p:cNvSpPr txBox="1"/>
          <p:nvPr/>
        </p:nvSpPr>
        <p:spPr>
          <a:xfrm>
            <a:off x="6217920" y="2852928"/>
            <a:ext cx="1234440" cy="274320"/>
          </a:xfrm>
          <a:prstGeom prst="rect">
            <a:avLst/>
          </a:prstGeom>
          <a:noFill/>
          <a:ln/>
        </p:spPr>
        <p:txBody>
          <a:bodyPr wrap="square" lIns="0" tIns="0" rIns="0" bIns="0" rtlCol="0" anchor="ctr"/>
          <a:lstStyle/>
          <a:p>
            <a:pPr algn="ctr" indent="0" marL="0">
              <a:buNone/>
            </a:pPr>
            <a:r>
              <a:rPr lang="en-US" sz="1200" b="1" dirty="0">
                <a:solidFill>
                  <a:schemeClr val="tx1"/>
                </a:solidFill>
              </a:rPr>
              <a:t>What we report</a:t>
            </a:r>
            <a:endParaRPr lang="en-US" sz="1200" dirty="0"/>
          </a:p>
        </p:txBody>
      </p:sp>
      <p:sp>
        <p:nvSpPr>
          <p:cNvPr id="37" name="Text 35"/>
          <p:cNvSpPr txBox="1"/>
          <p:nvPr/>
        </p:nvSpPr>
        <p:spPr>
          <a:xfrm>
            <a:off x="6217920" y="3273552"/>
            <a:ext cx="2194560" cy="1143000"/>
          </a:xfrm>
          <a:prstGeom prst="rect">
            <a:avLst/>
          </a:prstGeom>
          <a:noFill/>
          <a:ln/>
        </p:spPr>
        <p:txBody>
          <a:bodyPr wrap="square" lIns="0" tIns="0" rIns="0" bIns="0" rtlCol="0" anchor="t"/>
          <a:lstStyle/>
          <a:p>
            <a:pPr indent="0" marL="0">
              <a:buNone/>
            </a:pPr>
            <a:r>
              <a:rPr lang="en-US" sz="1300" dirty="0">
                <a:solidFill>
                  <a:schemeClr val="tx2"/>
                </a:solidFill>
              </a:rPr>
              <a:t>FAR, FRR and EER with 95% confidence intervals, plus how many inputs could not be evaluated.</a:t>
            </a:r>
            <a:endParaRPr lang="en-US" sz="13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Results: each biometric on its own</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1097280"/>
                <a:gridCol w="1463040"/>
                <a:gridCol w="868680"/>
                <a:gridCol w="640080"/>
                <a:gridCol w="1554480"/>
                <a:gridCol w="1554480"/>
                <a:gridCol w="868680"/>
              </a:tblGrid>
              <a:tr h="402336">
                <a:tc>
                  <a:txBody>
                    <a:bodyPr/>
                    <a:lstStyle/>
                    <a:p>
                      <a:pPr indent="0" marL="0">
                        <a:buNone/>
                      </a:pPr>
                      <a:endParaRPr lang="en-US" sz="11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100" b="1" dirty="0">
                          <a:solidFill>
                            <a:schemeClr val="tx2"/>
                          </a:solidFill>
                        </a:rPr>
                        <a:t>Data</a:t>
                      </a:r>
                      <a:endParaRPr lang="en-US" sz="11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100" b="1" dirty="0">
                          <a:solidFill>
                            <a:schemeClr val="tx2"/>
                          </a:solidFill>
                        </a:rPr>
                        <a:t>Trials</a:t>
                      </a:r>
                      <a:endParaRPr lang="en-US" sz="11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100" b="1" dirty="0">
                          <a:solidFill>
                            <a:schemeClr val="tx2"/>
                          </a:solidFill>
                        </a:rPr>
                        <a:t>EER</a:t>
                      </a:r>
                      <a:endParaRPr lang="en-US" sz="11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100" b="1" dirty="0">
                          <a:solidFill>
                            <a:schemeClr val="tx2"/>
                          </a:solidFill>
                        </a:rPr>
                        <a:t>FAR (95% CI)</a:t>
                      </a:r>
                      <a:endParaRPr lang="en-US" sz="11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100" b="1" dirty="0">
                          <a:solidFill>
                            <a:schemeClr val="tx2"/>
                          </a:solidFill>
                        </a:rPr>
                        <a:t>FRR (95% CI)</a:t>
                      </a:r>
                      <a:endParaRPr lang="en-US" sz="11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100" b="1" dirty="0">
                          <a:solidFill>
                            <a:schemeClr val="tx2"/>
                          </a:solidFill>
                        </a:rPr>
                        <a:t>Time</a:t>
                      </a:r>
                      <a:endParaRPr lang="en-US" sz="11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1"/>
                          </a:solidFill>
                        </a:rPr>
                        <a:t>Face</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3"/>
                          </a:solidFill>
                        </a:rPr>
                        <a:t>Real (LFW)</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283 / 420</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0.45%</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0.50% (0.1 to 1.8)</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0.39% (0.1 to 2.2)</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14 ms</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1"/>
                          </a:solidFill>
                        </a:rPr>
                        <a:t>Voice</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3"/>
                          </a:solidFill>
                        </a:rPr>
                        <a:t>Real (LibriSpeech)</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65 / 53</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0.00%</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0.00% (0.0 to 6.9)</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3.13% (0.9 to 10.7)</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884 ms</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1"/>
                          </a:solidFill>
                        </a:rPr>
                        <a:t>Fingerprint</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2"/>
                          </a:solidFill>
                        </a:rPr>
                        <a:t>Synthetic</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150 / 196</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0.00%</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0.00% (0.0 to 1.9)</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0.00% (0.0 to 2.5)</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29 ms</a:t>
                      </a:r>
                      <a:endParaRPr lang="en-US" sz="1200" dirty="0"/>
                    </a:p>
                  </a:txBody>
                  <a:tcPr marL="73152" marR="73152" marT="0" marB="0">
                    <a:lnL w="6350" cap="flat" cmpd="sng" algn="ctr">
                      <a:solidFill>
                        <a:srgbClr val="D8E0EB"/>
                      </a:solidFill>
                      <a:prstDash val="solid"/>
                      <a:round/>
                      <a:headEnd type="none" w="med" len="med"/>
                      <a:tailEnd type="none" w="med" len="med"/>
                    </a:lnL>
                    <a:lnR w="6350" cap="flat" cmpd="sng" algn="ctr">
                      <a:solidFill>
                        <a:srgbClr val="D8E0EB"/>
                      </a:solidFill>
                      <a:prstDash val="solid"/>
                      <a:round/>
                      <a:headEnd type="none" w="med" len="med"/>
                      <a:tailEnd type="none" w="med" len="med"/>
                    </a:lnR>
                    <a:lnT w="6350" cap="flat" cmpd="sng" algn="ctr">
                      <a:solidFill>
                        <a:srgbClr val="D8E0EB"/>
                      </a:solidFill>
                      <a:prstDash val="solid"/>
                      <a:round/>
                      <a:headEnd type="none" w="med" len="med"/>
                      <a:tailEnd type="none" w="med" len="med"/>
                    </a:lnT>
                    <a:lnB w="6350" cap="flat" cmpd="sng" algn="ctr">
                      <a:solidFill>
                        <a:srgbClr val="D8E0EB"/>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2926080"/>
            <a:ext cx="8046720" cy="365760"/>
          </a:xfrm>
          <a:prstGeom prst="rect">
            <a:avLst/>
          </a:prstGeom>
          <a:noFill/>
          <a:ln/>
        </p:spPr>
        <p:txBody>
          <a:bodyPr wrap="square" lIns="0" tIns="0" rIns="0" bIns="0" rtlCol="0" anchor="t"/>
          <a:lstStyle/>
          <a:p>
            <a:pPr indent="0" marL="0">
              <a:buNone/>
            </a:pPr>
            <a:r>
              <a:rPr lang="en-US" sz="1100" i="1" dirty="0">
                <a:solidFill>
                  <a:schemeClr val="tx2"/>
                </a:solidFill>
              </a:rPr>
              <a:t>Trials are genuine / impostor attempts. EER: false accepts equal false rejects. FAR: impostors accepted. FRR: real users rejected. CI: 95% confidence interval, in %.</a:t>
            </a:r>
            <a:endParaRPr lang="en-US" sz="1100" dirty="0"/>
          </a:p>
        </p:txBody>
      </p:sp>
      <p:sp>
        <p:nvSpPr>
          <p:cNvPr id="5" name="Shape 2"/>
          <p:cNvSpPr/>
          <p:nvPr/>
        </p:nvSpPr>
        <p:spPr>
          <a:xfrm>
            <a:off x="548640" y="3383280"/>
            <a:ext cx="3931920" cy="1188720"/>
          </a:xfrm>
          <a:prstGeom prst="roundRect">
            <a:avLst>
              <a:gd name="adj" fmla="val 6154"/>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6" name="Text 3"/>
          <p:cNvSpPr txBox="1"/>
          <p:nvPr/>
        </p:nvSpPr>
        <p:spPr>
          <a:xfrm>
            <a:off x="777240" y="3456432"/>
            <a:ext cx="3474720" cy="566928"/>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0.45%</a:t>
            </a:r>
            <a:endParaRPr lang="en-US" sz="3000" dirty="0"/>
          </a:p>
        </p:txBody>
      </p:sp>
      <p:sp>
        <p:nvSpPr>
          <p:cNvPr id="7" name="Text 4"/>
          <p:cNvSpPr txBox="1"/>
          <p:nvPr/>
        </p:nvSpPr>
        <p:spPr>
          <a:xfrm>
            <a:off x="777240" y="4023360"/>
            <a:ext cx="3474720" cy="237744"/>
          </a:xfrm>
          <a:prstGeom prst="rect">
            <a:avLst/>
          </a:prstGeom>
          <a:noFill/>
          <a:ln/>
        </p:spPr>
        <p:txBody>
          <a:bodyPr wrap="square" lIns="0" tIns="0" rIns="0" bIns="0" rtlCol="0" anchor="ctr"/>
          <a:lstStyle/>
          <a:p>
            <a:pPr indent="0" marL="0">
              <a:buNone/>
            </a:pPr>
            <a:r>
              <a:rPr lang="en-US" sz="1400" b="1" dirty="0">
                <a:solidFill>
                  <a:schemeClr val="tx1"/>
                </a:solidFill>
              </a:rPr>
              <a:t>face equal error rate</a:t>
            </a:r>
            <a:endParaRPr lang="en-US" sz="1400" dirty="0"/>
          </a:p>
        </p:txBody>
      </p:sp>
      <p:sp>
        <p:nvSpPr>
          <p:cNvPr id="8" name="Text 5"/>
          <p:cNvSpPr txBox="1"/>
          <p:nvPr/>
        </p:nvSpPr>
        <p:spPr>
          <a:xfrm>
            <a:off x="777240" y="4270248"/>
            <a:ext cx="3474720" cy="237744"/>
          </a:xfrm>
          <a:prstGeom prst="rect">
            <a:avLst/>
          </a:prstGeom>
          <a:noFill/>
          <a:ln/>
        </p:spPr>
        <p:txBody>
          <a:bodyPr wrap="square" lIns="0" tIns="0" rIns="0" bIns="0" rtlCol="0" anchor="ctr"/>
          <a:lstStyle/>
          <a:p>
            <a:pPr indent="0" marL="0">
              <a:buNone/>
            </a:pPr>
            <a:r>
              <a:rPr lang="en-US" sz="1200" dirty="0">
                <a:solidFill>
                  <a:schemeClr val="tx2"/>
                </a:solidFill>
              </a:rPr>
              <a:t>127 people in the evaluation half</a:t>
            </a:r>
            <a:endParaRPr lang="en-US" sz="1200" dirty="0"/>
          </a:p>
        </p:txBody>
      </p:sp>
      <p:sp>
        <p:nvSpPr>
          <p:cNvPr id="9" name="Shape 6"/>
          <p:cNvSpPr/>
          <p:nvPr/>
        </p:nvSpPr>
        <p:spPr>
          <a:xfrm>
            <a:off x="4663440" y="3383280"/>
            <a:ext cx="3931920" cy="1188720"/>
          </a:xfrm>
          <a:prstGeom prst="roundRect">
            <a:avLst>
              <a:gd name="adj" fmla="val 6154"/>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10" name="Text 7"/>
          <p:cNvSpPr txBox="1"/>
          <p:nvPr/>
        </p:nvSpPr>
        <p:spPr>
          <a:xfrm>
            <a:off x="4892040" y="3456432"/>
            <a:ext cx="3474720" cy="566928"/>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1.4% ± 1.8%</a:t>
            </a:r>
            <a:endParaRPr lang="en-US" sz="3000" dirty="0"/>
          </a:p>
        </p:txBody>
      </p:sp>
      <p:sp>
        <p:nvSpPr>
          <p:cNvPr id="11" name="Text 8"/>
          <p:cNvSpPr txBox="1"/>
          <p:nvPr/>
        </p:nvSpPr>
        <p:spPr>
          <a:xfrm>
            <a:off x="4892040" y="4023360"/>
            <a:ext cx="3474720" cy="237744"/>
          </a:xfrm>
          <a:prstGeom prst="rect">
            <a:avLst/>
          </a:prstGeom>
          <a:noFill/>
          <a:ln/>
        </p:spPr>
        <p:txBody>
          <a:bodyPr wrap="square" lIns="0" tIns="0" rIns="0" bIns="0" rtlCol="0" anchor="ctr"/>
          <a:lstStyle/>
          <a:p>
            <a:pPr indent="0" marL="0">
              <a:buNone/>
            </a:pPr>
            <a:r>
              <a:rPr lang="en-US" sz="1400" b="1" dirty="0">
                <a:solidFill>
                  <a:schemeClr val="tx1"/>
                </a:solidFill>
              </a:rPr>
              <a:t>voice false accepts over 10 splits</a:t>
            </a:r>
            <a:endParaRPr lang="en-US" sz="1400" dirty="0"/>
          </a:p>
        </p:txBody>
      </p:sp>
      <p:sp>
        <p:nvSpPr>
          <p:cNvPr id="12" name="Text 9"/>
          <p:cNvSpPr txBox="1"/>
          <p:nvPr/>
        </p:nvSpPr>
        <p:spPr>
          <a:xfrm>
            <a:off x="4892040" y="4270248"/>
            <a:ext cx="3474720" cy="237744"/>
          </a:xfrm>
          <a:prstGeom prst="rect">
            <a:avLst/>
          </a:prstGeom>
          <a:noFill/>
          <a:ln/>
        </p:spPr>
        <p:txBody>
          <a:bodyPr wrap="square" lIns="0" tIns="0" rIns="0" bIns="0" rtlCol="0" anchor="ctr"/>
          <a:lstStyle/>
          <a:p>
            <a:pPr indent="0" marL="0">
              <a:buNone/>
            </a:pPr>
            <a:r>
              <a:rPr lang="en-US" sz="1200" dirty="0">
                <a:solidFill>
                  <a:schemeClr val="tx2"/>
                </a:solidFill>
              </a:rPr>
              <a:t>only 13 speakers per half</a:t>
            </a:r>
            <a:endParaRPr lang="en-US" sz="12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When input is poor, and the liveness checks</a:t>
            </a:r>
            <a:endParaRPr lang="en-US" sz="2800" dirty="0"/>
          </a:p>
        </p:txBody>
      </p:sp>
      <p:sp>
        <p:nvSpPr>
          <p:cNvPr id="3" name="Shape 1"/>
          <p:cNvSpPr/>
          <p:nvPr/>
        </p:nvSpPr>
        <p:spPr>
          <a:xfrm>
            <a:off x="548640" y="1143000"/>
            <a:ext cx="3931920" cy="3337560"/>
          </a:xfrm>
          <a:prstGeom prst="roundRect">
            <a:avLst>
              <a:gd name="adj" fmla="val 2192"/>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 name="Text 2"/>
          <p:cNvSpPr txBox="1"/>
          <p:nvPr/>
        </p:nvSpPr>
        <p:spPr>
          <a:xfrm>
            <a:off x="777240" y="1261872"/>
            <a:ext cx="3474720" cy="274320"/>
          </a:xfrm>
          <a:prstGeom prst="rect">
            <a:avLst/>
          </a:prstGeom>
          <a:noFill/>
          <a:ln/>
        </p:spPr>
        <p:txBody>
          <a:bodyPr wrap="square" lIns="0" tIns="0" rIns="0" bIns="0" rtlCol="0" anchor="ctr"/>
          <a:lstStyle/>
          <a:p>
            <a:pPr indent="0" marL="0">
              <a:buNone/>
            </a:pPr>
            <a:r>
              <a:rPr lang="en-US" sz="1600" b="1" dirty="0">
                <a:solidFill>
                  <a:schemeClr val="tx1"/>
                </a:solidFill>
              </a:rPr>
              <a:t>It refuses to guess</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3474720" cy="914400"/>
        </p:xfrm>
        <a:graphic>
          <a:graphicData uri="http://schemas.openxmlformats.org/drawingml/2006/table">
            <a:tbl>
              <a:tblPr/>
              <a:tblGrid>
                <a:gridCol w="2103120"/>
                <a:gridCol w="1371600"/>
              </a:tblGrid>
              <a:tr h="457200">
                <a:tc>
                  <a:txBody>
                    <a:bodyPr/>
                    <a:lstStyle/>
                    <a:p>
                      <a:pPr indent="0" marL="0">
                        <a:buNone/>
                      </a:pPr>
                      <a:r>
                        <a:rPr lang="en-US" sz="1200" dirty="0">
                          <a:solidFill>
                            <a:schemeClr val="tx2"/>
                          </a:solidFill>
                        </a:rPr>
                        <a:t>Face: mild blur</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35% refused</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457200">
                <a:tc>
                  <a:txBody>
                    <a:bodyPr/>
                    <a:lstStyle/>
                    <a:p>
                      <a:pPr indent="0" marL="0">
                        <a:buNone/>
                      </a:pPr>
                      <a:r>
                        <a:rPr lang="en-US" sz="1200" dirty="0">
                          <a:solidFill>
                            <a:schemeClr val="tx2"/>
                          </a:solidFill>
                        </a:rPr>
                        <a:t>Face: dim light</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68% refused</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457200">
                <a:tc>
                  <a:txBody>
                    <a:bodyPr/>
                    <a:lstStyle/>
                    <a:p>
                      <a:pPr indent="0" marL="0">
                        <a:buNone/>
                      </a:pPr>
                      <a:r>
                        <a:rPr lang="en-US" sz="1200" dirty="0">
                          <a:solidFill>
                            <a:schemeClr val="tx2"/>
                          </a:solidFill>
                        </a:rPr>
                        <a:t>Face: strong blur, dark, low resolution</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100% refused</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457200">
                <a:tc>
                  <a:txBody>
                    <a:bodyPr/>
                    <a:lstStyle/>
                    <a:p>
                      <a:pPr indent="0" marL="0">
                        <a:buNone/>
                      </a:pPr>
                      <a:r>
                        <a:rPr lang="en-US" sz="1200" dirty="0">
                          <a:solidFill>
                            <a:schemeClr val="tx2"/>
                          </a:solidFill>
                        </a:rPr>
                        <a:t>Voice: noise at 10 dB</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14% real users rejected</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457200">
                <a:tc>
                  <a:txBody>
                    <a:bodyPr/>
                    <a:lstStyle/>
                    <a:p>
                      <a:pPr indent="0" marL="0">
                        <a:buNone/>
                      </a:pPr>
                      <a:r>
                        <a:rPr lang="en-US" sz="1200" dirty="0">
                          <a:solidFill>
                            <a:schemeClr val="tx2"/>
                          </a:solidFill>
                        </a:rPr>
                        <a:t>Voice: noise at 0 dB</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98% refused</a:t>
                      </a:r>
                      <a:endParaRPr lang="en-US" sz="1200" dirty="0"/>
                    </a:p>
                  </a:txBody>
                  <a:tcPr marL="0" marR="0" marT="0" marB="0">
                    <a:lnL w="0" cap="flat" cmpd="sng" algn="ctr">
                      <a:noFill/>
                    </a:lnL>
                    <a:lnR w="0" cap="flat" cmpd="sng" algn="ctr">
                      <a:noFill/>
                    </a:lnR>
                    <a:lnT w="0" cap="flat" cmpd="sng" algn="ctr">
                      <a:noFill/>
                    </a:lnT>
                    <a:lnB w="0" cap="flat" cmpd="sng" algn="ctr">
                      <a:noFill/>
                    </a:lnB>
                  </a:tcPr>
                </a:tc>
              </a:tr>
            </a:tbl>
          </a:graphicData>
        </a:graphic>
      </p:graphicFrame>
      <p:sp>
        <p:nvSpPr>
          <p:cNvPr id="6" name="Text 3"/>
          <p:cNvSpPr txBox="1"/>
          <p:nvPr/>
        </p:nvSpPr>
        <p:spPr>
          <a:xfrm>
            <a:off x="777240" y="3931920"/>
            <a:ext cx="3474720" cy="502920"/>
          </a:xfrm>
          <a:prstGeom prst="rect">
            <a:avLst/>
          </a:prstGeom>
          <a:noFill/>
          <a:ln/>
        </p:spPr>
        <p:txBody>
          <a:bodyPr wrap="square" lIns="0" tIns="0" rIns="0" bIns="0" rtlCol="0" anchor="t"/>
          <a:lstStyle/>
          <a:p>
            <a:pPr indent="0" marL="0">
              <a:buNone/>
            </a:pPr>
            <a:r>
              <a:rPr lang="en-US" sz="1200" i="1" dirty="0">
                <a:solidFill>
                  <a:schemeClr val="tx2"/>
                </a:solidFill>
              </a:rPr>
              <a:t>Too-poor input is refused instead of scored. The user is asked to retry.</a:t>
            </a:r>
            <a:endParaRPr lang="en-US" sz="1200" dirty="0"/>
          </a:p>
        </p:txBody>
      </p:sp>
      <p:sp>
        <p:nvSpPr>
          <p:cNvPr id="7" name="Shape 4"/>
          <p:cNvSpPr/>
          <p:nvPr/>
        </p:nvSpPr>
        <p:spPr>
          <a:xfrm>
            <a:off x="4663440" y="1143000"/>
            <a:ext cx="3931920" cy="3337560"/>
          </a:xfrm>
          <a:prstGeom prst="roundRect">
            <a:avLst>
              <a:gd name="adj" fmla="val 2192"/>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8" name="Text 5"/>
          <p:cNvSpPr txBox="1"/>
          <p:nvPr/>
        </p:nvSpPr>
        <p:spPr>
          <a:xfrm>
            <a:off x="4892040" y="1261872"/>
            <a:ext cx="1828800" cy="274320"/>
          </a:xfrm>
          <a:prstGeom prst="rect">
            <a:avLst/>
          </a:prstGeom>
          <a:noFill/>
          <a:ln/>
        </p:spPr>
        <p:txBody>
          <a:bodyPr wrap="square" lIns="0" tIns="0" rIns="0" bIns="0" rtlCol="0" anchor="ctr"/>
          <a:lstStyle/>
          <a:p>
            <a:pPr indent="0" marL="0">
              <a:buNone/>
            </a:pPr>
            <a:r>
              <a:rPr lang="en-US" sz="1600" b="1" dirty="0">
                <a:solidFill>
                  <a:schemeClr val="tx1"/>
                </a:solidFill>
              </a:rPr>
              <a:t>Liveness checks</a:t>
            </a:r>
            <a:endParaRPr lang="en-US" sz="1600" dirty="0"/>
          </a:p>
        </p:txBody>
      </p:sp>
      <p:sp>
        <p:nvSpPr>
          <p:cNvPr id="9" name="Shape 6"/>
          <p:cNvSpPr/>
          <p:nvPr/>
        </p:nvSpPr>
        <p:spPr>
          <a:xfrm>
            <a:off x="6720840" y="1280160"/>
            <a:ext cx="1691640" cy="246888"/>
          </a:xfrm>
          <a:prstGeom prst="roundRect">
            <a:avLst>
              <a:gd name="adj" fmla="val 48148"/>
            </a:avLst>
          </a:prstGeom>
          <a:solidFill>
            <a:schemeClr val="accent2">
              <a:alpha val="20000"/>
            </a:schemeClr>
          </a:solidFill>
          <a:ln w="12700">
            <a:solidFill>
              <a:schemeClr val="accent2">
                <a:alpha val="0"/>
              </a:schemeClr>
            </a:solidFill>
            <a:prstDash val="solid"/>
          </a:ln>
        </p:spPr>
      </p:sp>
      <p:sp>
        <p:nvSpPr>
          <p:cNvPr id="10" name="Text 7"/>
          <p:cNvSpPr txBox="1"/>
          <p:nvPr/>
        </p:nvSpPr>
        <p:spPr>
          <a:xfrm>
            <a:off x="6720840" y="1280160"/>
            <a:ext cx="1691640" cy="246888"/>
          </a:xfrm>
          <a:prstGeom prst="rect">
            <a:avLst/>
          </a:prstGeom>
          <a:noFill/>
          <a:ln/>
        </p:spPr>
        <p:txBody>
          <a:bodyPr wrap="square" lIns="0" tIns="0" rIns="0" bIns="0" rtlCol="0" anchor="ctr"/>
          <a:lstStyle/>
          <a:p>
            <a:pPr algn="ctr" indent="0" marL="0">
              <a:buNone/>
            </a:pPr>
            <a:r>
              <a:rPr lang="en-US" sz="1100" b="1" dirty="0">
                <a:solidFill>
                  <a:schemeClr val="tx1"/>
                </a:solidFill>
              </a:rPr>
              <a:t>simulated attacks</a:t>
            </a:r>
            <a:endParaRPr lang="en-US" sz="11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892040" y="1691640"/>
          <a:ext cx="3474720" cy="914400"/>
        </p:xfrm>
        <a:graphic>
          <a:graphicData uri="http://schemas.openxmlformats.org/drawingml/2006/table">
            <a:tbl>
              <a:tblPr/>
              <a:tblGrid>
                <a:gridCol w="2468880"/>
                <a:gridCol w="1005840"/>
              </a:tblGrid>
              <a:tr h="457200">
                <a:tc>
                  <a:txBody>
                    <a:bodyPr/>
                    <a:lstStyle/>
                    <a:p>
                      <a:pPr indent="0" marL="0">
                        <a:buNone/>
                      </a:pPr>
                      <a:r>
                        <a:rPr lang="en-US" sz="1200" dirty="0">
                          <a:solidFill>
                            <a:schemeClr val="tx2"/>
                          </a:solidFill>
                        </a:rPr>
                        <a:t>Tilted flat photo passes</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1 in 1000</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457200">
                <a:tc>
                  <a:txBody>
                    <a:bodyPr/>
                    <a:lstStyle/>
                    <a:p>
                      <a:pPr indent="0" marL="0">
                        <a:buNone/>
                      </a:pPr>
                      <a:r>
                        <a:rPr lang="en-US" sz="1200" dirty="0">
                          <a:solidFill>
                            <a:schemeClr val="tx2"/>
                          </a:solidFill>
                        </a:rPr>
                        <a:t>Two-photo swap passes</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0 in 192</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457200">
                <a:tc>
                  <a:txBody>
                    <a:bodyPr/>
                    <a:lstStyle/>
                    <a:p>
                      <a:pPr indent="0" marL="0">
                        <a:buNone/>
                      </a:pPr>
                      <a:r>
                        <a:rPr lang="en-US" sz="1200" dirty="0">
                          <a:solidFill>
                            <a:schemeClr val="tx2"/>
                          </a:solidFill>
                        </a:rPr>
                        <a:t>Spoken words heard (clean audio)</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95%</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457200">
                <a:tc>
                  <a:txBody>
                    <a:bodyPr/>
                    <a:lstStyle/>
                    <a:p>
                      <a:pPr indent="0" marL="0">
                        <a:buNone/>
                      </a:pPr>
                      <a:r>
                        <a:rPr lang="en-US" sz="1200" dirty="0">
                          <a:solidFill>
                            <a:schemeClr val="tx2"/>
                          </a:solidFill>
                        </a:rPr>
                        <a:t>Spoken words heard (10 dB noise)</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91%</a:t>
                      </a:r>
                      <a:endParaRPr lang="en-US" sz="1200" dirty="0"/>
                    </a:p>
                  </a:txBody>
                  <a:tcPr marL="0" marR="0" marT="0" marB="0">
                    <a:lnL w="0" cap="flat" cmpd="sng" algn="ctr">
                      <a:noFill/>
                    </a:lnL>
                    <a:lnR w="0" cap="flat" cmpd="sng" algn="ctr">
                      <a:noFill/>
                    </a:lnR>
                    <a:lnT w="0" cap="flat" cmpd="sng" algn="ctr">
                      <a:noFill/>
                    </a:lnT>
                    <a:lnB w="0" cap="flat" cmpd="sng" algn="ctr">
                      <a:noFill/>
                    </a:lnB>
                  </a:tcPr>
                </a:tc>
              </a:tr>
              <a:tr h="457200">
                <a:tc>
                  <a:txBody>
                    <a:bodyPr/>
                    <a:lstStyle/>
                    <a:p>
                      <a:pPr indent="0" marL="0">
                        <a:buNone/>
                      </a:pPr>
                      <a:r>
                        <a:rPr lang="en-US" sz="1200" dirty="0">
                          <a:solidFill>
                            <a:schemeClr val="tx2"/>
                          </a:solidFill>
                        </a:rPr>
                        <a:t>Unrelated recording passes</a:t>
                      </a:r>
                      <a:endParaRPr lang="en-US" sz="1200" dirty="0"/>
                    </a:p>
                  </a:txBody>
                  <a:tcPr marL="0" marR="0" marT="0" marB="0">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1"/>
                          </a:solidFill>
                        </a:rPr>
                        <a:t>0 in 650</a:t>
                      </a:r>
                      <a:endParaRPr lang="en-US" sz="1200" dirty="0"/>
                    </a:p>
                  </a:txBody>
                  <a:tcPr marL="0" marR="0" marT="0" marB="0">
                    <a:lnL w="0" cap="flat" cmpd="sng" algn="ctr">
                      <a:noFill/>
                    </a:lnL>
                    <a:lnR w="0" cap="flat" cmpd="sng" algn="ctr">
                      <a:noFill/>
                    </a:lnR>
                    <a:lnT w="0" cap="flat" cmpd="sng" algn="ctr">
                      <a:noFill/>
                    </a:lnT>
                    <a:lnB w="0" cap="flat" cmpd="sng" algn="ctr">
                      <a:noFill/>
                    </a:lnB>
                  </a:tcPr>
                </a:tc>
              </a:tr>
            </a:tbl>
          </a:graphicData>
        </a:graphic>
      </p:graphicFrame>
      <p:sp>
        <p:nvSpPr>
          <p:cNvPr id="12" name="Text 8"/>
          <p:cNvSpPr txBox="1"/>
          <p:nvPr/>
        </p:nvSpPr>
        <p:spPr>
          <a:xfrm>
            <a:off x="4892040" y="3931920"/>
            <a:ext cx="3474720" cy="502920"/>
          </a:xfrm>
          <a:prstGeom prst="rect">
            <a:avLst/>
          </a:prstGeom>
          <a:noFill/>
          <a:ln/>
        </p:spPr>
        <p:txBody>
          <a:bodyPr wrap="square" lIns="0" tIns="0" rIns="0" bIns="0" rtlCol="0" anchor="t"/>
          <a:lstStyle/>
          <a:p>
            <a:pPr indent="0" marL="0">
              <a:buNone/>
            </a:pPr>
            <a:r>
              <a:rPr lang="en-US" sz="1200" i="1" dirty="0">
                <a:solidFill>
                  <a:schemeClr val="tx2"/>
                </a:solidFill>
              </a:rPr>
              <a:t>Face attacks are simulated from photos. The spoken-word test uses real speech.</a:t>
            </a:r>
            <a:endParaRPr lang="en-US" sz="12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Results: fixed threshold vs risk-aware</a:t>
            </a:r>
            <a:endParaRPr lang="en-US" sz="2800" dirty="0"/>
          </a:p>
        </p:txBody>
      </p:sp>
      <p:graphicFrame>
        <p:nvGraphicFramePr>
          <p:cNvPr id="3" name="Chart 0" descr=""/>
          <p:cNvGraphicFramePr/>
          <p:nvPr/>
        </p:nvGraphicFramePr>
        <p:xfrm>
          <a:off x="457200" y="109728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669280" y="1143000"/>
            <a:ext cx="2926080" cy="256032"/>
          </a:xfrm>
          <a:prstGeom prst="rect">
            <a:avLst/>
          </a:prstGeom>
          <a:noFill/>
          <a:ln/>
        </p:spPr>
        <p:txBody>
          <a:bodyPr wrap="square" lIns="0" tIns="0" rIns="0" bIns="0" rtlCol="0" anchor="ctr"/>
          <a:lstStyle/>
          <a:p>
            <a:pPr indent="0" marL="0">
              <a:buNone/>
            </a:pPr>
            <a:r>
              <a:rPr lang="en-US" sz="1400" b="1" dirty="0">
                <a:solidFill>
                  <a:schemeClr val="tx1"/>
                </a:solidFill>
              </a:rPr>
              <a:t>Plain threshold</a:t>
            </a:r>
            <a:endParaRPr lang="en-US" sz="1400" dirty="0"/>
          </a:p>
        </p:txBody>
      </p:sp>
      <p:sp>
        <p:nvSpPr>
          <p:cNvPr id="5" name="Text 2"/>
          <p:cNvSpPr txBox="1"/>
          <p:nvPr/>
        </p:nvSpPr>
        <p:spPr>
          <a:xfrm>
            <a:off x="5669280" y="1417320"/>
            <a:ext cx="2926080" cy="685800"/>
          </a:xfrm>
          <a:prstGeom prst="rect">
            <a:avLst/>
          </a:prstGeom>
          <a:noFill/>
          <a:ln/>
        </p:spPr>
        <p:txBody>
          <a:bodyPr wrap="square" lIns="0" tIns="0" rIns="0" bIns="0" rtlCol="0" anchor="t"/>
          <a:lstStyle/>
          <a:p>
            <a:pPr indent="0" marL="0">
              <a:buNone/>
            </a:pPr>
            <a:r>
              <a:rPr lang="en-US" sz="1200" dirty="0">
                <a:solidFill>
                  <a:schemeClr val="tx2"/>
                </a:solidFill>
              </a:rPr>
              <a:t>Fooled every time when only one trait is submitted.</a:t>
            </a:r>
            <a:endParaRPr lang="en-US" sz="1200" dirty="0"/>
          </a:p>
        </p:txBody>
      </p:sp>
      <p:sp>
        <p:nvSpPr>
          <p:cNvPr id="6" name="Text 3"/>
          <p:cNvSpPr txBox="1"/>
          <p:nvPr/>
        </p:nvSpPr>
        <p:spPr>
          <a:xfrm>
            <a:off x="5669280" y="2167128"/>
            <a:ext cx="2926080" cy="256032"/>
          </a:xfrm>
          <a:prstGeom prst="rect">
            <a:avLst/>
          </a:prstGeom>
          <a:noFill/>
          <a:ln/>
        </p:spPr>
        <p:txBody>
          <a:bodyPr wrap="square" lIns="0" tIns="0" rIns="0" bIns="0" rtlCol="0" anchor="ctr"/>
          <a:lstStyle/>
          <a:p>
            <a:pPr indent="0" marL="0">
              <a:buNone/>
            </a:pPr>
            <a:r>
              <a:rPr lang="en-US" sz="1400" b="1" dirty="0">
                <a:solidFill>
                  <a:schemeClr val="tx1"/>
                </a:solidFill>
              </a:rPr>
              <a:t>Always two</a:t>
            </a:r>
            <a:endParaRPr lang="en-US" sz="1400" dirty="0"/>
          </a:p>
        </p:txBody>
      </p:sp>
      <p:sp>
        <p:nvSpPr>
          <p:cNvPr id="7" name="Text 4"/>
          <p:cNvSpPr txBox="1"/>
          <p:nvPr/>
        </p:nvSpPr>
        <p:spPr>
          <a:xfrm>
            <a:off x="5669280" y="2441448"/>
            <a:ext cx="2926080" cy="685800"/>
          </a:xfrm>
          <a:prstGeom prst="rect">
            <a:avLst/>
          </a:prstGeom>
          <a:noFill/>
          <a:ln/>
        </p:spPr>
        <p:txBody>
          <a:bodyPr wrap="square" lIns="0" tIns="0" rIns="0" bIns="0" rtlCol="0" anchor="t"/>
          <a:lstStyle/>
          <a:p>
            <a:pPr indent="0" marL="0">
              <a:buNone/>
            </a:pPr>
            <a:r>
              <a:rPr lang="en-US" sz="1200" dirty="0">
                <a:solidFill>
                  <a:schemeClr val="tx2"/>
                </a:solidFill>
              </a:rPr>
              <a:t>Safe, but a good user with one trait is blocked.</a:t>
            </a:r>
            <a:endParaRPr lang="en-US" sz="1200" dirty="0"/>
          </a:p>
        </p:txBody>
      </p:sp>
      <p:sp>
        <p:nvSpPr>
          <p:cNvPr id="8" name="Text 5"/>
          <p:cNvSpPr txBox="1"/>
          <p:nvPr/>
        </p:nvSpPr>
        <p:spPr>
          <a:xfrm>
            <a:off x="5669280" y="3191256"/>
            <a:ext cx="2926080" cy="256032"/>
          </a:xfrm>
          <a:prstGeom prst="rect">
            <a:avLst/>
          </a:prstGeom>
          <a:noFill/>
          <a:ln/>
        </p:spPr>
        <p:txBody>
          <a:bodyPr wrap="square" lIns="0" tIns="0" rIns="0" bIns="0" rtlCol="0" anchor="ctr"/>
          <a:lstStyle/>
          <a:p>
            <a:pPr indent="0" marL="0">
              <a:buNone/>
            </a:pPr>
            <a:r>
              <a:rPr lang="en-US" sz="1400" b="1" dirty="0">
                <a:solidFill>
                  <a:schemeClr val="accent2"/>
                </a:solidFill>
              </a:rPr>
              <a:t>Risk-aware</a:t>
            </a:r>
            <a:endParaRPr lang="en-US" sz="1400" dirty="0"/>
          </a:p>
        </p:txBody>
      </p:sp>
      <p:sp>
        <p:nvSpPr>
          <p:cNvPr id="9" name="Text 6"/>
          <p:cNvSpPr txBox="1"/>
          <p:nvPr/>
        </p:nvSpPr>
        <p:spPr>
          <a:xfrm>
            <a:off x="5669280" y="3465576"/>
            <a:ext cx="2926080" cy="685800"/>
          </a:xfrm>
          <a:prstGeom prst="rect">
            <a:avLst/>
          </a:prstGeom>
          <a:noFill/>
          <a:ln/>
        </p:spPr>
        <p:txBody>
          <a:bodyPr wrap="square" lIns="0" tIns="0" rIns="0" bIns="0" rtlCol="0" anchor="t"/>
          <a:lstStyle/>
          <a:p>
            <a:pPr indent="0" marL="0">
              <a:buNone/>
            </a:pPr>
            <a:r>
              <a:rPr lang="en-US" sz="1200" dirty="0">
                <a:solidFill>
                  <a:schemeClr val="tx2"/>
                </a:solidFill>
              </a:rPr>
              <a:t>Closes the hole for medium risk and up. Low-risk payments still accept one trait, so 40% get through.</a:t>
            </a:r>
            <a:endParaRPr lang="en-US" sz="1200" dirty="0"/>
          </a:p>
        </p:txBody>
      </p:sp>
      <p:sp>
        <p:nvSpPr>
          <p:cNvPr id="10" name="Text 7"/>
          <p:cNvSpPr txBox="1"/>
          <p:nvPr/>
        </p:nvSpPr>
        <p:spPr>
          <a:xfrm>
            <a:off x="548640" y="4526280"/>
            <a:ext cx="8046720" cy="228600"/>
          </a:xfrm>
          <a:prstGeom prst="rect">
            <a:avLst/>
          </a:prstGeom>
          <a:noFill/>
          <a:ln/>
        </p:spPr>
        <p:txBody>
          <a:bodyPr wrap="square" lIns="0" tIns="0" rIns="0" bIns="0" rtlCol="0" anchor="ctr"/>
          <a:lstStyle/>
          <a:p>
            <a:pPr indent="0" marL="0">
              <a:buNone/>
            </a:pPr>
            <a:r>
              <a:rPr lang="en-US" sz="1100" i="1" dirty="0">
                <a:solidFill>
                  <a:schemeClr val="tx2"/>
                </a:solidFill>
              </a:rPr>
              <a:t>Simulated attempts from measured scores. Fingerprint scores are synthetic.</a:t>
            </a:r>
            <a:endParaRPr lang="en-US" sz="11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8046720" cy="685800"/>
          </a:xfrm>
          <a:prstGeom prst="rect">
            <a:avLst/>
          </a:prstGeom>
          <a:noFill/>
          <a:ln/>
        </p:spPr>
        <p:txBody>
          <a:bodyPr wrap="square" lIns="0" tIns="0" rIns="0" bIns="0" rtlCol="0" anchor="t"/>
          <a:lstStyle/>
          <a:p>
            <a:pPr algn="l" indent="0" marL="0">
              <a:buNone/>
            </a:pPr>
            <a:r>
              <a:rPr lang="en-US" sz="2800" b="1" dirty="0">
                <a:solidFill>
                  <a:schemeClr val="tx1"/>
                </a:solidFill>
              </a:rPr>
              <a:t>Limitations and what comes next</a:t>
            </a:r>
            <a:endParaRPr lang="en-US" sz="2800" dirty="0"/>
          </a:p>
        </p:txBody>
      </p:sp>
      <p:sp>
        <p:nvSpPr>
          <p:cNvPr id="3" name="Shape 1"/>
          <p:cNvSpPr/>
          <p:nvPr/>
        </p:nvSpPr>
        <p:spPr>
          <a:xfrm>
            <a:off x="548640" y="1143000"/>
            <a:ext cx="3931920" cy="3337560"/>
          </a:xfrm>
          <a:prstGeom prst="roundRect">
            <a:avLst>
              <a:gd name="adj" fmla="val 2192"/>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4" name="Text 2"/>
          <p:cNvSpPr txBox="1"/>
          <p:nvPr/>
        </p:nvSpPr>
        <p:spPr>
          <a:xfrm>
            <a:off x="777240" y="1280160"/>
            <a:ext cx="3474720" cy="274320"/>
          </a:xfrm>
          <a:prstGeom prst="rect">
            <a:avLst/>
          </a:prstGeom>
          <a:noFill/>
          <a:ln/>
        </p:spPr>
        <p:txBody>
          <a:bodyPr wrap="square" lIns="0" tIns="0" rIns="0" bIns="0" rtlCol="0" anchor="ctr"/>
          <a:lstStyle/>
          <a:p>
            <a:pPr indent="0" marL="0">
              <a:buNone/>
            </a:pPr>
            <a:r>
              <a:rPr lang="en-US" sz="1600" b="1" dirty="0">
                <a:solidFill>
                  <a:schemeClr val="accent4"/>
                </a:solidFill>
              </a:rPr>
              <a:t>What we have not proven</a:t>
            </a:r>
            <a:endParaRPr lang="en-US" sz="1600" dirty="0"/>
          </a:p>
        </p:txBody>
      </p:sp>
      <p:sp>
        <p:nvSpPr>
          <p:cNvPr id="5" name="Text 3"/>
          <p:cNvSpPr txBox="1"/>
          <p:nvPr/>
        </p:nvSpPr>
        <p:spPr>
          <a:xfrm>
            <a:off x="777240" y="1691640"/>
            <a:ext cx="347472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Fingerprint was only tested on generated prints</a:t>
            </a:r>
            <a:endParaRPr lang="en-US" sz="1400" dirty="0"/>
          </a:p>
          <a:p>
            <a:pPr marL="342900" indent="-342900">
              <a:spcAft>
                <a:spcPts val="600"/>
              </a:spcAft>
              <a:buSzPct val="100000"/>
              <a:buChar char="•"/>
            </a:pPr>
            <a:r>
              <a:rPr lang="en-US" sz="1400" dirty="0">
                <a:solidFill>
                  <a:schemeClr val="tx2"/>
                </a:solidFill>
              </a:rPr>
              <a:t>Datasets are small and easy, so real-world error will be higher</a:t>
            </a:r>
            <a:endParaRPr lang="en-US" sz="1400" dirty="0"/>
          </a:p>
          <a:p>
            <a:pPr marL="342900" indent="-342900">
              <a:spcAft>
                <a:spcPts val="600"/>
              </a:spcAft>
              <a:buSzPct val="100000"/>
              <a:buChar char="•"/>
            </a:pPr>
            <a:r>
              <a:rPr lang="en-US" sz="1400" dirty="0">
                <a:solidFill>
                  <a:schemeClr val="tx2"/>
                </a:solidFill>
              </a:rPr>
              <a:t>Liveness does not stop videos, deepfakes or voice cloning, and was never run on a real person turning their head</a:t>
            </a:r>
            <a:endParaRPr lang="en-US" sz="1400" dirty="0"/>
          </a:p>
          <a:p>
            <a:pPr marL="342900" indent="-342900">
              <a:spcAft>
                <a:spcPts val="600"/>
              </a:spcAft>
              <a:buSzPct val="100000"/>
              <a:buChar char="•"/>
            </a:pPr>
            <a:r>
              <a:rPr lang="en-US" sz="1400" dirty="0">
                <a:solidFill>
                  <a:schemeClr val="tx2"/>
                </a:solidFill>
              </a:rPr>
              <a:t>Prototype: simulated money, no HTTPS, SQLite</a:t>
            </a:r>
            <a:endParaRPr lang="en-US" sz="1400" dirty="0"/>
          </a:p>
        </p:txBody>
      </p:sp>
      <p:sp>
        <p:nvSpPr>
          <p:cNvPr id="6" name="Shape 4"/>
          <p:cNvSpPr/>
          <p:nvPr/>
        </p:nvSpPr>
        <p:spPr>
          <a:xfrm>
            <a:off x="4663440" y="1143000"/>
            <a:ext cx="3931920" cy="3337560"/>
          </a:xfrm>
          <a:prstGeom prst="roundRect">
            <a:avLst>
              <a:gd name="adj" fmla="val 2192"/>
            </a:avLst>
          </a:prstGeom>
          <a:solidFill>
            <a:schemeClr val="bg1"/>
          </a:solidFill>
          <a:ln w="9525">
            <a:solidFill>
              <a:srgbClr val="D8E0EB"/>
            </a:solidFill>
            <a:prstDash val="solid"/>
          </a:ln>
          <a:effectLst>
            <a:outerShdw sx="100000" sy="100000" kx="0" ky="0" algn="bl" rotWithShape="0" blurRad="101600" dist="25400" dir="5400000">
              <a:srgbClr val="0B1320">
                <a:alpha val="10000"/>
              </a:srgbClr>
            </a:outerShdw>
          </a:effectLst>
        </p:spPr>
      </p:sp>
      <p:sp>
        <p:nvSpPr>
          <p:cNvPr id="7" name="Text 5"/>
          <p:cNvSpPr txBox="1"/>
          <p:nvPr/>
        </p:nvSpPr>
        <p:spPr>
          <a:xfrm>
            <a:off x="4892040" y="1280160"/>
            <a:ext cx="3474720" cy="274320"/>
          </a:xfrm>
          <a:prstGeom prst="rect">
            <a:avLst/>
          </a:prstGeom>
          <a:noFill/>
          <a:ln/>
        </p:spPr>
        <p:txBody>
          <a:bodyPr wrap="square" lIns="0" tIns="0" rIns="0" bIns="0" rtlCol="0" anchor="ctr"/>
          <a:lstStyle/>
          <a:p>
            <a:pPr indent="0" marL="0">
              <a:buNone/>
            </a:pPr>
            <a:r>
              <a:rPr lang="en-US" sz="1600" b="1" dirty="0">
                <a:solidFill>
                  <a:schemeClr val="accent3"/>
                </a:solidFill>
              </a:rPr>
              <a:t>What comes next</a:t>
            </a:r>
            <a:endParaRPr lang="en-US" sz="1600" dirty="0"/>
          </a:p>
        </p:txBody>
      </p:sp>
      <p:sp>
        <p:nvSpPr>
          <p:cNvPr id="8" name="Text 6"/>
          <p:cNvSpPr txBox="1"/>
          <p:nvPr/>
        </p:nvSpPr>
        <p:spPr>
          <a:xfrm>
            <a:off x="4892040" y="1691640"/>
            <a:ext cx="347472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Real fingerprint sensor and dataset</a:t>
            </a:r>
            <a:endParaRPr lang="en-US" sz="1400" dirty="0"/>
          </a:p>
          <a:p>
            <a:pPr marL="342900" indent="-342900">
              <a:spcAft>
                <a:spcPts val="600"/>
              </a:spcAft>
              <a:buSzPct val="100000"/>
              <a:buChar char="•"/>
            </a:pPr>
            <a:r>
              <a:rPr lang="en-US" sz="1400" dirty="0">
                <a:solidFill>
                  <a:schemeClr val="tx2"/>
                </a:solidFill>
              </a:rPr>
              <a:t>Public spoofing datasets to test liveness properly</a:t>
            </a:r>
            <a:endParaRPr lang="en-US" sz="1400" dirty="0"/>
          </a:p>
          <a:p>
            <a:pPr marL="342900" indent="-342900">
              <a:spcAft>
                <a:spcPts val="600"/>
              </a:spcAft>
              <a:buSzPct val="100000"/>
              <a:buChar char="•"/>
            </a:pPr>
            <a:r>
              <a:rPr lang="en-US" sz="1400" dirty="0">
                <a:solidFill>
                  <a:schemeClr val="tx2"/>
                </a:solidFill>
              </a:rPr>
              <a:t>On-device biometrics (WebAuthn) and HTTPS</a:t>
            </a:r>
            <a:endParaRPr lang="en-US" sz="1400" dirty="0"/>
          </a:p>
          <a:p>
            <a:pPr marL="342900" indent="-342900">
              <a:spcAft>
                <a:spcPts val="600"/>
              </a:spcAft>
              <a:buSzPct val="100000"/>
              <a:buChar char="•"/>
            </a:pPr>
            <a:r>
              <a:rPr lang="en-US" sz="1400" dirty="0">
                <a:solidFill>
                  <a:schemeClr val="tx2"/>
                </a:solidFill>
              </a:rPr>
              <a:t>Larger multi-session datasets and tuned thresholds</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4572000" cy="548640"/>
          </a:xfrm>
          <a:prstGeom prst="rect">
            <a:avLst/>
          </a:prstGeom>
          <a:noFill/>
          <a:ln/>
        </p:spPr>
        <p:txBody>
          <a:bodyPr wrap="square" lIns="0" tIns="0" rIns="0" bIns="0" rtlCol="0" anchor="t"/>
          <a:lstStyle/>
          <a:p>
            <a:pPr algn="l" indent="0" marL="0">
              <a:buNone/>
            </a:pPr>
            <a:r>
              <a:rPr lang="en-US" sz="3200" b="1" dirty="0">
                <a:solidFill>
                  <a:schemeClr val="bg1"/>
                </a:solidFill>
              </a:rPr>
              <a:t>Conclusion</a:t>
            </a:r>
            <a:endParaRPr lang="en-US" sz="3200" dirty="0"/>
          </a:p>
        </p:txBody>
      </p:sp>
      <p:sp>
        <p:nvSpPr>
          <p:cNvPr id="3" name="Shape 1"/>
          <p:cNvSpPr/>
          <p:nvPr/>
        </p:nvSpPr>
        <p:spPr>
          <a:xfrm>
            <a:off x="548640" y="1810512"/>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81051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143000" y="1783080"/>
            <a:ext cx="4846320" cy="320040"/>
          </a:xfrm>
          <a:prstGeom prst="rect">
            <a:avLst/>
          </a:prstGeom>
          <a:noFill/>
          <a:ln/>
        </p:spPr>
        <p:txBody>
          <a:bodyPr wrap="square" lIns="0" tIns="0" rIns="0" bIns="0" rtlCol="0" anchor="ctr"/>
          <a:lstStyle/>
          <a:p>
            <a:pPr indent="0" marL="0">
              <a:buNone/>
            </a:pPr>
            <a:r>
              <a:rPr lang="en-US" sz="1800" b="1" dirty="0">
                <a:solidFill>
                  <a:schemeClr val="bg1"/>
                </a:solidFill>
              </a:rPr>
              <a:t>The check should match the risk.</a:t>
            </a:r>
            <a:endParaRPr lang="en-US" sz="1800" dirty="0"/>
          </a:p>
        </p:txBody>
      </p:sp>
      <p:sp>
        <p:nvSpPr>
          <p:cNvPr id="6" name="Text 4"/>
          <p:cNvSpPr txBox="1"/>
          <p:nvPr/>
        </p:nvSpPr>
        <p:spPr>
          <a:xfrm>
            <a:off x="1143000" y="2130552"/>
            <a:ext cx="4846320" cy="502920"/>
          </a:xfrm>
          <a:prstGeom prst="rect">
            <a:avLst/>
          </a:prstGeom>
          <a:noFill/>
          <a:ln/>
        </p:spPr>
        <p:txBody>
          <a:bodyPr wrap="square" lIns="0" tIns="0" rIns="0" bIns="0" rtlCol="0" anchor="t"/>
          <a:lstStyle/>
          <a:p>
            <a:pPr indent="0" marL="0">
              <a:buNone/>
            </a:pPr>
            <a:r>
              <a:rPr lang="en-US" sz="1400" dirty="0">
                <a:solidFill>
                  <a:schemeClr val="accent6"/>
                </a:solidFill>
              </a:rPr>
              <a:t>TriLock raises the bar for large payments and keeps small ones smooth.</a:t>
            </a:r>
            <a:endParaRPr lang="en-US" sz="1400" dirty="0"/>
          </a:p>
        </p:txBody>
      </p:sp>
      <p:sp>
        <p:nvSpPr>
          <p:cNvPr id="7" name="Shape 5"/>
          <p:cNvSpPr/>
          <p:nvPr/>
        </p:nvSpPr>
        <p:spPr>
          <a:xfrm>
            <a:off x="548640" y="2816352"/>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548640" y="281635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1143000" y="2788920"/>
            <a:ext cx="4846320" cy="320040"/>
          </a:xfrm>
          <a:prstGeom prst="rect">
            <a:avLst/>
          </a:prstGeom>
          <a:noFill/>
          <a:ln/>
        </p:spPr>
        <p:txBody>
          <a:bodyPr wrap="square" lIns="0" tIns="0" rIns="0" bIns="0" rtlCol="0" anchor="ctr"/>
          <a:lstStyle/>
          <a:p>
            <a:pPr indent="0" marL="0">
              <a:buNone/>
            </a:pPr>
            <a:r>
              <a:rPr lang="en-US" sz="1800" b="1" dirty="0">
                <a:solidFill>
                  <a:schemeClr val="bg1"/>
                </a:solidFill>
              </a:rPr>
              <a:t>Missing evidence is never a match.</a:t>
            </a:r>
            <a:endParaRPr lang="en-US" sz="1800" dirty="0"/>
          </a:p>
        </p:txBody>
      </p:sp>
      <p:sp>
        <p:nvSpPr>
          <p:cNvPr id="10" name="Text 8"/>
          <p:cNvSpPr txBox="1"/>
          <p:nvPr/>
        </p:nvSpPr>
        <p:spPr>
          <a:xfrm>
            <a:off x="1143000" y="3136392"/>
            <a:ext cx="4846320" cy="502920"/>
          </a:xfrm>
          <a:prstGeom prst="rect">
            <a:avLst/>
          </a:prstGeom>
          <a:noFill/>
          <a:ln/>
        </p:spPr>
        <p:txBody>
          <a:bodyPr wrap="square" lIns="0" tIns="0" rIns="0" bIns="0" rtlCol="0" anchor="t"/>
          <a:lstStyle/>
          <a:p>
            <a:pPr indent="0" marL="0">
              <a:buNone/>
            </a:pPr>
            <a:r>
              <a:rPr lang="en-US" sz="1400" dirty="0">
                <a:solidFill>
                  <a:schemeClr val="accent6"/>
                </a:solidFill>
              </a:rPr>
              <a:t>Failed or missing input asks for more, it does not approve.</a:t>
            </a:r>
            <a:endParaRPr lang="en-US" sz="1400" dirty="0"/>
          </a:p>
        </p:txBody>
      </p:sp>
      <p:sp>
        <p:nvSpPr>
          <p:cNvPr id="11" name="Shape 9"/>
          <p:cNvSpPr/>
          <p:nvPr/>
        </p:nvSpPr>
        <p:spPr>
          <a:xfrm>
            <a:off x="548640" y="3822192"/>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548640" y="382219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143000" y="3794760"/>
            <a:ext cx="4846320" cy="320040"/>
          </a:xfrm>
          <a:prstGeom prst="rect">
            <a:avLst/>
          </a:prstGeom>
          <a:noFill/>
          <a:ln/>
        </p:spPr>
        <p:txBody>
          <a:bodyPr wrap="square" lIns="0" tIns="0" rIns="0" bIns="0" rtlCol="0" anchor="ctr"/>
          <a:lstStyle/>
          <a:p>
            <a:pPr indent="0" marL="0">
              <a:buNone/>
            </a:pPr>
            <a:r>
              <a:rPr lang="en-US" sz="1800" b="1" dirty="0">
                <a:solidFill>
                  <a:schemeClr val="bg1"/>
                </a:solidFill>
              </a:rPr>
              <a:t>We measured it, and said where it is weak.</a:t>
            </a:r>
            <a:endParaRPr lang="en-US" sz="1800" dirty="0"/>
          </a:p>
        </p:txBody>
      </p:sp>
      <p:sp>
        <p:nvSpPr>
          <p:cNvPr id="14" name="Text 12"/>
          <p:cNvSpPr txBox="1"/>
          <p:nvPr/>
        </p:nvSpPr>
        <p:spPr>
          <a:xfrm>
            <a:off x="1143000" y="4142232"/>
            <a:ext cx="4846320" cy="502920"/>
          </a:xfrm>
          <a:prstGeom prst="rect">
            <a:avLst/>
          </a:prstGeom>
          <a:noFill/>
          <a:ln/>
        </p:spPr>
        <p:txBody>
          <a:bodyPr wrap="square" lIns="0" tIns="0" rIns="0" bIns="0" rtlCol="0" anchor="t"/>
          <a:lstStyle/>
          <a:p>
            <a:pPr indent="0" marL="0">
              <a:buNone/>
            </a:pPr>
            <a:r>
              <a:rPr lang="en-US" sz="1400" dirty="0">
                <a:solidFill>
                  <a:schemeClr val="accent6"/>
                </a:solidFill>
              </a:rPr>
              <a:t>Real and synthetic data are labelled, and the limits are listed.</a:t>
            </a:r>
            <a:endParaRPr lang="en-US" sz="1400" dirty="0"/>
          </a:p>
        </p:txBody>
      </p:sp>
      <p:sp>
        <p:nvSpPr>
          <p:cNvPr id="15" name="Shape 13"/>
          <p:cNvSpPr/>
          <p:nvPr/>
        </p:nvSpPr>
        <p:spPr>
          <a:xfrm>
            <a:off x="6400800" y="1737360"/>
            <a:ext cx="2194560" cy="2651760"/>
          </a:xfrm>
          <a:prstGeom prst="roundRect">
            <a:avLst>
              <a:gd name="adj" fmla="val 4167"/>
            </a:avLst>
          </a:prstGeom>
          <a:solidFill>
            <a:schemeClr val="tx2"/>
          </a:solidFill>
          <a:ln w="12700">
            <a:solidFill>
              <a:schemeClr val="tx2"/>
            </a:solidFill>
            <a:prstDash val="solid"/>
          </a:ln>
        </p:spPr>
      </p:sp>
      <p:pic>
        <p:nvPicPr>
          <p:cNvPr id="16" name="Image 0" descr="Lock">    </p:cNvPr>
          <p:cNvPicPr>
            <a:picLocks noChangeAspect="1"/>
          </p:cNvPicPr>
          <p:nvPr/>
        </p:nvPicPr>
        <p:blipFill>
          <a:blip r:embed="rId1"/>
          <a:stretch>
            <a:fillRect/>
          </a:stretch>
        </p:blipFill>
        <p:spPr>
          <a:xfrm>
            <a:off x="7223760" y="2103120"/>
            <a:ext cx="548640" cy="548640"/>
          </a:xfrm>
          <a:prstGeom prst="rect">
            <a:avLst/>
          </a:prstGeom>
        </p:spPr>
      </p:pic>
      <p:sp>
        <p:nvSpPr>
          <p:cNvPr id="17" name="Text 14"/>
          <p:cNvSpPr txBox="1"/>
          <p:nvPr/>
        </p:nvSpPr>
        <p:spPr>
          <a:xfrm>
            <a:off x="6492240" y="2834640"/>
            <a:ext cx="2011680" cy="36576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Thank you</a:t>
            </a:r>
            <a:endParaRPr lang="en-US" sz="2200" dirty="0"/>
          </a:p>
        </p:txBody>
      </p:sp>
      <p:sp>
        <p:nvSpPr>
          <p:cNvPr id="18" name="Text 15"/>
          <p:cNvSpPr txBox="1"/>
          <p:nvPr/>
        </p:nvSpPr>
        <p:spPr>
          <a:xfrm>
            <a:off x="6492240" y="3291840"/>
            <a:ext cx="2011680" cy="320040"/>
          </a:xfrm>
          <a:prstGeom prst="rect">
            <a:avLst/>
          </a:prstGeom>
          <a:noFill/>
          <a:ln/>
        </p:spPr>
        <p:txBody>
          <a:bodyPr wrap="square" lIns="0" tIns="0" rIns="0" bIns="0" rtlCol="0" anchor="ctr"/>
          <a:lstStyle/>
          <a:p>
            <a:pPr algn="ctr" indent="0" marL="0">
              <a:buNone/>
            </a:pPr>
            <a:r>
              <a:rPr lang="en-US" sz="1600" dirty="0">
                <a:solidFill>
                  <a:schemeClr val="accent6"/>
                </a:solidFill>
              </a:rPr>
              <a:t>Questions?</a:t>
            </a:r>
            <a:endParaRPr lang="en-US" sz="1600" dirty="0"/>
          </a:p>
        </p:txBody>
      </p:sp>
    </p:spTree>
  </p:cSld>
  <p:clrMapOvr>
    <a:masterClrMapping/>
  </p:clrMapOvr>
</p:sld>
</file>

<file path=ppt/theme/theme1.xml><?xml version="1.0" encoding="utf-8"?>
<a:theme xmlns:a="http://schemas.openxmlformats.org/drawingml/2006/main" name="TriLock">
  <a:themeElements>
    <a:clrScheme name="TriLock">
      <a:dk1>
        <a:srgbClr val="0B1320"/>
      </a:dk1>
      <a:lt1>
        <a:srgbClr val="FFFFFF"/>
      </a:lt1>
      <a:dk2>
        <a:srgbClr val="15253D"/>
      </a:dk2>
      <a:lt2>
        <a:srgbClr val="EEF2F7"/>
      </a:lt2>
      <a:accent1>
        <a:srgbClr val="3F86F5"/>
      </a:accent1>
      <a:accent2>
        <a:srgbClr val="E5A23C"/>
      </a:accent2>
      <a:accent3>
        <a:srgbClr val="2FA97C"/>
      </a:accent3>
      <a:accent4>
        <a:srgbClr val="E4606B"/>
      </a:accent4>
      <a:accent5>
        <a:srgbClr val="8EA0B6"/>
      </a:accent5>
      <a:accent6>
        <a:srgbClr val="8FBAFF"/>
      </a:accent6>
      <a:hlink>
        <a:srgbClr val="3F86F5"/>
      </a:hlink>
      <a:folHlink>
        <a:srgbClr val="8EA0B6"/>
      </a:folHlink>
    </a:clrScheme>
    <a:fontScheme name="TriLo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TriLock: Risk-Adaptive Multimodal Biometric Authentication for Digital Banking</dc:title>
  <dc:subject>Final year project review</dc:subject>
  <dc:creator>PptxGenJS</dc:creator>
  <cp:lastModifiedBy>PptxGenJS</cp:lastModifiedBy>
  <cp:revision>1</cp:revision>
  <dcterms:created xsi:type="dcterms:W3CDTF">2026-10-29T20:05:18Z</dcterms:created>
  <dcterms:modified xsi:type="dcterms:W3CDTF">2026-10-29T20:05:18Z</dcterms:modified>
</cp:coreProperties>
</file>